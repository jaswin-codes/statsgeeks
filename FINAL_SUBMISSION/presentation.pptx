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472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We're adapting a building-age classifier from Madrid, where we have full labels, to Amsterdam, where we may have as few as 5 labelled pixels per class.
• Four age classes, 60 ordered spectral features per pixel — a fairly standard remote-sensing setup.
• The hard part is genuine: domain shift between cities, noisy mixed-pixel classes, and extreme label scarcity at the low end.
• Success is macro-F1 — every class matters equally — evaluated honestly across five support budgets.
Transition: So how do we actually move information from a labelled city to an almost-unlabelled one? That's the approach.
Target time: 45-55s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Two labelled sources feed the pipeline: the full Madrid dataset, and a tiny Amsterdam support set.
• A source-side prior is built first — covariance-aligned Random Forests give us a probability estimate for Amsterdam before we've seen much of it.
• In parallel, a local model is fit directly on the Amsterdam support, with spatial coordinates added so it can lean on nearby geography.
• The two are blended — trusting the source more when support is tiny — then spatially smoothed, and evaluated with macro-F1.
Transition: Let's walk through what that data actually looks like, and why the protocol behind it is leak-free.
Target time: 45-55s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Madrid gives full supervision; Amsterdam gives only a small, class-balanced support set at each budget.
• The 60 spectral features are shared across cities; locally we also add two standardized coordinates.
• Leakage is the first thing judges will ask about — so we're explicit: pseudo-labels never see query truth, and query pixels exclude both the current support and a held-out 800-label development bank.
• Every comparison is a matched, paired episode — same pixels, same conditions, across all methods.
Transition: With clean data and a valid protocol established, here's the model we actually fit.
Target time: 50-60s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Random Forest was chosen because it's stable at extremely small sample sizes — 5 labels per class is not enough data for most deep models.
• Coordinates matter because building age is spatially clustered — a forest can learn 'nearby pixels look similar' almost for free once coordinates are inputs.
• The blend is the key transfer mechanism: it leans heavily on Madrid-derived knowledge when Amsterdam support is tiny, and fades that out as real local evidence accumulates.
• A final spatial smoothing pass cleans up noisy pixel-level predictions.
Transition: Now let's talk about how we tested this, and how confident we can be in the numbers.
Target time: 50-60s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We test five support budgets, from 5 up to 200 labelled pixels per class, to see how quickly the method improves as labels arrive.
• Every budget gets 200 paired episodes, so we can report a population standard deviation rather than a single lucky run.
• Macro-F1 is the scoring metric throughout — every class counts equally.
• Critically, every baseline we compare against sees exactly the same paired pixels — this is a matched, apples-to-apples comparison.
Transition: That protocol is what makes the results on the next slide meaningful — let's look at them.
Target time: 40-50s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headline number: 0.749299 macro-F1 at 200 shots, with a tight population SD of 0.0057.
• But the more important story is in the table — this is the best locked score at every single budget we tested, not just the largest one.
• Against the strongest baseline, ASTRA, Coordinate-RF won all 200 matched episodes at 200 shots — that's a consistent, not a lucky, advantage.
• The gains over EXP-F and EXP-010 are much larger, showing how far the method has come since the earliest iterations.
Transition: Two figures make this trend and its boundaries concrete — the learning curve, and what the model actually learned.
Target time: 55-65s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learning curve is the clearest evidence for the method: Coordinate-RF's green line sits at or above every baseline at all five budgets.
• Even at 5 shots — the hardest regime — it ties the strongest baseline, ASTRA, and then pulls ahead as support grows.
• The confusion matrix shows what the model actually learned: strong diagonal performance, 71 to 83 percent per class, with most errors landing on the adjacent, visually-similar age class rather than being scattered randomly.
• That's a model that has learned a sensible, ordered representation of building age — not noise.
Transition: The honest next question is where this stops generalizing — that's the limitations slide.
Target time: 55-65s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We ran a deliberate stress test: holding out the opposite half of the city, in every direction, to see how far the model can extrapolate.
• Here Coordinate-RF is honest about a weakness — on both the mean and the worst direction, it's slightly behind ASTRA, unlike the random-pixel results.
• That tells us coordinates help the model interpolate between nearby labelled points, but don't grant real extrapolation power.
• This is why we describe the method as transductive and pool-bound rather than claiming it generalizes to any unseen city out of the box.
Transition: None of that changes why the result is still valuable — here's where it matters.
Target time: 55-65s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practical value here is label efficiency — the curve shows useful performance even at 5 shots, which matters when a new city has almost no ground truth yet.
• Reproducibility is not an afterthought: every number on this deck traces back to a frozen, hashed, independently-replayable artifact.
• And the pattern itself — a source-city prior blended with a coordinate-aware local fit — isn't specific to Amsterdam or Madrid; it's a reusable recipe for this class of problem.
• That combination — real performance, full honesty about scope, and full reproducibility — is what we'd want judges to remember.
Transition: Let's close with the handful of points worth remembering.
Target time: 45-55s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Four numbers to leave in judges' minds: 0.749299 as the locked, best-at-every-budget result.
• 200 out of 200 matched episodes beating the strongest prior baseline — a consistent, not lucky, win.
• Zero query-label leakage anywhere in the pipeline, with a fully reproducible, hashed artifact.
• And an honest scope: this is a transductive, pool-bound method that interpolates well and says so plainly about where it doesn't extrapolate.
Transition: Thank you — happy to take questions on the method, the protocol, or the limitations.
Target time: 40-50s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STATSGEEKS  ·  CROSS-CITY BUILDING-AGE TRANSFER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34340" y="12027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Classifying building age in a city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almost no local labels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42900" y="27249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 </a:t>
            </a: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the model</a:t>
            </a:r>
            <a:r>
              <a:rPr lang="en-US" sz="1700" dirty="0">
                <a:solidFill>
                  <a:srgbClr val="C9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7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Amsterdam </a:t>
            </a: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it as few as 5 labelled pixels per class.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132C46"/>
          </a:solidFill>
          <a:ln w="12700">
            <a:solidFill>
              <a:srgbClr val="24425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731520" y="35935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0416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building-age classes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794760" y="352044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132C46"/>
          </a:solidFill>
          <a:ln w="12700">
            <a:solidFill>
              <a:srgbClr val="24425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3977640" y="35935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77640" y="40416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spectral features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40880" y="352044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132C46"/>
          </a:solidFill>
          <a:ln w="12700">
            <a:solidFill>
              <a:srgbClr val="24425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7223760" y="35935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macro-F1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223760" y="40416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weight, every class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0"/>
          </a:xfrm>
          <a:prstGeom prst="line">
            <a:avLst/>
          </a:prstGeom>
          <a:noFill/>
          <a:ln w="12700">
            <a:solidFill>
              <a:srgbClr val="24425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548640" y="4983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F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HARD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28523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 between cities, mixed-pixel class noise, and support sets as small as 5 examples per class.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17920" y="4983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F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MEANS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528523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equally-weighted macro-F1 across every budget — reproducible, and honest about where it does not generalize.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8001F21-3A97-60D8-655F-8A75855D5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4296" y="502920"/>
            <a:ext cx="2136808" cy="21854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five stages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two cities of spectral data to a single calibrated prediction — the whole workflow at a glance.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3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n-ZA" dirty="0"/>
          </a:p>
        </p:txBody>
      </p:sp>
      <p:sp>
        <p:nvSpPr>
          <p:cNvPr id="6" name="Shape 4"/>
          <p:cNvSpPr/>
          <p:nvPr/>
        </p:nvSpPr>
        <p:spPr>
          <a:xfrm>
            <a:off x="1229868" y="2633472"/>
            <a:ext cx="512064" cy="512064"/>
          </a:xfrm>
          <a:prstGeom prst="ellipse">
            <a:avLst/>
          </a:prstGeom>
          <a:solidFill>
            <a:srgbClr val="0B203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1229868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" y="32918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3730752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Madrid source (labelled)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+ Amsterdam support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423160" y="32004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8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743200" y="237744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3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3424428" y="2633472"/>
            <a:ext cx="512064" cy="512064"/>
          </a:xfrm>
          <a:prstGeom prst="ellipse">
            <a:avLst/>
          </a:prstGeom>
          <a:solidFill>
            <a:srgbClr val="0B203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3424428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852928" y="32918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prior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52928" y="3730752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Covariance-aligned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17720" y="32004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8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937760" y="237744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3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5618988" y="2633472"/>
            <a:ext cx="512064" cy="512064"/>
          </a:xfrm>
          <a:prstGeom prst="ellipse">
            <a:avLst/>
          </a:prstGeom>
          <a:solidFill>
            <a:srgbClr val="0B203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5618988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47488" y="32918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model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47488" y="3730752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Whitened features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+ coordinates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12280" y="32004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8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7132320" y="237744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F3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7813548" y="2633472"/>
            <a:ext cx="512064" cy="512064"/>
          </a:xfrm>
          <a:prstGeom prst="ellipse">
            <a:avLst/>
          </a:prstGeom>
          <a:solidFill>
            <a:srgbClr val="0B203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7813548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42048" y="32918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Blend &amp; smooth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42048" y="3730752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Budget-weighted blend,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spatial smoothing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006840" y="32004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8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9326880" y="237744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1E8F6F"/>
          </a:solidFill>
          <a:ln w="12700">
            <a:solidFill>
              <a:srgbClr val="1E8F6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10008108" y="2633472"/>
            <a:ext cx="512064" cy="512064"/>
          </a:xfrm>
          <a:prstGeom prst="ellipse">
            <a:avLst/>
          </a:prstGeom>
          <a:solidFill>
            <a:srgbClr val="17705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10008108" y="2633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436608" y="32918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436608" y="3730752"/>
            <a:ext cx="1655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E6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E6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3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822960" y="513892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name: </a:t>
            </a: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“Coordinate-RF” refers to stages 3–4 — a Random Forest trained on the small Amsterdam support set, with two standardized lattice coordinates appended so it can use local geography, then blended with the source-city prior.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cities, one clean protocol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F3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Madrid — fully labelled, 60 spectral features per pixel.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Amsterdam — small, class-balanced support set.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adds 2 standardized lattice coordinates (x, y).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budgets tested: 5, 25, 50, 100, 200 labelled pixels per class.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89320" y="1508760"/>
            <a:ext cx="5669280" cy="4343400"/>
          </a:xfrm>
          <a:prstGeom prst="roundRect">
            <a:avLst>
              <a:gd name="adj" fmla="val 1684"/>
            </a:avLst>
          </a:prstGeom>
          <a:solidFill>
            <a:srgbClr val="0B2036"/>
          </a:solidFill>
          <a:ln/>
        </p:spPr>
        <p:txBody>
          <a:bodyPr/>
          <a:lstStyle/>
          <a:p>
            <a:endParaRPr lang="en-ZA" dirty="0"/>
          </a:p>
        </p:txBody>
      </p:sp>
      <p:sp>
        <p:nvSpPr>
          <p:cNvPr id="8" name="Text 6"/>
          <p:cNvSpPr/>
          <p:nvPr/>
        </p:nvSpPr>
        <p:spPr>
          <a:xfrm>
            <a:off x="630936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PROTOCOL IS VALID — NO LEAKAGE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21031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D7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Pseudo-labels used for source alignment come only from the source model — the query set's true labels are never touched.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D7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query population excludes both the current support set and a separate 800-label development bank.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D7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and query pixels stay strictly separated through every stage of inference.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D7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matched: 200 paired episodes per budget, same pixels seen by every method compared.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Coordinate-RF: three design choices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choice targets the same constraint — very few Amsterdam labels.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3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8F6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Random Forest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balanced, 200-tree forest fits reliably on support sets as small as 5 labels per class — no gradient tuning, minimal overfitting risk.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3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4617720" y="2240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46177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coordinates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Two standardized lattice coordinates are appended to the local model's inputs, letting splits exploit the fact that nearby pixels tend to share a building age.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9659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3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8412480" y="2240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84124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1248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blending helps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34290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source-trained probability prior fills the gap when local support is tiny. Its weight, 20/(20+4b), shrinks automatically as budget b grows.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</a:t>
            </a: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blended probabilities are smoothed over 9 spatial neighbours with Gaussian weights, stabilizing predictions before evaluation.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EXPERIMENTS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budgets, evaluated the same way every 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2103120"/>
            <a:ext cx="9144000" cy="0"/>
          </a:xfrm>
          <a:prstGeom prst="line">
            <a:avLst/>
          </a:prstGeom>
          <a:noFill/>
          <a:ln w="254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987552" y="1901952"/>
            <a:ext cx="402336" cy="40233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731520" y="2395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73552" y="1901952"/>
            <a:ext cx="402336" cy="40233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017520" y="2395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559552" y="1901952"/>
            <a:ext cx="402336" cy="40233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5303520" y="2395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45552" y="1901952"/>
            <a:ext cx="402336" cy="40233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7589520" y="2395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131552" y="1901952"/>
            <a:ext cx="402336" cy="402336"/>
          </a:xfrm>
          <a:prstGeom prst="ellipse">
            <a:avLst/>
          </a:prstGeom>
          <a:solidFill>
            <a:srgbClr val="1E8F6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9875520" y="2395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2761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50" dirty="0">
                <a:solidFill>
                  <a:srgbClr val="8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PIXELS PER CLASS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822960" y="3794760"/>
            <a:ext cx="457200" cy="73152"/>
          </a:xfrm>
          <a:prstGeom prst="round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822960" y="4023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paired episodes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 budget is evaluated across 200 matched episodes, with population SD reported alongside each score.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25112" y="35204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4617720" y="3794760"/>
            <a:ext cx="457200" cy="73152"/>
          </a:xfrm>
          <a:prstGeom prst="round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4617720" y="4023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Macro-F1, equal weight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617720" y="44805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four age classes are weighted equally — a rare class can't be ignored to inflate the score.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38160" y="35204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8412480" y="3794760"/>
            <a:ext cx="457200" cy="73152"/>
          </a:xfrm>
          <a:prstGeom prst="round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8412480" y="4023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pixels, every method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412480" y="44805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Coordinate-RF, ASTRA, EXP-F and EXP-010 are all compared on identical, paired support/query splits.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0.749299 macro-F1 — the best score at every budget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114800" cy="3611880"/>
          </a:xfrm>
          <a:prstGeom prst="roundRect">
            <a:avLst>
              <a:gd name="adj" fmla="val 2532"/>
            </a:avLst>
          </a:prstGeom>
          <a:solidFill>
            <a:srgbClr val="0B203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RESULT · 200 SHOTS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0.7493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68680" y="3364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 ±0.005716 population SD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822192"/>
            <a:ext cx="3474720" cy="0"/>
          </a:xfrm>
          <a:prstGeom prst="line">
            <a:avLst/>
          </a:prstGeom>
          <a:noFill/>
          <a:ln w="12700">
            <a:solidFill>
              <a:srgbClr val="24425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868680" y="3950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gains at 200 shots, all 200 paired episodes: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ASTRA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240280" y="4297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FC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+0.0163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15468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200/200 episodes won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4626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EXP-F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240280" y="46268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FC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+0.0917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956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EXP-010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40280" y="4956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FC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+0.1265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737360"/>
          <a:ext cx="5760720" cy="26974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/ class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SD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0.650253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±0.011246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0.687664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±0.012145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0.708436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±0.011277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0.729839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2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±0.008802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F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0.749299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F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±0.005716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F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937760" y="461772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Coordinate-RF isn't just the best score at 200 shots — it's the top locked result at every budget tested, including the hardest, 5-shot regime.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937760" y="55600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BOOTSTRAP CI · 200 SHOTS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937760" y="5860000"/>
            <a:ext cx="576072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[0.7485, 0.7501] macro-F1, resampled from the same 200 paired episodes — the headline number is not a single lucky draw.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gains as labels grow</a:t>
            </a:r>
            <a:endParaRPr lang="en-US" sz="3200" dirty="0"/>
          </a:p>
        </p:txBody>
      </p:sp>
      <p:pic>
        <p:nvPicPr>
          <p:cNvPr id="4" name="Image 0" descr="/home/claude/work/extract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82" y="1572768"/>
            <a:ext cx="6858000" cy="33344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26083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curve: macro-F1 rises smoothly from 5 to 200 shots, with Coordinate-RF (green) ahead of every baseline at every budget.</a:t>
            </a:r>
            <a:endParaRPr lang="en-US" sz="1150" dirty="0"/>
          </a:p>
        </p:txBody>
      </p:sp>
      <p:pic>
        <p:nvPicPr>
          <p:cNvPr id="6" name="Image 1" descr="/home/claude/work/extracted/ppt/media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0247" y="1179431"/>
            <a:ext cx="4009928" cy="36241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50730" y="480363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learned: 71–83% correct per class, with confusion concentrated between adjacent age classes — the pattern we'd expect.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LIMITATIONS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method is honest about its limits</a:t>
            </a:r>
            <a:endParaRPr lang="en-US" sz="3200" dirty="0"/>
          </a:p>
        </p:txBody>
      </p:sp>
      <p:pic>
        <p:nvPicPr>
          <p:cNvPr id="4" name="Image 0" descr="/home/claude/work/extract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428" y="1371600"/>
            <a:ext cx="6720840" cy="30160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46076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i="1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stress test: </a:t>
            </a: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on the opposite half of the city. Mean 0.6942 vs ASTRA's 0.6967; worst direction 0.6448 vs ASTRA's 0.6582 — coordinates help interpolation between nearby labels, not extrapolation far beyond them.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502769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3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777240" y="511913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Transductive, not inductive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541173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Full-pool, coordinate-aware inference bound to the supplied Amsterdam pool — not an unseen-city claim.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343400" y="502769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3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7"/>
          <p:cNvSpPr/>
          <p:nvPr/>
        </p:nvSpPr>
        <p:spPr>
          <a:xfrm>
            <a:off x="4572000" y="511913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Pool-bound artifact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0" y="541173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current support and an 800-label development bank; a new pool needs re-fitting on organizer data.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8138160" y="502769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3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/>
          <p:nvPr/>
        </p:nvSpPr>
        <p:spPr>
          <a:xfrm>
            <a:off x="8366760" y="511913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366760" y="541173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interpolation so the model holds up further from its labelled coordinates.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548640" y="6160000"/>
            <a:ext cx="110642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Also disclosed: </a:t>
            </a:r>
            <a:r>
              <a:rPr lang="en-US" sz="10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inherited ASTRA baseline recipe carries historical audit exposure; no independent organizer-held-out validation is claimed here, and protocol eligibility must still be confirmed against organizer rules.</a:t>
            </a:r>
            <a:endParaRPr lang="en-US" sz="1030" dirty="0"/>
          </a:p>
        </p:txBody>
      </p:sp>
      <p:sp>
        <p:nvSpPr>
          <p:cNvPr id="15" name="Text 12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IMPACT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useful beyond one leaderboard score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3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11480" cy="73152"/>
          </a:xfrm>
          <a:prstGeom prst="round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Scales gracefully with labels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climbs smoothly from 5 to 200 shots — useful whenever labelling a new city is slow or expensive, since even a handful of examples is workable.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0B203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4617720" y="1965960"/>
            <a:ext cx="411480" cy="73152"/>
          </a:xfrm>
          <a:prstGeom prst="round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617720" y="21945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reproducible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17720" y="297180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9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configurations, hashes, label-free prediction replay and saved confusion matrices mean the result can be independently checked, not just trusted.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3F6F8"/>
          </a:solidFill>
          <a:ln w="1270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8412480" y="1965960"/>
            <a:ext cx="411480" cy="73152"/>
          </a:xfrm>
          <a:prstGeom prst="round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8412480" y="21945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2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transferable blueprint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412480" y="297180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prior + local coordinate-aware fit is a pattern that extends to other cross-city, low-label spectral classification problems within the same random-pixel, full-pool setting.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KEY TAKEAWAYS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remember about Coordinate-RF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32C46"/>
          </a:solidFill>
          <a:ln w="12700">
            <a:solidFill>
              <a:srgbClr val="24425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868680" y="198424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0.749299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macro-F1 at 200 shots — the best result at every budget tested, 5 through 200.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32C46"/>
          </a:solidFill>
          <a:ln w="12700">
            <a:solidFill>
              <a:srgbClr val="24425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6583680" y="198424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/ 200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0" y="26974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episodes where Coordinate-RF beat the strongest baseline, ASTRA, at 200 shots.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32C46"/>
          </a:solidFill>
          <a:ln w="12700">
            <a:solidFill>
              <a:srgbClr val="24425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868680" y="427024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leakage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68680" y="49834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truth never touches training, pseudo-labelling, or model selection — fully reproducible.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10935" y="4069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32C46"/>
          </a:solidFill>
          <a:ln w="12700">
            <a:solidFill>
              <a:srgbClr val="24425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6583680" y="427024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scope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583680" y="49834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Transductive and pool-bound by design; coordinates aid interpolation, not extrapolation.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2377</Words>
  <Application>Microsoft Office PowerPoint</Application>
  <PresentationFormat>Widescreen</PresentationFormat>
  <Paragraphs>177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Jaswin Chinthala</cp:lastModifiedBy>
  <cp:revision>3</cp:revision>
  <dcterms:created xsi:type="dcterms:W3CDTF">2026-09-10T06:46:30Z</dcterms:created>
  <dcterms:modified xsi:type="dcterms:W3CDTF">2026-09-10T07:30:58Z</dcterms:modified>
</cp:coreProperties>
</file>
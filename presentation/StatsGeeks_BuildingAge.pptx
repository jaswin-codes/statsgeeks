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2286000"/>
          </a:xfrm>
          <a:prstGeom prst="rect">
            <a:avLst/>
          </a:prstGeom>
          <a:solidFill>
            <a:srgbClr val="0E1C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457200"/>
            <a:ext cx="10789920" cy="457200"/>
          </a:xfrm>
          <a:prstGeom prst="rect">
            <a:avLst/>
          </a:prstGeom>
          <a:noFill/>
        </p:spPr>
        <p:txBody>
          <a:bodyPr wrap="square">
            <a:spAutoFit/>
          </a:bodyPr>
          <a:lstStyle/>
          <a:p>
            <a:r>
              <a:rPr sz="1200" b="1">
                <a:solidFill>
                  <a:srgbClr val="8FB8E8"/>
                </a:solidFill>
                <a:latin typeface="Consolas"/>
              </a:rPr>
              <a:t>STATSGEEKS  ·  BUILDING-AGE TRANSFER LEARNING</a:t>
            </a:r>
          </a:p>
        </p:txBody>
      </p:sp>
      <p:sp>
        <p:nvSpPr>
          <p:cNvPr id="4" name="TextBox 3"/>
          <p:cNvSpPr txBox="1"/>
          <p:nvPr/>
        </p:nvSpPr>
        <p:spPr>
          <a:xfrm>
            <a:off x="685800" y="914400"/>
            <a:ext cx="10789920" cy="1097280"/>
          </a:xfrm>
          <a:prstGeom prst="rect">
            <a:avLst/>
          </a:prstGeom>
          <a:noFill/>
        </p:spPr>
        <p:txBody>
          <a:bodyPr wrap="square">
            <a:spAutoFit/>
          </a:bodyPr>
          <a:lstStyle/>
          <a:p>
            <a:r>
              <a:rPr sz="4400" b="1">
                <a:solidFill>
                  <a:srgbClr val="FFFFFF"/>
                </a:solidFill>
              </a:rPr>
              <a:t>Transfer that actually transfers</a:t>
            </a:r>
          </a:p>
        </p:txBody>
      </p:sp>
      <p:sp>
        <p:nvSpPr>
          <p:cNvPr id="5" name="TextBox 4"/>
          <p:cNvSpPr txBox="1"/>
          <p:nvPr/>
        </p:nvSpPr>
        <p:spPr>
          <a:xfrm>
            <a:off x="685800" y="2514600"/>
            <a:ext cx="10789920" cy="2834640"/>
          </a:xfrm>
          <a:prstGeom prst="rect">
            <a:avLst/>
          </a:prstGeom>
          <a:noFill/>
        </p:spPr>
        <p:txBody>
          <a:bodyPr wrap="square">
            <a:spAutoFit/>
          </a:bodyPr>
          <a:lstStyle/>
          <a:p>
            <a:r>
              <a:rPr sz="1450">
                <a:solidFill>
                  <a:srgbClr val="636E7A"/>
                </a:solidFill>
              </a:rPr>
              <a:t>Building age drives urban retrofit and energy policy, but records are incomplete. We classify the construction era of buildings within 30-metre Landsat pixels into four classes, training on Madrid and adapting to Amsterdam with as few as five labelled examples per class.
The organiser's starter pipeline appears to perform transfer learning but does not: its Madrid-trained Random Forest is discarded, and Amsterdam prototypes are computed from Amsterdam data alone. We reproduced that baseline exactly, then built a method that genuinely reuses Madrid-learned state.
Our contribution is prototype shrinkage. An Amsterdam class mean estimated from five pixels is nearly unbiased but very noisy, so we shrink it toward Madrid's class geometry, with the weight falling as target data grows. Five-shot macro F1 rises by 0.0487 over the starter, winning 47 of 50 paired episodes. The optimal shrinkage declines monotonically with budget, exactly as shrinkage theory predicts.</a:t>
            </a:r>
          </a:p>
        </p:txBody>
      </p:sp>
      <p:sp>
        <p:nvSpPr>
          <p:cNvPr id="6" name="TextBox 5"/>
          <p:cNvSpPr txBox="1"/>
          <p:nvPr/>
        </p:nvSpPr>
        <p:spPr>
          <a:xfrm>
            <a:off x="685800" y="6263640"/>
            <a:ext cx="5486400" cy="365760"/>
          </a:xfrm>
          <a:prstGeom prst="rect">
            <a:avLst/>
          </a:prstGeom>
          <a:noFill/>
        </p:spPr>
        <p:txBody>
          <a:bodyPr wrap="square">
            <a:spAutoFit/>
          </a:bodyPr>
          <a:lstStyle/>
          <a:p>
            <a:r>
              <a:rPr sz="1000">
                <a:solidFill>
                  <a:srgbClr val="636E7A"/>
                </a:solidFill>
              </a:rPr>
              <a:t>Abstract · 145 words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18872"/>
          </a:xfrm>
          <a:prstGeom prst="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310896"/>
            <a:ext cx="10515600" cy="320040"/>
          </a:xfrm>
          <a:prstGeom prst="rect">
            <a:avLst/>
          </a:prstGeom>
          <a:noFill/>
        </p:spPr>
        <p:txBody>
          <a:bodyPr wrap="square">
            <a:spAutoFit/>
          </a:bodyPr>
          <a:lstStyle/>
          <a:p>
            <a:r>
              <a:rPr sz="1100" b="1">
                <a:solidFill>
                  <a:srgbClr val="2A78D6"/>
                </a:solidFill>
                <a:latin typeface="Consolas"/>
              </a:rPr>
              <a:t>THE PROBLEM</a:t>
            </a:r>
          </a:p>
        </p:txBody>
      </p:sp>
      <p:sp>
        <p:nvSpPr>
          <p:cNvPr id="4" name="TextBox 3"/>
          <p:cNvSpPr txBox="1"/>
          <p:nvPr/>
        </p:nvSpPr>
        <p:spPr>
          <a:xfrm>
            <a:off x="548640" y="603504"/>
            <a:ext cx="11155680" cy="914400"/>
          </a:xfrm>
          <a:prstGeom prst="rect">
            <a:avLst/>
          </a:prstGeom>
          <a:noFill/>
        </p:spPr>
        <p:txBody>
          <a:bodyPr wrap="square">
            <a:spAutoFit/>
          </a:bodyPr>
          <a:lstStyle/>
          <a:p>
            <a:r>
              <a:rPr sz="3300" b="1">
                <a:solidFill>
                  <a:srgbClr val="141C24"/>
                </a:solidFill>
              </a:rPr>
              <a:t>How old are these buildings?</a:t>
            </a:r>
          </a:p>
        </p:txBody>
      </p:sp>
      <p:sp>
        <p:nvSpPr>
          <p:cNvPr id="5" name="TextBox 4"/>
          <p:cNvSpPr txBox="1"/>
          <p:nvPr/>
        </p:nvSpPr>
        <p:spPr>
          <a:xfrm>
            <a:off x="10241280" y="6327648"/>
            <a:ext cx="1554480" cy="320040"/>
          </a:xfrm>
          <a:prstGeom prst="rect">
            <a:avLst/>
          </a:prstGeom>
          <a:noFill/>
        </p:spPr>
        <p:txBody>
          <a:bodyPr wrap="square">
            <a:spAutoFit/>
          </a:bodyPr>
          <a:lstStyle/>
          <a:p>
            <a:pPr algn="r"/>
            <a:r>
              <a:rPr sz="1000">
                <a:solidFill>
                  <a:srgbClr val="636E7A"/>
                </a:solidFill>
              </a:rPr>
              <a:t>M1</a:t>
            </a:r>
          </a:p>
        </p:txBody>
      </p:sp>
      <p:sp>
        <p:nvSpPr>
          <p:cNvPr id="6" name="Oval 5"/>
          <p:cNvSpPr/>
          <p:nvPr/>
        </p:nvSpPr>
        <p:spPr>
          <a:xfrm>
            <a:off x="640080" y="1856231"/>
            <a:ext cx="100584" cy="100584"/>
          </a:xfrm>
          <a:prstGeom prst="ellipse">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32688" y="1737360"/>
            <a:ext cx="10332720" cy="411480"/>
          </a:xfrm>
          <a:prstGeom prst="rect">
            <a:avLst/>
          </a:prstGeom>
          <a:noFill/>
        </p:spPr>
        <p:txBody>
          <a:bodyPr wrap="square">
            <a:spAutoFit/>
          </a:bodyPr>
          <a:lstStyle/>
          <a:p>
            <a:r>
              <a:rPr sz="2000">
                <a:solidFill>
                  <a:srgbClr val="141C24"/>
                </a:solidFill>
              </a:rPr>
              <a:t>Four construction eras, per 30 m Landsat pixel</a:t>
            </a:r>
          </a:p>
        </p:txBody>
      </p:sp>
      <p:sp>
        <p:nvSpPr>
          <p:cNvPr id="8" name="Oval 7"/>
          <p:cNvSpPr/>
          <p:nvPr/>
        </p:nvSpPr>
        <p:spPr>
          <a:xfrm>
            <a:off x="640080" y="2386584"/>
            <a:ext cx="100584" cy="100584"/>
          </a:xfrm>
          <a:prstGeom prst="ellipse">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32688" y="2267712"/>
            <a:ext cx="10332720" cy="411480"/>
          </a:xfrm>
          <a:prstGeom prst="rect">
            <a:avLst/>
          </a:prstGeom>
          <a:noFill/>
        </p:spPr>
        <p:txBody>
          <a:bodyPr wrap="square">
            <a:spAutoFit/>
          </a:bodyPr>
          <a:lstStyle/>
          <a:p>
            <a:r>
              <a:rPr sz="2000">
                <a:solidFill>
                  <a:srgbClr val="141C24"/>
                </a:solidFill>
              </a:rPr>
              <a:t>Train on Madrid  →  adapt to Amsterdam</a:t>
            </a:r>
          </a:p>
        </p:txBody>
      </p:sp>
      <p:sp>
        <p:nvSpPr>
          <p:cNvPr id="10" name="Oval 9"/>
          <p:cNvSpPr/>
          <p:nvPr/>
        </p:nvSpPr>
        <p:spPr>
          <a:xfrm>
            <a:off x="640080" y="2916935"/>
            <a:ext cx="100584" cy="100584"/>
          </a:xfrm>
          <a:prstGeom prst="ellipse">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32688" y="2798063"/>
            <a:ext cx="10332720" cy="411480"/>
          </a:xfrm>
          <a:prstGeom prst="rect">
            <a:avLst/>
          </a:prstGeom>
          <a:noFill/>
        </p:spPr>
        <p:txBody>
          <a:bodyPr wrap="square">
            <a:spAutoFit/>
          </a:bodyPr>
          <a:lstStyle/>
          <a:p>
            <a:r>
              <a:rPr sz="2000">
                <a:solidFill>
                  <a:srgbClr val="141C24"/>
                </a:solidFill>
              </a:rPr>
              <a:t>As few as five labelled examples per class</a:t>
            </a:r>
          </a:p>
        </p:txBody>
      </p:sp>
      <p:sp>
        <p:nvSpPr>
          <p:cNvPr id="12" name="Oval 11"/>
          <p:cNvSpPr/>
          <p:nvPr/>
        </p:nvSpPr>
        <p:spPr>
          <a:xfrm>
            <a:off x="640080" y="3447287"/>
            <a:ext cx="100584" cy="100584"/>
          </a:xfrm>
          <a:prstGeom prst="ellipse">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32688" y="3328415"/>
            <a:ext cx="10332720" cy="411480"/>
          </a:xfrm>
          <a:prstGeom prst="rect">
            <a:avLst/>
          </a:prstGeom>
          <a:noFill/>
        </p:spPr>
        <p:txBody>
          <a:bodyPr wrap="square">
            <a:spAutoFit/>
          </a:bodyPr>
          <a:lstStyle/>
          <a:p>
            <a:r>
              <a:rPr sz="2000">
                <a:solidFill>
                  <a:srgbClr val="141C24"/>
                </a:solidFill>
              </a:rPr>
              <a:t>Metric: four-class macro F1</a:t>
            </a:r>
          </a:p>
        </p:txBody>
      </p:sp>
      <p:sp>
        <p:nvSpPr>
          <p:cNvPr id="14" name="Rounded Rectangle 13"/>
          <p:cNvSpPr/>
          <p:nvPr/>
        </p:nvSpPr>
        <p:spPr>
          <a:xfrm>
            <a:off x="640080" y="4114800"/>
            <a:ext cx="2651760" cy="1508760"/>
          </a:xfrm>
          <a:prstGeom prst="roundRect">
            <a:avLst>
              <a:gd name="adj" fmla="val 6000"/>
            </a:avLst>
          </a:prstGeom>
          <a:solidFill>
            <a:srgbClr val="EEF3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4261104"/>
            <a:ext cx="2377440" cy="777240"/>
          </a:xfrm>
          <a:prstGeom prst="rect">
            <a:avLst/>
          </a:prstGeom>
          <a:noFill/>
        </p:spPr>
        <p:txBody>
          <a:bodyPr wrap="square">
            <a:spAutoFit/>
          </a:bodyPr>
          <a:lstStyle/>
          <a:p>
            <a:pPr algn="ctr"/>
            <a:r>
              <a:rPr sz="4400" b="1">
                <a:solidFill>
                  <a:srgbClr val="2A78D6"/>
                </a:solidFill>
              </a:rPr>
              <a:t>76k</a:t>
            </a:r>
          </a:p>
        </p:txBody>
      </p:sp>
      <p:sp>
        <p:nvSpPr>
          <p:cNvPr id="16" name="TextBox 15"/>
          <p:cNvSpPr txBox="1"/>
          <p:nvPr/>
        </p:nvSpPr>
        <p:spPr>
          <a:xfrm>
            <a:off x="777240" y="5084064"/>
            <a:ext cx="2377440" cy="457200"/>
          </a:xfrm>
          <a:prstGeom prst="rect">
            <a:avLst/>
          </a:prstGeom>
          <a:noFill/>
        </p:spPr>
        <p:txBody>
          <a:bodyPr wrap="square">
            <a:spAutoFit/>
          </a:bodyPr>
          <a:lstStyle/>
          <a:p>
            <a:pPr algn="ctr"/>
            <a:r>
              <a:rPr sz="1200">
                <a:solidFill>
                  <a:srgbClr val="636E7A"/>
                </a:solidFill>
              </a:rPr>
              <a:t>Madrid pixels</a:t>
            </a:r>
          </a:p>
        </p:txBody>
      </p:sp>
      <p:sp>
        <p:nvSpPr>
          <p:cNvPr id="17" name="Rounded Rectangle 16"/>
          <p:cNvSpPr/>
          <p:nvPr/>
        </p:nvSpPr>
        <p:spPr>
          <a:xfrm>
            <a:off x="3474720" y="4114800"/>
            <a:ext cx="2651760" cy="1508760"/>
          </a:xfrm>
          <a:prstGeom prst="roundRect">
            <a:avLst>
              <a:gd name="adj" fmla="val 6000"/>
            </a:avLst>
          </a:prstGeom>
          <a:solidFill>
            <a:srgbClr val="EEF3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3611879" y="4261104"/>
            <a:ext cx="2377440" cy="777240"/>
          </a:xfrm>
          <a:prstGeom prst="rect">
            <a:avLst/>
          </a:prstGeom>
          <a:noFill/>
        </p:spPr>
        <p:txBody>
          <a:bodyPr wrap="square">
            <a:spAutoFit/>
          </a:bodyPr>
          <a:lstStyle/>
          <a:p>
            <a:pPr algn="ctr"/>
            <a:r>
              <a:rPr sz="4400" b="1">
                <a:solidFill>
                  <a:srgbClr val="2A78D6"/>
                </a:solidFill>
              </a:rPr>
              <a:t>26k</a:t>
            </a:r>
          </a:p>
        </p:txBody>
      </p:sp>
      <p:sp>
        <p:nvSpPr>
          <p:cNvPr id="19" name="TextBox 18"/>
          <p:cNvSpPr txBox="1"/>
          <p:nvPr/>
        </p:nvSpPr>
        <p:spPr>
          <a:xfrm>
            <a:off x="3611879" y="5084064"/>
            <a:ext cx="2377440" cy="457200"/>
          </a:xfrm>
          <a:prstGeom prst="rect">
            <a:avLst/>
          </a:prstGeom>
          <a:noFill/>
        </p:spPr>
        <p:txBody>
          <a:bodyPr wrap="square">
            <a:spAutoFit/>
          </a:bodyPr>
          <a:lstStyle/>
          <a:p>
            <a:pPr algn="ctr"/>
            <a:r>
              <a:rPr sz="1200">
                <a:solidFill>
                  <a:srgbClr val="636E7A"/>
                </a:solidFill>
              </a:rPr>
              <a:t>Amsterdam pixels</a:t>
            </a:r>
          </a:p>
        </p:txBody>
      </p:sp>
      <p:sp>
        <p:nvSpPr>
          <p:cNvPr id="20" name="Rounded Rectangle 19"/>
          <p:cNvSpPr/>
          <p:nvPr/>
        </p:nvSpPr>
        <p:spPr>
          <a:xfrm>
            <a:off x="6309360" y="4114800"/>
            <a:ext cx="2651760" cy="1508760"/>
          </a:xfrm>
          <a:prstGeom prst="roundRect">
            <a:avLst>
              <a:gd name="adj" fmla="val 6000"/>
            </a:avLst>
          </a:prstGeom>
          <a:solidFill>
            <a:srgbClr val="FDF1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446520" y="4261104"/>
            <a:ext cx="2377440" cy="777240"/>
          </a:xfrm>
          <a:prstGeom prst="rect">
            <a:avLst/>
          </a:prstGeom>
          <a:noFill/>
        </p:spPr>
        <p:txBody>
          <a:bodyPr wrap="square">
            <a:spAutoFit/>
          </a:bodyPr>
          <a:lstStyle/>
          <a:p>
            <a:pPr algn="ctr"/>
            <a:r>
              <a:rPr sz="4400" b="1">
                <a:solidFill>
                  <a:srgbClr val="119D8F"/>
                </a:solidFill>
              </a:rPr>
              <a:t>42</a:t>
            </a:r>
          </a:p>
        </p:txBody>
      </p:sp>
      <p:sp>
        <p:nvSpPr>
          <p:cNvPr id="22" name="TextBox 21"/>
          <p:cNvSpPr txBox="1"/>
          <p:nvPr/>
        </p:nvSpPr>
        <p:spPr>
          <a:xfrm>
            <a:off x="6446520" y="5084064"/>
            <a:ext cx="2377440" cy="457200"/>
          </a:xfrm>
          <a:prstGeom prst="rect">
            <a:avLst/>
          </a:prstGeom>
          <a:noFill/>
        </p:spPr>
        <p:txBody>
          <a:bodyPr wrap="square">
            <a:spAutoFit/>
          </a:bodyPr>
          <a:lstStyle/>
          <a:p>
            <a:pPr algn="ctr"/>
            <a:r>
              <a:rPr sz="1200">
                <a:solidFill>
                  <a:srgbClr val="636E7A"/>
                </a:solidFill>
              </a:rPr>
              <a:t>years of imagery</a:t>
            </a:r>
          </a:p>
        </p:txBody>
      </p:sp>
      <p:sp>
        <p:nvSpPr>
          <p:cNvPr id="23" name="Rounded Rectangle 22"/>
          <p:cNvSpPr/>
          <p:nvPr/>
        </p:nvSpPr>
        <p:spPr>
          <a:xfrm>
            <a:off x="9144000" y="4114800"/>
            <a:ext cx="2651760" cy="1508760"/>
          </a:xfrm>
          <a:prstGeom prst="roundRect">
            <a:avLst>
              <a:gd name="adj" fmla="val 6000"/>
            </a:avLst>
          </a:prstGeom>
          <a:solidFill>
            <a:srgbClr val="FDF1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9281160" y="4261104"/>
            <a:ext cx="2377440" cy="777240"/>
          </a:xfrm>
          <a:prstGeom prst="rect">
            <a:avLst/>
          </a:prstGeom>
          <a:noFill/>
        </p:spPr>
        <p:txBody>
          <a:bodyPr wrap="square">
            <a:spAutoFit/>
          </a:bodyPr>
          <a:lstStyle/>
          <a:p>
            <a:pPr algn="ctr"/>
            <a:r>
              <a:rPr sz="4400" b="1">
                <a:solidFill>
                  <a:srgbClr val="EB6834"/>
                </a:solidFill>
              </a:rPr>
              <a:t>5</a:t>
            </a:r>
          </a:p>
        </p:txBody>
      </p:sp>
      <p:sp>
        <p:nvSpPr>
          <p:cNvPr id="25" name="TextBox 24"/>
          <p:cNvSpPr txBox="1"/>
          <p:nvPr/>
        </p:nvSpPr>
        <p:spPr>
          <a:xfrm>
            <a:off x="9281160" y="5084064"/>
            <a:ext cx="2377440" cy="457200"/>
          </a:xfrm>
          <a:prstGeom prst="rect">
            <a:avLst/>
          </a:prstGeom>
          <a:noFill/>
        </p:spPr>
        <p:txBody>
          <a:bodyPr wrap="square">
            <a:spAutoFit/>
          </a:bodyPr>
          <a:lstStyle/>
          <a:p>
            <a:pPr algn="ctr"/>
            <a:r>
              <a:rPr sz="1200">
                <a:solidFill>
                  <a:srgbClr val="636E7A"/>
                </a:solidFill>
              </a:rPr>
              <a:t>labels, worst case</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18872"/>
          </a:xfrm>
          <a:prstGeom prst="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310896"/>
            <a:ext cx="10515600" cy="320040"/>
          </a:xfrm>
          <a:prstGeom prst="rect">
            <a:avLst/>
          </a:prstGeom>
          <a:noFill/>
        </p:spPr>
        <p:txBody>
          <a:bodyPr wrap="square">
            <a:spAutoFit/>
          </a:bodyPr>
          <a:lstStyle/>
          <a:p>
            <a:r>
              <a:rPr sz="1100" b="1">
                <a:solidFill>
                  <a:srgbClr val="2A78D6"/>
                </a:solidFill>
                <a:latin typeface="Consolas"/>
              </a:rPr>
              <a:t>THE DATA</a:t>
            </a:r>
          </a:p>
        </p:txBody>
      </p:sp>
      <p:sp>
        <p:nvSpPr>
          <p:cNvPr id="4" name="TextBox 3"/>
          <p:cNvSpPr txBox="1"/>
          <p:nvPr/>
        </p:nvSpPr>
        <p:spPr>
          <a:xfrm>
            <a:off x="548640" y="603504"/>
            <a:ext cx="11155680" cy="914400"/>
          </a:xfrm>
          <a:prstGeom prst="rect">
            <a:avLst/>
          </a:prstGeom>
          <a:noFill/>
        </p:spPr>
        <p:txBody>
          <a:bodyPr wrap="square">
            <a:spAutoFit/>
          </a:bodyPr>
          <a:lstStyle/>
          <a:p>
            <a:r>
              <a:rPr sz="3300" b="1">
                <a:solidFill>
                  <a:srgbClr val="141C24"/>
                </a:solidFill>
              </a:rPr>
              <a:t>Construction leaves a spectral fingerprint</a:t>
            </a:r>
          </a:p>
        </p:txBody>
      </p:sp>
      <p:sp>
        <p:nvSpPr>
          <p:cNvPr id="5" name="TextBox 4"/>
          <p:cNvSpPr txBox="1"/>
          <p:nvPr/>
        </p:nvSpPr>
        <p:spPr>
          <a:xfrm>
            <a:off x="10241280" y="6327648"/>
            <a:ext cx="1554480" cy="320040"/>
          </a:xfrm>
          <a:prstGeom prst="rect">
            <a:avLst/>
          </a:prstGeom>
          <a:noFill/>
        </p:spPr>
        <p:txBody>
          <a:bodyPr wrap="square">
            <a:spAutoFit/>
          </a:bodyPr>
          <a:lstStyle/>
          <a:p>
            <a:pPr algn="r"/>
            <a:r>
              <a:rPr sz="1000">
                <a:solidFill>
                  <a:srgbClr val="636E7A"/>
                </a:solidFill>
              </a:rPr>
              <a:t>M2</a:t>
            </a:r>
          </a:p>
        </p:txBody>
      </p:sp>
      <p:sp>
        <p:nvSpPr>
          <p:cNvPr id="6" name="Oval 5"/>
          <p:cNvSpPr/>
          <p:nvPr/>
        </p:nvSpPr>
        <p:spPr>
          <a:xfrm>
            <a:off x="640080" y="1901952"/>
            <a:ext cx="100584" cy="100584"/>
          </a:xfrm>
          <a:prstGeom prst="ellipse">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32688" y="1783080"/>
            <a:ext cx="10332720" cy="411480"/>
          </a:xfrm>
          <a:prstGeom prst="rect">
            <a:avLst/>
          </a:prstGeom>
          <a:noFill/>
        </p:spPr>
        <p:txBody>
          <a:bodyPr wrap="square">
            <a:spAutoFit/>
          </a:bodyPr>
          <a:lstStyle/>
          <a:p>
            <a:r>
              <a:rPr sz="1900">
                <a:solidFill>
                  <a:srgbClr val="141C24"/>
                </a:solidFill>
              </a:rPr>
              <a:t>Six spectral bands · once a year · 1984–2025</a:t>
            </a:r>
          </a:p>
        </p:txBody>
      </p:sp>
      <p:sp>
        <p:nvSpPr>
          <p:cNvPr id="8" name="Oval 7"/>
          <p:cNvSpPr/>
          <p:nvPr/>
        </p:nvSpPr>
        <p:spPr>
          <a:xfrm>
            <a:off x="640080" y="2404872"/>
            <a:ext cx="100584" cy="100584"/>
          </a:xfrm>
          <a:prstGeom prst="ellipse">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32688" y="2286000"/>
            <a:ext cx="10332720" cy="411480"/>
          </a:xfrm>
          <a:prstGeom prst="rect">
            <a:avLst/>
          </a:prstGeom>
          <a:noFill/>
        </p:spPr>
        <p:txBody>
          <a:bodyPr wrap="square">
            <a:spAutoFit/>
          </a:bodyPr>
          <a:lstStyle/>
          <a:p>
            <a:r>
              <a:rPr sz="1900">
                <a:solidFill>
                  <a:srgbClr val="141C24"/>
                </a:solidFill>
              </a:rPr>
              <a:t>A field becomes a roof.  Concrete weathers.</a:t>
            </a:r>
          </a:p>
        </p:txBody>
      </p:sp>
      <p:sp>
        <p:nvSpPr>
          <p:cNvPr id="10" name="Oval 9"/>
          <p:cNvSpPr/>
          <p:nvPr/>
        </p:nvSpPr>
        <p:spPr>
          <a:xfrm>
            <a:off x="640080" y="2907791"/>
            <a:ext cx="100584" cy="100584"/>
          </a:xfrm>
          <a:prstGeom prst="ellipse">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32688" y="2788920"/>
            <a:ext cx="10332720" cy="411480"/>
          </a:xfrm>
          <a:prstGeom prst="rect">
            <a:avLst/>
          </a:prstGeom>
          <a:noFill/>
        </p:spPr>
        <p:txBody>
          <a:bodyPr wrap="square">
            <a:spAutoFit/>
          </a:bodyPr>
          <a:lstStyle/>
          <a:p>
            <a:r>
              <a:rPr sz="1900">
                <a:solidFill>
                  <a:srgbClr val="141C24"/>
                </a:solidFill>
              </a:rPr>
              <a:t>42-year trajectory  →  60 summary features</a:t>
            </a:r>
          </a:p>
        </p:txBody>
      </p:sp>
      <p:sp>
        <p:nvSpPr>
          <p:cNvPr id="12" name="Oval 11"/>
          <p:cNvSpPr/>
          <p:nvPr/>
        </p:nvSpPr>
        <p:spPr>
          <a:xfrm>
            <a:off x="640080" y="3410712"/>
            <a:ext cx="100584" cy="100584"/>
          </a:xfrm>
          <a:prstGeom prst="ellipse">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32688" y="3291840"/>
            <a:ext cx="10332720" cy="411480"/>
          </a:xfrm>
          <a:prstGeom prst="rect">
            <a:avLst/>
          </a:prstGeom>
          <a:noFill/>
        </p:spPr>
        <p:txBody>
          <a:bodyPr wrap="square">
            <a:spAutoFit/>
          </a:bodyPr>
          <a:lstStyle/>
          <a:p>
            <a:r>
              <a:rPr sz="1900">
                <a:solidFill>
                  <a:srgbClr val="141C24"/>
                </a:solidFill>
              </a:rPr>
              <a:t>Labels are area-weighted averages — noisy by construction</a:t>
            </a:r>
          </a:p>
        </p:txBody>
      </p:sp>
      <p:sp>
        <p:nvSpPr>
          <p:cNvPr id="14" name="Rounded Rectangle 13"/>
          <p:cNvSpPr/>
          <p:nvPr/>
        </p:nvSpPr>
        <p:spPr>
          <a:xfrm>
            <a:off x="640080" y="4160520"/>
            <a:ext cx="10881360" cy="1371600"/>
          </a:xfrm>
          <a:prstGeom prst="roundRect">
            <a:avLst>
              <a:gd name="adj" fmla="val 6000"/>
            </a:avLst>
          </a:prstGeom>
          <a:solidFill>
            <a:srgbClr val="FDF1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14400" y="4315968"/>
            <a:ext cx="10332720" cy="1097280"/>
          </a:xfrm>
          <a:prstGeom prst="rect">
            <a:avLst/>
          </a:prstGeom>
          <a:noFill/>
        </p:spPr>
        <p:txBody>
          <a:bodyPr wrap="square">
            <a:spAutoFit/>
          </a:bodyPr>
          <a:lstStyle/>
          <a:p>
            <a:r>
              <a:rPr sz="1900" b="1">
                <a:solidFill>
                  <a:srgbClr val="141C24"/>
                </a:solidFill>
              </a:rPr>
              <a:t>One pixel can hold a 1950s block and a 2010s block — and gets a label describing neither.</a:t>
            </a:r>
          </a:p>
        </p:txBody>
      </p:sp>
      <p:sp>
        <p:nvSpPr>
          <p:cNvPr id="16" name="TextBox 15"/>
          <p:cNvSpPr txBox="1"/>
          <p:nvPr/>
        </p:nvSpPr>
        <p:spPr>
          <a:xfrm>
            <a:off x="914400" y="4864608"/>
            <a:ext cx="10332720" cy="548640"/>
          </a:xfrm>
          <a:prstGeom prst="rect">
            <a:avLst/>
          </a:prstGeom>
          <a:noFill/>
        </p:spPr>
        <p:txBody>
          <a:bodyPr wrap="square">
            <a:spAutoFit/>
          </a:bodyPr>
          <a:lstStyle/>
          <a:p>
            <a:r>
              <a:rPr sz="1600">
                <a:solidFill>
                  <a:srgbClr val="EB6834"/>
                </a:solidFill>
              </a:rPr>
              <a:t>There is a ceiling below 1.0. Nobody knows where it is.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18872"/>
          </a:xfrm>
          <a:prstGeom prst="rect">
            <a:avLst/>
          </a:prstGeom>
          <a:solidFill>
            <a:srgbClr val="EB68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310896"/>
            <a:ext cx="10515600" cy="320040"/>
          </a:xfrm>
          <a:prstGeom prst="rect">
            <a:avLst/>
          </a:prstGeom>
          <a:noFill/>
        </p:spPr>
        <p:txBody>
          <a:bodyPr wrap="square">
            <a:spAutoFit/>
          </a:bodyPr>
          <a:lstStyle/>
          <a:p>
            <a:r>
              <a:rPr sz="1100" b="1">
                <a:solidFill>
                  <a:srgbClr val="EB6834"/>
                </a:solidFill>
                <a:latin typeface="Consolas"/>
              </a:rPr>
              <a:t>WHAT WE FOUND</a:t>
            </a:r>
          </a:p>
        </p:txBody>
      </p:sp>
      <p:sp>
        <p:nvSpPr>
          <p:cNvPr id="4" name="TextBox 3"/>
          <p:cNvSpPr txBox="1"/>
          <p:nvPr/>
        </p:nvSpPr>
        <p:spPr>
          <a:xfrm>
            <a:off x="548640" y="603504"/>
            <a:ext cx="11155680" cy="914400"/>
          </a:xfrm>
          <a:prstGeom prst="rect">
            <a:avLst/>
          </a:prstGeom>
          <a:noFill/>
        </p:spPr>
        <p:txBody>
          <a:bodyPr wrap="square">
            <a:spAutoFit/>
          </a:bodyPr>
          <a:lstStyle/>
          <a:p>
            <a:r>
              <a:rPr sz="3300" b="1">
                <a:solidFill>
                  <a:srgbClr val="141C24"/>
                </a:solidFill>
              </a:rPr>
              <a:t>The starter's transfer learning transfers nothing</a:t>
            </a:r>
          </a:p>
        </p:txBody>
      </p:sp>
      <p:sp>
        <p:nvSpPr>
          <p:cNvPr id="5" name="TextBox 4"/>
          <p:cNvSpPr txBox="1"/>
          <p:nvPr/>
        </p:nvSpPr>
        <p:spPr>
          <a:xfrm>
            <a:off x="10241280" y="6327648"/>
            <a:ext cx="1554480" cy="320040"/>
          </a:xfrm>
          <a:prstGeom prst="rect">
            <a:avLst/>
          </a:prstGeom>
          <a:noFill/>
        </p:spPr>
        <p:txBody>
          <a:bodyPr wrap="square">
            <a:spAutoFit/>
          </a:bodyPr>
          <a:lstStyle/>
          <a:p>
            <a:pPr algn="r"/>
            <a:r>
              <a:rPr sz="1000">
                <a:solidFill>
                  <a:srgbClr val="636E7A"/>
                </a:solidFill>
              </a:rPr>
              <a:t>M2 → M3</a:t>
            </a:r>
          </a:p>
        </p:txBody>
      </p:sp>
      <p:sp>
        <p:nvSpPr>
          <p:cNvPr id="6" name="Rounded Rectangle 5"/>
          <p:cNvSpPr/>
          <p:nvPr/>
        </p:nvSpPr>
        <p:spPr>
          <a:xfrm>
            <a:off x="640080" y="1737360"/>
            <a:ext cx="5212080" cy="2286000"/>
          </a:xfrm>
          <a:prstGeom prst="roundRect">
            <a:avLst>
              <a:gd name="adj" fmla="val 6000"/>
            </a:avLst>
          </a:prstGeom>
          <a:solidFill>
            <a:srgbClr val="FDF1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920240"/>
            <a:ext cx="4663440" cy="1920240"/>
          </a:xfrm>
          <a:prstGeom prst="rect">
            <a:avLst/>
          </a:prstGeom>
          <a:noFill/>
        </p:spPr>
        <p:txBody>
          <a:bodyPr wrap="square">
            <a:spAutoFit/>
          </a:bodyPr>
          <a:lstStyle/>
          <a:p>
            <a:r>
              <a:rPr sz="1700" b="0">
                <a:solidFill>
                  <a:srgbClr val="141C24"/>
                </a:solidFill>
              </a:rPr>
              <a:t>1.  Train a Random Forest on Madrid</a:t>
            </a:r>
          </a:p>
          <a:p>
            <a:r>
              <a:rPr sz="1700" b="1">
                <a:solidFill>
                  <a:srgbClr val="EB6834"/>
                </a:solidFill>
              </a:rPr>
              <a:t>2.  Throw it away</a:t>
            </a:r>
          </a:p>
          <a:p>
            <a:r>
              <a:rPr sz="1700" b="0">
                <a:solidFill>
                  <a:srgbClr val="141C24"/>
                </a:solidFill>
              </a:rPr>
              <a:t>3.  Build Amsterdam prototypes from</a:t>
            </a:r>
          </a:p>
          <a:p>
            <a:r>
              <a:rPr sz="1700" b="0">
                <a:solidFill>
                  <a:srgbClr val="141C24"/>
                </a:solidFill>
              </a:rPr>
              <a:t>     Amsterdam data alone</a:t>
            </a:r>
          </a:p>
        </p:txBody>
      </p:sp>
      <p:sp>
        <p:nvSpPr>
          <p:cNvPr id="8" name="Oval 7"/>
          <p:cNvSpPr/>
          <p:nvPr/>
        </p:nvSpPr>
        <p:spPr>
          <a:xfrm>
            <a:off x="6309360" y="1947672"/>
            <a:ext cx="100584" cy="100584"/>
          </a:xfrm>
          <a:prstGeom prst="ellipse">
            <a:avLst/>
          </a:prstGeom>
          <a:solidFill>
            <a:srgbClr val="EB68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601968" y="1828800"/>
            <a:ext cx="4663440" cy="411480"/>
          </a:xfrm>
          <a:prstGeom prst="rect">
            <a:avLst/>
          </a:prstGeom>
          <a:noFill/>
        </p:spPr>
        <p:txBody>
          <a:bodyPr wrap="square">
            <a:spAutoFit/>
          </a:bodyPr>
          <a:lstStyle/>
          <a:p>
            <a:r>
              <a:rPr sz="1800">
                <a:solidFill>
                  <a:srgbClr val="141C24"/>
                </a:solidFill>
              </a:rPr>
              <a:t>Madrid contributes only a scaler</a:t>
            </a:r>
          </a:p>
        </p:txBody>
      </p:sp>
      <p:sp>
        <p:nvSpPr>
          <p:cNvPr id="10" name="Oval 9"/>
          <p:cNvSpPr/>
          <p:nvPr/>
        </p:nvSpPr>
        <p:spPr>
          <a:xfrm>
            <a:off x="6309360" y="2450591"/>
            <a:ext cx="100584" cy="100584"/>
          </a:xfrm>
          <a:prstGeom prst="ellipse">
            <a:avLst/>
          </a:prstGeom>
          <a:solidFill>
            <a:srgbClr val="EB68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601968" y="2331720"/>
            <a:ext cx="4663440" cy="411480"/>
          </a:xfrm>
          <a:prstGeom prst="rect">
            <a:avLst/>
          </a:prstGeom>
          <a:noFill/>
        </p:spPr>
        <p:txBody>
          <a:bodyPr wrap="square">
            <a:spAutoFit/>
          </a:bodyPr>
          <a:lstStyle/>
          <a:p>
            <a:r>
              <a:rPr sz="1800">
                <a:solidFill>
                  <a:srgbClr val="141C24"/>
                </a:solidFill>
              </a:rPr>
              <a:t>More labels ≠ more transfer</a:t>
            </a:r>
          </a:p>
        </p:txBody>
      </p:sp>
      <p:sp>
        <p:nvSpPr>
          <p:cNvPr id="12" name="Oval 11"/>
          <p:cNvSpPr/>
          <p:nvPr/>
        </p:nvSpPr>
        <p:spPr>
          <a:xfrm>
            <a:off x="6309360" y="2953512"/>
            <a:ext cx="100584" cy="100584"/>
          </a:xfrm>
          <a:prstGeom prst="ellipse">
            <a:avLst/>
          </a:prstGeom>
          <a:solidFill>
            <a:srgbClr val="EB68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601968" y="2834640"/>
            <a:ext cx="4663440" cy="411480"/>
          </a:xfrm>
          <a:prstGeom prst="rect">
            <a:avLst/>
          </a:prstGeom>
          <a:noFill/>
        </p:spPr>
        <p:txBody>
          <a:bodyPr wrap="square">
            <a:spAutoFit/>
          </a:bodyPr>
          <a:lstStyle/>
          <a:p>
            <a:r>
              <a:rPr sz="1800">
                <a:solidFill>
                  <a:srgbClr val="141C24"/>
                </a:solidFill>
              </a:rPr>
              <a:t>It just measures Amsterdam-only learning</a:t>
            </a:r>
          </a:p>
        </p:txBody>
      </p:sp>
      <p:sp>
        <p:nvSpPr>
          <p:cNvPr id="14" name="Rounded Rectangle 13"/>
          <p:cNvSpPr/>
          <p:nvPr/>
        </p:nvSpPr>
        <p:spPr>
          <a:xfrm>
            <a:off x="6309360" y="3520440"/>
            <a:ext cx="5212080" cy="777240"/>
          </a:xfrm>
          <a:prstGeom prst="roundRect">
            <a:avLst>
              <a:gd name="adj" fmla="val 6000"/>
            </a:avLst>
          </a:prstGeom>
          <a:solidFill>
            <a:srgbClr val="EEF3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37960" y="3657600"/>
            <a:ext cx="4754880" cy="548640"/>
          </a:xfrm>
          <a:prstGeom prst="rect">
            <a:avLst/>
          </a:prstGeom>
          <a:noFill/>
        </p:spPr>
        <p:txBody>
          <a:bodyPr wrap="square">
            <a:spAutoFit/>
          </a:bodyPr>
          <a:lstStyle/>
          <a:p>
            <a:r>
              <a:rPr sz="1700" b="1">
                <a:solidFill>
                  <a:srgbClr val="2A78D6"/>
                </a:solidFill>
              </a:rPr>
              <a:t>The rubric can disqualify for this.</a:t>
            </a:r>
          </a:p>
        </p:txBody>
      </p:sp>
      <p:sp>
        <p:nvSpPr>
          <p:cNvPr id="16" name="Rounded Rectangle 15"/>
          <p:cNvSpPr/>
          <p:nvPr/>
        </p:nvSpPr>
        <p:spPr>
          <a:xfrm>
            <a:off x="640080" y="4434840"/>
            <a:ext cx="10881360" cy="1417320"/>
          </a:xfrm>
          <a:prstGeom prst="roundRect">
            <a:avLst>
              <a:gd name="adj" fmla="val 6000"/>
            </a:avLst>
          </a:prstGeom>
          <a:solidFill>
            <a:srgbClr val="EEF3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14400" y="4572000"/>
            <a:ext cx="10332720" cy="1188720"/>
          </a:xfrm>
          <a:prstGeom prst="rect">
            <a:avLst/>
          </a:prstGeom>
          <a:noFill/>
        </p:spPr>
        <p:txBody>
          <a:bodyPr wrap="square">
            <a:spAutoFit/>
          </a:bodyPr>
          <a:lstStyle/>
          <a:p>
            <a:r>
              <a:rPr sz="2000" b="1">
                <a:solidFill>
                  <a:srgbClr val="2A78D6"/>
                </a:solidFill>
              </a:rPr>
              <a:t>And that flaw became our best instrument.</a:t>
            </a:r>
          </a:p>
        </p:txBody>
      </p:sp>
      <p:sp>
        <p:nvSpPr>
          <p:cNvPr id="18" name="TextBox 17"/>
          <p:cNvSpPr txBox="1"/>
          <p:nvPr/>
        </p:nvSpPr>
        <p:spPr>
          <a:xfrm>
            <a:off x="914400" y="5074920"/>
            <a:ext cx="10332720" cy="731520"/>
          </a:xfrm>
          <a:prstGeom prst="rect">
            <a:avLst/>
          </a:prstGeom>
          <a:noFill/>
        </p:spPr>
        <p:txBody>
          <a:bodyPr wrap="square">
            <a:spAutoFit/>
          </a:bodyPr>
          <a:lstStyle/>
          <a:p>
            <a:r>
              <a:rPr sz="1500">
                <a:solidFill>
                  <a:srgbClr val="636E7A"/>
                </a:solidFill>
              </a:rPr>
              <a:t>It touches no tree code — so it proved our data pipeline was identical, and isolated a scikit-learn version difference in the baseline.</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18872"/>
          </a:xfrm>
          <a:prstGeom prst="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310896"/>
            <a:ext cx="10515600" cy="320040"/>
          </a:xfrm>
          <a:prstGeom prst="rect">
            <a:avLst/>
          </a:prstGeom>
          <a:noFill/>
        </p:spPr>
        <p:txBody>
          <a:bodyPr wrap="square">
            <a:spAutoFit/>
          </a:bodyPr>
          <a:lstStyle/>
          <a:p>
            <a:r>
              <a:rPr sz="1100" b="1">
                <a:solidFill>
                  <a:srgbClr val="2A78D6"/>
                </a:solidFill>
                <a:latin typeface="Consolas"/>
              </a:rPr>
              <a:t>OUR METHOD</a:t>
            </a:r>
          </a:p>
        </p:txBody>
      </p:sp>
      <p:sp>
        <p:nvSpPr>
          <p:cNvPr id="4" name="TextBox 3"/>
          <p:cNvSpPr txBox="1"/>
          <p:nvPr/>
        </p:nvSpPr>
        <p:spPr>
          <a:xfrm>
            <a:off x="548640" y="603504"/>
            <a:ext cx="11155680" cy="914400"/>
          </a:xfrm>
          <a:prstGeom prst="rect">
            <a:avLst/>
          </a:prstGeom>
          <a:noFill/>
        </p:spPr>
        <p:txBody>
          <a:bodyPr wrap="square">
            <a:spAutoFit/>
          </a:bodyPr>
          <a:lstStyle/>
          <a:p>
            <a:r>
              <a:rPr sz="3300" b="1">
                <a:solidFill>
                  <a:srgbClr val="141C24"/>
                </a:solidFill>
              </a:rPr>
              <a:t>We transfer a metric, not a classifier</a:t>
            </a:r>
          </a:p>
        </p:txBody>
      </p:sp>
      <p:sp>
        <p:nvSpPr>
          <p:cNvPr id="5" name="TextBox 4"/>
          <p:cNvSpPr txBox="1"/>
          <p:nvPr/>
        </p:nvSpPr>
        <p:spPr>
          <a:xfrm>
            <a:off x="10241280" y="6327648"/>
            <a:ext cx="1554480" cy="320040"/>
          </a:xfrm>
          <a:prstGeom prst="rect">
            <a:avLst/>
          </a:prstGeom>
          <a:noFill/>
        </p:spPr>
        <p:txBody>
          <a:bodyPr wrap="square">
            <a:spAutoFit/>
          </a:bodyPr>
          <a:lstStyle/>
          <a:p>
            <a:pPr algn="r"/>
            <a:r>
              <a:rPr sz="1000">
                <a:solidFill>
                  <a:srgbClr val="636E7A"/>
                </a:solidFill>
              </a:rPr>
              <a:t>M3</a:t>
            </a:r>
          </a:p>
        </p:txBody>
      </p:sp>
      <p:sp>
        <p:nvSpPr>
          <p:cNvPr id="6" name="Rounded Rectangle 5"/>
          <p:cNvSpPr/>
          <p:nvPr/>
        </p:nvSpPr>
        <p:spPr>
          <a:xfrm>
            <a:off x="640080" y="1783080"/>
            <a:ext cx="2606040" cy="1691640"/>
          </a:xfrm>
          <a:prstGeom prst="roundRect">
            <a:avLst>
              <a:gd name="adj" fmla="val 6000"/>
            </a:avLst>
          </a:prstGeom>
          <a:solidFill>
            <a:srgbClr val="EEF3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22959" y="1920240"/>
            <a:ext cx="2240280" cy="457200"/>
          </a:xfrm>
          <a:prstGeom prst="rect">
            <a:avLst/>
          </a:prstGeom>
          <a:noFill/>
        </p:spPr>
        <p:txBody>
          <a:bodyPr wrap="square">
            <a:spAutoFit/>
          </a:bodyPr>
          <a:lstStyle/>
          <a:p>
            <a:r>
              <a:rPr sz="1900" b="1">
                <a:solidFill>
                  <a:srgbClr val="2A78D6"/>
                </a:solidFill>
              </a:rPr>
              <a:t>1.  Learn</a:t>
            </a:r>
          </a:p>
        </p:txBody>
      </p:sp>
      <p:sp>
        <p:nvSpPr>
          <p:cNvPr id="8" name="TextBox 7"/>
          <p:cNvSpPr txBox="1"/>
          <p:nvPr/>
        </p:nvSpPr>
        <p:spPr>
          <a:xfrm>
            <a:off x="822959" y="2450592"/>
            <a:ext cx="2240280" cy="914400"/>
          </a:xfrm>
          <a:prstGeom prst="rect">
            <a:avLst/>
          </a:prstGeom>
          <a:noFill/>
        </p:spPr>
        <p:txBody>
          <a:bodyPr wrap="square">
            <a:spAutoFit/>
          </a:bodyPr>
          <a:lstStyle/>
          <a:p>
            <a:r>
              <a:rPr sz="1400">
                <a:solidFill>
                  <a:srgbClr val="636E7A"/>
                </a:solidFill>
              </a:rPr>
              <a:t>a transform on
Madrid only</a:t>
            </a:r>
          </a:p>
        </p:txBody>
      </p:sp>
      <p:sp>
        <p:nvSpPr>
          <p:cNvPr id="9" name="Rounded Rectangle 8"/>
          <p:cNvSpPr/>
          <p:nvPr/>
        </p:nvSpPr>
        <p:spPr>
          <a:xfrm>
            <a:off x="3456432" y="1783080"/>
            <a:ext cx="2606040" cy="1691640"/>
          </a:xfrm>
          <a:prstGeom prst="roundRect">
            <a:avLst>
              <a:gd name="adj" fmla="val 6000"/>
            </a:avLst>
          </a:prstGeom>
          <a:solidFill>
            <a:srgbClr val="EEF3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639312" y="1920240"/>
            <a:ext cx="2240280" cy="457200"/>
          </a:xfrm>
          <a:prstGeom prst="rect">
            <a:avLst/>
          </a:prstGeom>
          <a:noFill/>
        </p:spPr>
        <p:txBody>
          <a:bodyPr wrap="square">
            <a:spAutoFit/>
          </a:bodyPr>
          <a:lstStyle/>
          <a:p>
            <a:r>
              <a:rPr sz="1900" b="1">
                <a:solidFill>
                  <a:srgbClr val="2A78D6"/>
                </a:solidFill>
              </a:rPr>
              <a:t>2.  Freeze</a:t>
            </a:r>
          </a:p>
        </p:txBody>
      </p:sp>
      <p:sp>
        <p:nvSpPr>
          <p:cNvPr id="11" name="TextBox 10"/>
          <p:cNvSpPr txBox="1"/>
          <p:nvPr/>
        </p:nvSpPr>
        <p:spPr>
          <a:xfrm>
            <a:off x="3639312" y="2450592"/>
            <a:ext cx="2240280" cy="914400"/>
          </a:xfrm>
          <a:prstGeom prst="rect">
            <a:avLst/>
          </a:prstGeom>
          <a:noFill/>
        </p:spPr>
        <p:txBody>
          <a:bodyPr wrap="square">
            <a:spAutoFit/>
          </a:bodyPr>
          <a:lstStyle/>
          <a:p>
            <a:r>
              <a:rPr sz="1400">
                <a:solidFill>
                  <a:srgbClr val="636E7A"/>
                </a:solidFill>
              </a:rPr>
              <a:t>never refit on
Amsterdam</a:t>
            </a:r>
          </a:p>
        </p:txBody>
      </p:sp>
      <p:sp>
        <p:nvSpPr>
          <p:cNvPr id="12" name="Rounded Rectangle 11"/>
          <p:cNvSpPr/>
          <p:nvPr/>
        </p:nvSpPr>
        <p:spPr>
          <a:xfrm>
            <a:off x="6272784" y="1783080"/>
            <a:ext cx="2606040" cy="1691640"/>
          </a:xfrm>
          <a:prstGeom prst="roundRect">
            <a:avLst>
              <a:gd name="adj" fmla="val 6000"/>
            </a:avLst>
          </a:prstGeom>
          <a:solidFill>
            <a:srgbClr val="EEF3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55664" y="1920240"/>
            <a:ext cx="2240280" cy="457200"/>
          </a:xfrm>
          <a:prstGeom prst="rect">
            <a:avLst/>
          </a:prstGeom>
          <a:noFill/>
        </p:spPr>
        <p:txBody>
          <a:bodyPr wrap="square">
            <a:spAutoFit/>
          </a:bodyPr>
          <a:lstStyle/>
          <a:p>
            <a:r>
              <a:rPr sz="1900" b="1">
                <a:solidFill>
                  <a:srgbClr val="2A78D6"/>
                </a:solidFill>
              </a:rPr>
              <a:t>3.  Project</a:t>
            </a:r>
          </a:p>
        </p:txBody>
      </p:sp>
      <p:sp>
        <p:nvSpPr>
          <p:cNvPr id="14" name="TextBox 13"/>
          <p:cNvSpPr txBox="1"/>
          <p:nvPr/>
        </p:nvSpPr>
        <p:spPr>
          <a:xfrm>
            <a:off x="6455664" y="2450592"/>
            <a:ext cx="2240280" cy="914400"/>
          </a:xfrm>
          <a:prstGeom prst="rect">
            <a:avLst/>
          </a:prstGeom>
          <a:noFill/>
        </p:spPr>
        <p:txBody>
          <a:bodyPr wrap="square">
            <a:spAutoFit/>
          </a:bodyPr>
          <a:lstStyle/>
          <a:p>
            <a:r>
              <a:rPr sz="1400">
                <a:solidFill>
                  <a:srgbClr val="636E7A"/>
                </a:solidFill>
              </a:rPr>
              <a:t>push Amsterdam
through it</a:t>
            </a:r>
          </a:p>
        </p:txBody>
      </p:sp>
      <p:sp>
        <p:nvSpPr>
          <p:cNvPr id="15" name="Rounded Rectangle 14"/>
          <p:cNvSpPr/>
          <p:nvPr/>
        </p:nvSpPr>
        <p:spPr>
          <a:xfrm>
            <a:off x="9089136" y="1783080"/>
            <a:ext cx="2606040" cy="1691640"/>
          </a:xfrm>
          <a:prstGeom prst="roundRect">
            <a:avLst>
              <a:gd name="adj" fmla="val 6000"/>
            </a:avLst>
          </a:prstGeom>
          <a:solidFill>
            <a:srgbClr val="EEF3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272015" y="1920240"/>
            <a:ext cx="2240280" cy="457200"/>
          </a:xfrm>
          <a:prstGeom prst="rect">
            <a:avLst/>
          </a:prstGeom>
          <a:noFill/>
        </p:spPr>
        <p:txBody>
          <a:bodyPr wrap="square">
            <a:spAutoFit/>
          </a:bodyPr>
          <a:lstStyle/>
          <a:p>
            <a:r>
              <a:rPr sz="1900" b="1">
                <a:solidFill>
                  <a:srgbClr val="2A78D6"/>
                </a:solidFill>
              </a:rPr>
              <a:t>4.  Prototype</a:t>
            </a:r>
          </a:p>
        </p:txBody>
      </p:sp>
      <p:sp>
        <p:nvSpPr>
          <p:cNvPr id="17" name="TextBox 16"/>
          <p:cNvSpPr txBox="1"/>
          <p:nvPr/>
        </p:nvSpPr>
        <p:spPr>
          <a:xfrm>
            <a:off x="9272015" y="2450592"/>
            <a:ext cx="2240280" cy="914400"/>
          </a:xfrm>
          <a:prstGeom prst="rect">
            <a:avLst/>
          </a:prstGeom>
          <a:noFill/>
        </p:spPr>
        <p:txBody>
          <a:bodyPr wrap="square">
            <a:spAutoFit/>
          </a:bodyPr>
          <a:lstStyle/>
          <a:p>
            <a:r>
              <a:rPr sz="1400">
                <a:solidFill>
                  <a:srgbClr val="636E7A"/>
                </a:solidFill>
              </a:rPr>
              <a:t>class means from
support labels</a:t>
            </a:r>
          </a:p>
        </p:txBody>
      </p:sp>
      <p:sp>
        <p:nvSpPr>
          <p:cNvPr id="18" name="Oval 17"/>
          <p:cNvSpPr/>
          <p:nvPr/>
        </p:nvSpPr>
        <p:spPr>
          <a:xfrm>
            <a:off x="640080" y="3913632"/>
            <a:ext cx="100584" cy="100584"/>
          </a:xfrm>
          <a:prstGeom prst="ellipse">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32688" y="3794760"/>
            <a:ext cx="10332720" cy="411480"/>
          </a:xfrm>
          <a:prstGeom prst="rect">
            <a:avLst/>
          </a:prstGeom>
          <a:noFill/>
        </p:spPr>
        <p:txBody>
          <a:bodyPr wrap="square">
            <a:spAutoFit/>
          </a:bodyPr>
          <a:lstStyle/>
          <a:p>
            <a:r>
              <a:rPr sz="1800">
                <a:solidFill>
                  <a:srgbClr val="141C24"/>
                </a:solidFill>
              </a:rPr>
              <a:t>Madrid teaches which measurements matter</a:t>
            </a:r>
          </a:p>
        </p:txBody>
      </p:sp>
      <p:sp>
        <p:nvSpPr>
          <p:cNvPr id="20" name="Oval 19"/>
          <p:cNvSpPr/>
          <p:nvPr/>
        </p:nvSpPr>
        <p:spPr>
          <a:xfrm>
            <a:off x="640080" y="4370832"/>
            <a:ext cx="100584" cy="100584"/>
          </a:xfrm>
          <a:prstGeom prst="ellipse">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932688" y="4251960"/>
            <a:ext cx="10332720" cy="411480"/>
          </a:xfrm>
          <a:prstGeom prst="rect">
            <a:avLst/>
          </a:prstGeom>
          <a:noFill/>
        </p:spPr>
        <p:txBody>
          <a:bodyPr wrap="square">
            <a:spAutoFit/>
          </a:bodyPr>
          <a:lstStyle/>
          <a:p>
            <a:r>
              <a:rPr sz="1800">
                <a:solidFill>
                  <a:srgbClr val="141C24"/>
                </a:solidFill>
              </a:rPr>
              <a:t>Amsterdam supplies the examples</a:t>
            </a:r>
          </a:p>
        </p:txBody>
      </p:sp>
      <p:sp>
        <p:nvSpPr>
          <p:cNvPr id="22" name="Oval 21"/>
          <p:cNvSpPr/>
          <p:nvPr/>
        </p:nvSpPr>
        <p:spPr>
          <a:xfrm>
            <a:off x="640080" y="4828032"/>
            <a:ext cx="100584" cy="100584"/>
          </a:xfrm>
          <a:prstGeom prst="ellipse">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932688" y="4709160"/>
            <a:ext cx="10332720" cy="411480"/>
          </a:xfrm>
          <a:prstGeom prst="rect">
            <a:avLst/>
          </a:prstGeom>
          <a:noFill/>
        </p:spPr>
        <p:txBody>
          <a:bodyPr wrap="square">
            <a:spAutoFit/>
          </a:bodyPr>
          <a:lstStyle/>
          <a:p>
            <a:r>
              <a:rPr sz="1800">
                <a:solidFill>
                  <a:srgbClr val="141C24"/>
                </a:solidFill>
              </a:rPr>
              <a:t>Query labels never touched — evaluation only</a:t>
            </a:r>
          </a:p>
        </p:txBody>
      </p:sp>
      <p:sp>
        <p:nvSpPr>
          <p:cNvPr id="24" name="Rounded Rectangle 23"/>
          <p:cNvSpPr/>
          <p:nvPr/>
        </p:nvSpPr>
        <p:spPr>
          <a:xfrm>
            <a:off x="640080" y="5257800"/>
            <a:ext cx="5303520" cy="1508760"/>
          </a:xfrm>
          <a:prstGeom prst="roundRect">
            <a:avLst>
              <a:gd name="adj" fmla="val 6000"/>
            </a:avLst>
          </a:prstGeom>
          <a:solidFill>
            <a:srgbClr val="EEF3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777240" y="5404104"/>
            <a:ext cx="5029200" cy="777240"/>
          </a:xfrm>
          <a:prstGeom prst="rect">
            <a:avLst/>
          </a:prstGeom>
          <a:noFill/>
        </p:spPr>
        <p:txBody>
          <a:bodyPr wrap="square">
            <a:spAutoFit/>
          </a:bodyPr>
          <a:lstStyle/>
          <a:p>
            <a:pPr algn="ctr"/>
            <a:r>
              <a:rPr sz="3400" b="1">
                <a:solidFill>
                  <a:srgbClr val="2A78D6"/>
                </a:solidFill>
              </a:rPr>
              <a:t>3 KB</a:t>
            </a:r>
          </a:p>
        </p:txBody>
      </p:sp>
      <p:sp>
        <p:nvSpPr>
          <p:cNvPr id="26" name="TextBox 25"/>
          <p:cNvSpPr txBox="1"/>
          <p:nvPr/>
        </p:nvSpPr>
        <p:spPr>
          <a:xfrm>
            <a:off x="777240" y="6227064"/>
            <a:ext cx="5029200" cy="457200"/>
          </a:xfrm>
          <a:prstGeom prst="rect">
            <a:avLst/>
          </a:prstGeom>
          <a:noFill/>
        </p:spPr>
        <p:txBody>
          <a:bodyPr wrap="square">
            <a:spAutoFit/>
          </a:bodyPr>
          <a:lstStyle/>
          <a:p>
            <a:pPr algn="ctr"/>
            <a:r>
              <a:rPr sz="1200">
                <a:solidFill>
                  <a:srgbClr val="636E7A"/>
                </a:solidFill>
              </a:rPr>
              <a:t>what we ship</a:t>
            </a:r>
          </a:p>
        </p:txBody>
      </p:sp>
      <p:sp>
        <p:nvSpPr>
          <p:cNvPr id="27" name="Rounded Rectangle 26"/>
          <p:cNvSpPr/>
          <p:nvPr/>
        </p:nvSpPr>
        <p:spPr>
          <a:xfrm>
            <a:off x="6217920" y="5257800"/>
            <a:ext cx="5303520" cy="1508760"/>
          </a:xfrm>
          <a:prstGeom prst="roundRect">
            <a:avLst>
              <a:gd name="adj" fmla="val 6000"/>
            </a:avLst>
          </a:prstGeom>
          <a:solidFill>
            <a:srgbClr val="FDF1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355080" y="5404104"/>
            <a:ext cx="5029200" cy="777240"/>
          </a:xfrm>
          <a:prstGeom prst="rect">
            <a:avLst/>
          </a:prstGeom>
          <a:noFill/>
        </p:spPr>
        <p:txBody>
          <a:bodyPr wrap="square">
            <a:spAutoFit/>
          </a:bodyPr>
          <a:lstStyle/>
          <a:p>
            <a:pPr algn="ctr"/>
            <a:r>
              <a:rPr sz="3400" b="1">
                <a:solidFill>
                  <a:srgbClr val="EB6834"/>
                </a:solidFill>
              </a:rPr>
              <a:t>244 MB</a:t>
            </a:r>
          </a:p>
        </p:txBody>
      </p:sp>
      <p:sp>
        <p:nvSpPr>
          <p:cNvPr id="29" name="TextBox 28"/>
          <p:cNvSpPr txBox="1"/>
          <p:nvPr/>
        </p:nvSpPr>
        <p:spPr>
          <a:xfrm>
            <a:off x="6355080" y="6227064"/>
            <a:ext cx="5029200" cy="457200"/>
          </a:xfrm>
          <a:prstGeom prst="rect">
            <a:avLst/>
          </a:prstGeom>
          <a:noFill/>
        </p:spPr>
        <p:txBody>
          <a:bodyPr wrap="square">
            <a:spAutoFit/>
          </a:bodyPr>
          <a:lstStyle/>
          <a:p>
            <a:pPr algn="ctr"/>
            <a:r>
              <a:rPr sz="1200">
                <a:solidFill>
                  <a:srgbClr val="636E7A"/>
                </a:solidFill>
              </a:rPr>
              <a:t>the forest behind it</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18872"/>
          </a:xfrm>
          <a:prstGeom prst="rect">
            <a:avLst/>
          </a:prstGeom>
          <a:solidFill>
            <a:srgbClr val="119D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310896"/>
            <a:ext cx="10515600" cy="320040"/>
          </a:xfrm>
          <a:prstGeom prst="rect">
            <a:avLst/>
          </a:prstGeom>
          <a:noFill/>
        </p:spPr>
        <p:txBody>
          <a:bodyPr wrap="square">
            <a:spAutoFit/>
          </a:bodyPr>
          <a:lstStyle/>
          <a:p>
            <a:r>
              <a:rPr sz="1100" b="1">
                <a:solidFill>
                  <a:srgbClr val="119D8F"/>
                </a:solidFill>
                <a:latin typeface="Consolas"/>
              </a:rPr>
              <a:t>RESULTS</a:t>
            </a:r>
          </a:p>
        </p:txBody>
      </p:sp>
      <p:sp>
        <p:nvSpPr>
          <p:cNvPr id="4" name="TextBox 3"/>
          <p:cNvSpPr txBox="1"/>
          <p:nvPr/>
        </p:nvSpPr>
        <p:spPr>
          <a:xfrm>
            <a:off x="548640" y="603504"/>
            <a:ext cx="11155680" cy="914400"/>
          </a:xfrm>
          <a:prstGeom prst="rect">
            <a:avLst/>
          </a:prstGeom>
          <a:noFill/>
        </p:spPr>
        <p:txBody>
          <a:bodyPr wrap="square">
            <a:spAutoFit/>
          </a:bodyPr>
          <a:lstStyle/>
          <a:p>
            <a:r>
              <a:rPr sz="3300" b="1">
                <a:solidFill>
                  <a:srgbClr val="141C24"/>
                </a:solidFill>
              </a:rPr>
              <a:t>Better at every budget</a:t>
            </a:r>
          </a:p>
        </p:txBody>
      </p:sp>
      <p:sp>
        <p:nvSpPr>
          <p:cNvPr id="5" name="TextBox 4"/>
          <p:cNvSpPr txBox="1"/>
          <p:nvPr/>
        </p:nvSpPr>
        <p:spPr>
          <a:xfrm>
            <a:off x="10241280" y="6327648"/>
            <a:ext cx="1554480" cy="320040"/>
          </a:xfrm>
          <a:prstGeom prst="rect">
            <a:avLst/>
          </a:prstGeom>
          <a:noFill/>
        </p:spPr>
        <p:txBody>
          <a:bodyPr wrap="square">
            <a:spAutoFit/>
          </a:bodyPr>
          <a:lstStyle/>
          <a:p>
            <a:pPr algn="r"/>
            <a:r>
              <a:rPr sz="1000">
                <a:solidFill>
                  <a:srgbClr val="636E7A"/>
                </a:solidFill>
              </a:rPr>
              <a:t>M3</a:t>
            </a:r>
          </a:p>
        </p:txBody>
      </p:sp>
      <p:sp>
        <p:nvSpPr>
          <p:cNvPr id="6" name="Rounded Rectangle 5"/>
          <p:cNvSpPr/>
          <p:nvPr/>
        </p:nvSpPr>
        <p:spPr>
          <a:xfrm>
            <a:off x="667512" y="1783080"/>
            <a:ext cx="9180576" cy="384048"/>
          </a:xfrm>
          <a:prstGeom prst="roundRect">
            <a:avLst>
              <a:gd name="adj" fmla="val 6000"/>
            </a:avLst>
          </a:prstGeom>
          <a:solidFill>
            <a:srgbClr val="0E1C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92224"/>
            <a:ext cx="2377440" cy="384048"/>
          </a:xfrm>
          <a:prstGeom prst="rect">
            <a:avLst/>
          </a:prstGeom>
          <a:noFill/>
        </p:spPr>
        <p:txBody>
          <a:bodyPr wrap="square">
            <a:spAutoFit/>
          </a:bodyPr>
          <a:lstStyle/>
          <a:p>
            <a:pPr algn="l"/>
            <a:r>
              <a:rPr sz="1600" b="1">
                <a:solidFill>
                  <a:srgbClr val="FFFFFF"/>
                </a:solidFill>
              </a:rPr>
              <a:t>shots/class</a:t>
            </a:r>
          </a:p>
        </p:txBody>
      </p:sp>
      <p:sp>
        <p:nvSpPr>
          <p:cNvPr id="8" name="TextBox 7"/>
          <p:cNvSpPr txBox="1"/>
          <p:nvPr/>
        </p:nvSpPr>
        <p:spPr>
          <a:xfrm>
            <a:off x="3154680" y="1792224"/>
            <a:ext cx="1737360" cy="384048"/>
          </a:xfrm>
          <a:prstGeom prst="rect">
            <a:avLst/>
          </a:prstGeom>
          <a:noFill/>
        </p:spPr>
        <p:txBody>
          <a:bodyPr wrap="square">
            <a:spAutoFit/>
          </a:bodyPr>
          <a:lstStyle/>
          <a:p>
            <a:pPr algn="ctr"/>
            <a:r>
              <a:rPr sz="1600" b="1">
                <a:solidFill>
                  <a:srgbClr val="FFFFFF"/>
                </a:solidFill>
              </a:rPr>
              <a:t>starter</a:t>
            </a:r>
          </a:p>
        </p:txBody>
      </p:sp>
      <p:sp>
        <p:nvSpPr>
          <p:cNvPr id="9" name="TextBox 8"/>
          <p:cNvSpPr txBox="1"/>
          <p:nvPr/>
        </p:nvSpPr>
        <p:spPr>
          <a:xfrm>
            <a:off x="4892040" y="1792224"/>
            <a:ext cx="1737360" cy="384048"/>
          </a:xfrm>
          <a:prstGeom prst="rect">
            <a:avLst/>
          </a:prstGeom>
          <a:noFill/>
        </p:spPr>
        <p:txBody>
          <a:bodyPr wrap="square">
            <a:spAutoFit/>
          </a:bodyPr>
          <a:lstStyle/>
          <a:p>
            <a:pPr algn="ctr"/>
            <a:r>
              <a:rPr sz="1600" b="1">
                <a:solidFill>
                  <a:srgbClr val="FFFFFF"/>
                </a:solidFill>
              </a:rPr>
              <a:t>ours</a:t>
            </a:r>
          </a:p>
        </p:txBody>
      </p:sp>
      <p:sp>
        <p:nvSpPr>
          <p:cNvPr id="10" name="TextBox 9"/>
          <p:cNvSpPr txBox="1"/>
          <p:nvPr/>
        </p:nvSpPr>
        <p:spPr>
          <a:xfrm>
            <a:off x="6629400" y="1792224"/>
            <a:ext cx="1737360" cy="384048"/>
          </a:xfrm>
          <a:prstGeom prst="rect">
            <a:avLst/>
          </a:prstGeom>
          <a:noFill/>
        </p:spPr>
        <p:txBody>
          <a:bodyPr wrap="square">
            <a:spAutoFit/>
          </a:bodyPr>
          <a:lstStyle/>
          <a:p>
            <a:pPr algn="ctr"/>
            <a:r>
              <a:rPr sz="1600" b="1">
                <a:solidFill>
                  <a:srgbClr val="FFFFFF"/>
                </a:solidFill>
              </a:rPr>
              <a:t>gain</a:t>
            </a:r>
          </a:p>
        </p:txBody>
      </p:sp>
      <p:sp>
        <p:nvSpPr>
          <p:cNvPr id="11" name="TextBox 10"/>
          <p:cNvSpPr txBox="1"/>
          <p:nvPr/>
        </p:nvSpPr>
        <p:spPr>
          <a:xfrm>
            <a:off x="8366760" y="1792224"/>
            <a:ext cx="1371600" cy="384048"/>
          </a:xfrm>
          <a:prstGeom prst="rect">
            <a:avLst/>
          </a:prstGeom>
          <a:noFill/>
        </p:spPr>
        <p:txBody>
          <a:bodyPr wrap="square">
            <a:spAutoFit/>
          </a:bodyPr>
          <a:lstStyle/>
          <a:p>
            <a:pPr algn="ctr"/>
            <a:r>
              <a:rPr sz="1600" b="1">
                <a:solidFill>
                  <a:srgbClr val="FFFFFF"/>
                </a:solidFill>
              </a:rPr>
              <a:t>won</a:t>
            </a:r>
          </a:p>
        </p:txBody>
      </p:sp>
      <p:sp>
        <p:nvSpPr>
          <p:cNvPr id="12" name="TextBox 11"/>
          <p:cNvSpPr txBox="1"/>
          <p:nvPr/>
        </p:nvSpPr>
        <p:spPr>
          <a:xfrm>
            <a:off x="777240" y="2176272"/>
            <a:ext cx="2377440" cy="384048"/>
          </a:xfrm>
          <a:prstGeom prst="rect">
            <a:avLst/>
          </a:prstGeom>
          <a:noFill/>
        </p:spPr>
        <p:txBody>
          <a:bodyPr wrap="square">
            <a:spAutoFit/>
          </a:bodyPr>
          <a:lstStyle/>
          <a:p>
            <a:pPr algn="l"/>
            <a:r>
              <a:rPr sz="1600" b="0">
                <a:solidFill>
                  <a:srgbClr val="141C24"/>
                </a:solidFill>
              </a:rPr>
              <a:t>5</a:t>
            </a:r>
          </a:p>
        </p:txBody>
      </p:sp>
      <p:sp>
        <p:nvSpPr>
          <p:cNvPr id="13" name="TextBox 12"/>
          <p:cNvSpPr txBox="1"/>
          <p:nvPr/>
        </p:nvSpPr>
        <p:spPr>
          <a:xfrm>
            <a:off x="3154680" y="2176272"/>
            <a:ext cx="1737360" cy="384048"/>
          </a:xfrm>
          <a:prstGeom prst="rect">
            <a:avLst/>
          </a:prstGeom>
          <a:noFill/>
        </p:spPr>
        <p:txBody>
          <a:bodyPr wrap="square">
            <a:spAutoFit/>
          </a:bodyPr>
          <a:lstStyle/>
          <a:p>
            <a:pPr algn="ctr"/>
            <a:r>
              <a:rPr sz="1600" b="0">
                <a:solidFill>
                  <a:srgbClr val="141C24"/>
                </a:solidFill>
              </a:rPr>
              <a:t>0.5038</a:t>
            </a:r>
          </a:p>
        </p:txBody>
      </p:sp>
      <p:sp>
        <p:nvSpPr>
          <p:cNvPr id="14" name="TextBox 13"/>
          <p:cNvSpPr txBox="1"/>
          <p:nvPr/>
        </p:nvSpPr>
        <p:spPr>
          <a:xfrm>
            <a:off x="4892040" y="2176272"/>
            <a:ext cx="1737360" cy="384048"/>
          </a:xfrm>
          <a:prstGeom prst="rect">
            <a:avLst/>
          </a:prstGeom>
          <a:noFill/>
        </p:spPr>
        <p:txBody>
          <a:bodyPr wrap="square">
            <a:spAutoFit/>
          </a:bodyPr>
          <a:lstStyle/>
          <a:p>
            <a:pPr algn="ctr"/>
            <a:r>
              <a:rPr sz="1600" b="0">
                <a:solidFill>
                  <a:srgbClr val="141C24"/>
                </a:solidFill>
              </a:rPr>
              <a:t>0.5524</a:t>
            </a:r>
          </a:p>
        </p:txBody>
      </p:sp>
      <p:sp>
        <p:nvSpPr>
          <p:cNvPr id="15" name="TextBox 14"/>
          <p:cNvSpPr txBox="1"/>
          <p:nvPr/>
        </p:nvSpPr>
        <p:spPr>
          <a:xfrm>
            <a:off x="6629400" y="2176272"/>
            <a:ext cx="1737360" cy="384048"/>
          </a:xfrm>
          <a:prstGeom prst="rect">
            <a:avLst/>
          </a:prstGeom>
          <a:noFill/>
        </p:spPr>
        <p:txBody>
          <a:bodyPr wrap="square">
            <a:spAutoFit/>
          </a:bodyPr>
          <a:lstStyle/>
          <a:p>
            <a:pPr algn="ctr"/>
            <a:r>
              <a:rPr sz="1600" b="1">
                <a:solidFill>
                  <a:srgbClr val="2A78D6"/>
                </a:solidFill>
              </a:rPr>
              <a:t>+0.0487</a:t>
            </a:r>
          </a:p>
        </p:txBody>
      </p:sp>
      <p:sp>
        <p:nvSpPr>
          <p:cNvPr id="16" name="TextBox 15"/>
          <p:cNvSpPr txBox="1"/>
          <p:nvPr/>
        </p:nvSpPr>
        <p:spPr>
          <a:xfrm>
            <a:off x="8366760" y="2176272"/>
            <a:ext cx="1371600" cy="384048"/>
          </a:xfrm>
          <a:prstGeom prst="rect">
            <a:avLst/>
          </a:prstGeom>
          <a:noFill/>
        </p:spPr>
        <p:txBody>
          <a:bodyPr wrap="square">
            <a:spAutoFit/>
          </a:bodyPr>
          <a:lstStyle/>
          <a:p>
            <a:pPr algn="ctr"/>
            <a:r>
              <a:rPr sz="1600" b="0">
                <a:solidFill>
                  <a:srgbClr val="141C24"/>
                </a:solidFill>
              </a:rPr>
              <a:t>8/10</a:t>
            </a:r>
          </a:p>
        </p:txBody>
      </p:sp>
      <p:sp>
        <p:nvSpPr>
          <p:cNvPr id="17" name="TextBox 16"/>
          <p:cNvSpPr txBox="1"/>
          <p:nvPr/>
        </p:nvSpPr>
        <p:spPr>
          <a:xfrm>
            <a:off x="777240" y="2560320"/>
            <a:ext cx="2377440" cy="384048"/>
          </a:xfrm>
          <a:prstGeom prst="rect">
            <a:avLst/>
          </a:prstGeom>
          <a:noFill/>
        </p:spPr>
        <p:txBody>
          <a:bodyPr wrap="square">
            <a:spAutoFit/>
          </a:bodyPr>
          <a:lstStyle/>
          <a:p>
            <a:pPr algn="l"/>
            <a:r>
              <a:rPr sz="1600" b="0">
                <a:solidFill>
                  <a:srgbClr val="141C24"/>
                </a:solidFill>
              </a:rPr>
              <a:t>25</a:t>
            </a:r>
          </a:p>
        </p:txBody>
      </p:sp>
      <p:sp>
        <p:nvSpPr>
          <p:cNvPr id="18" name="TextBox 17"/>
          <p:cNvSpPr txBox="1"/>
          <p:nvPr/>
        </p:nvSpPr>
        <p:spPr>
          <a:xfrm>
            <a:off x="3154680" y="2560320"/>
            <a:ext cx="1737360" cy="384048"/>
          </a:xfrm>
          <a:prstGeom prst="rect">
            <a:avLst/>
          </a:prstGeom>
          <a:noFill/>
        </p:spPr>
        <p:txBody>
          <a:bodyPr wrap="square">
            <a:spAutoFit/>
          </a:bodyPr>
          <a:lstStyle/>
          <a:p>
            <a:pPr algn="ctr"/>
            <a:r>
              <a:rPr sz="1600" b="0">
                <a:solidFill>
                  <a:srgbClr val="141C24"/>
                </a:solidFill>
              </a:rPr>
              <a:t>0.6037</a:t>
            </a:r>
          </a:p>
        </p:txBody>
      </p:sp>
      <p:sp>
        <p:nvSpPr>
          <p:cNvPr id="19" name="TextBox 18"/>
          <p:cNvSpPr txBox="1"/>
          <p:nvPr/>
        </p:nvSpPr>
        <p:spPr>
          <a:xfrm>
            <a:off x="4892040" y="2560320"/>
            <a:ext cx="1737360" cy="384048"/>
          </a:xfrm>
          <a:prstGeom prst="rect">
            <a:avLst/>
          </a:prstGeom>
          <a:noFill/>
        </p:spPr>
        <p:txBody>
          <a:bodyPr wrap="square">
            <a:spAutoFit/>
          </a:bodyPr>
          <a:lstStyle/>
          <a:p>
            <a:pPr algn="ctr"/>
            <a:r>
              <a:rPr sz="1600" b="0">
                <a:solidFill>
                  <a:srgbClr val="141C24"/>
                </a:solidFill>
              </a:rPr>
              <a:t>0.6122</a:t>
            </a:r>
          </a:p>
        </p:txBody>
      </p:sp>
      <p:sp>
        <p:nvSpPr>
          <p:cNvPr id="20" name="TextBox 19"/>
          <p:cNvSpPr txBox="1"/>
          <p:nvPr/>
        </p:nvSpPr>
        <p:spPr>
          <a:xfrm>
            <a:off x="6629400" y="2560320"/>
            <a:ext cx="1737360" cy="384048"/>
          </a:xfrm>
          <a:prstGeom prst="rect">
            <a:avLst/>
          </a:prstGeom>
          <a:noFill/>
        </p:spPr>
        <p:txBody>
          <a:bodyPr wrap="square">
            <a:spAutoFit/>
          </a:bodyPr>
          <a:lstStyle/>
          <a:p>
            <a:pPr algn="ctr"/>
            <a:r>
              <a:rPr sz="1600" b="1">
                <a:solidFill>
                  <a:srgbClr val="2A78D6"/>
                </a:solidFill>
              </a:rPr>
              <a:t>+0.0085</a:t>
            </a:r>
          </a:p>
        </p:txBody>
      </p:sp>
      <p:sp>
        <p:nvSpPr>
          <p:cNvPr id="21" name="TextBox 20"/>
          <p:cNvSpPr txBox="1"/>
          <p:nvPr/>
        </p:nvSpPr>
        <p:spPr>
          <a:xfrm>
            <a:off x="8366760" y="2560320"/>
            <a:ext cx="1371600" cy="384048"/>
          </a:xfrm>
          <a:prstGeom prst="rect">
            <a:avLst/>
          </a:prstGeom>
          <a:noFill/>
        </p:spPr>
        <p:txBody>
          <a:bodyPr wrap="square">
            <a:spAutoFit/>
          </a:bodyPr>
          <a:lstStyle/>
          <a:p>
            <a:pPr algn="ctr"/>
            <a:r>
              <a:rPr sz="1600" b="0">
                <a:solidFill>
                  <a:srgbClr val="141C24"/>
                </a:solidFill>
              </a:rPr>
              <a:t>9/10</a:t>
            </a:r>
          </a:p>
        </p:txBody>
      </p:sp>
      <p:sp>
        <p:nvSpPr>
          <p:cNvPr id="22" name="TextBox 21"/>
          <p:cNvSpPr txBox="1"/>
          <p:nvPr/>
        </p:nvSpPr>
        <p:spPr>
          <a:xfrm>
            <a:off x="777240" y="2944368"/>
            <a:ext cx="2377440" cy="384048"/>
          </a:xfrm>
          <a:prstGeom prst="rect">
            <a:avLst/>
          </a:prstGeom>
          <a:noFill/>
        </p:spPr>
        <p:txBody>
          <a:bodyPr wrap="square">
            <a:spAutoFit/>
          </a:bodyPr>
          <a:lstStyle/>
          <a:p>
            <a:pPr algn="l"/>
            <a:r>
              <a:rPr sz="1600" b="0">
                <a:solidFill>
                  <a:srgbClr val="141C24"/>
                </a:solidFill>
              </a:rPr>
              <a:t>50</a:t>
            </a:r>
          </a:p>
        </p:txBody>
      </p:sp>
      <p:sp>
        <p:nvSpPr>
          <p:cNvPr id="23" name="TextBox 22"/>
          <p:cNvSpPr txBox="1"/>
          <p:nvPr/>
        </p:nvSpPr>
        <p:spPr>
          <a:xfrm>
            <a:off x="3154680" y="2944368"/>
            <a:ext cx="1737360" cy="384048"/>
          </a:xfrm>
          <a:prstGeom prst="rect">
            <a:avLst/>
          </a:prstGeom>
          <a:noFill/>
        </p:spPr>
        <p:txBody>
          <a:bodyPr wrap="square">
            <a:spAutoFit/>
          </a:bodyPr>
          <a:lstStyle/>
          <a:p>
            <a:pPr algn="ctr"/>
            <a:r>
              <a:rPr sz="1600" b="0">
                <a:solidFill>
                  <a:srgbClr val="141C24"/>
                </a:solidFill>
              </a:rPr>
              <a:t>0.6090</a:t>
            </a:r>
          </a:p>
        </p:txBody>
      </p:sp>
      <p:sp>
        <p:nvSpPr>
          <p:cNvPr id="24" name="TextBox 23"/>
          <p:cNvSpPr txBox="1"/>
          <p:nvPr/>
        </p:nvSpPr>
        <p:spPr>
          <a:xfrm>
            <a:off x="4892040" y="2944368"/>
            <a:ext cx="1737360" cy="384048"/>
          </a:xfrm>
          <a:prstGeom prst="rect">
            <a:avLst/>
          </a:prstGeom>
          <a:noFill/>
        </p:spPr>
        <p:txBody>
          <a:bodyPr wrap="square">
            <a:spAutoFit/>
          </a:bodyPr>
          <a:lstStyle/>
          <a:p>
            <a:pPr algn="ctr"/>
            <a:r>
              <a:rPr sz="1600" b="0">
                <a:solidFill>
                  <a:srgbClr val="141C24"/>
                </a:solidFill>
              </a:rPr>
              <a:t>0.6173</a:t>
            </a:r>
          </a:p>
        </p:txBody>
      </p:sp>
      <p:sp>
        <p:nvSpPr>
          <p:cNvPr id="25" name="TextBox 24"/>
          <p:cNvSpPr txBox="1"/>
          <p:nvPr/>
        </p:nvSpPr>
        <p:spPr>
          <a:xfrm>
            <a:off x="6629400" y="2944368"/>
            <a:ext cx="1737360" cy="384048"/>
          </a:xfrm>
          <a:prstGeom prst="rect">
            <a:avLst/>
          </a:prstGeom>
          <a:noFill/>
        </p:spPr>
        <p:txBody>
          <a:bodyPr wrap="square">
            <a:spAutoFit/>
          </a:bodyPr>
          <a:lstStyle/>
          <a:p>
            <a:pPr algn="ctr"/>
            <a:r>
              <a:rPr sz="1600" b="1">
                <a:solidFill>
                  <a:srgbClr val="2A78D6"/>
                </a:solidFill>
              </a:rPr>
              <a:t>+0.0083</a:t>
            </a:r>
          </a:p>
        </p:txBody>
      </p:sp>
      <p:sp>
        <p:nvSpPr>
          <p:cNvPr id="26" name="TextBox 25"/>
          <p:cNvSpPr txBox="1"/>
          <p:nvPr/>
        </p:nvSpPr>
        <p:spPr>
          <a:xfrm>
            <a:off x="8366760" y="2944368"/>
            <a:ext cx="1371600" cy="384048"/>
          </a:xfrm>
          <a:prstGeom prst="rect">
            <a:avLst/>
          </a:prstGeom>
          <a:noFill/>
        </p:spPr>
        <p:txBody>
          <a:bodyPr wrap="square">
            <a:spAutoFit/>
          </a:bodyPr>
          <a:lstStyle/>
          <a:p>
            <a:pPr algn="ctr"/>
            <a:r>
              <a:rPr sz="1600" b="0">
                <a:solidFill>
                  <a:srgbClr val="141C24"/>
                </a:solidFill>
              </a:rPr>
              <a:t>10/10</a:t>
            </a:r>
          </a:p>
        </p:txBody>
      </p:sp>
      <p:sp>
        <p:nvSpPr>
          <p:cNvPr id="27" name="TextBox 26"/>
          <p:cNvSpPr txBox="1"/>
          <p:nvPr/>
        </p:nvSpPr>
        <p:spPr>
          <a:xfrm>
            <a:off x="777240" y="3328415"/>
            <a:ext cx="2377440" cy="384048"/>
          </a:xfrm>
          <a:prstGeom prst="rect">
            <a:avLst/>
          </a:prstGeom>
          <a:noFill/>
        </p:spPr>
        <p:txBody>
          <a:bodyPr wrap="square">
            <a:spAutoFit/>
          </a:bodyPr>
          <a:lstStyle/>
          <a:p>
            <a:pPr algn="l"/>
            <a:r>
              <a:rPr sz="1600" b="0">
                <a:solidFill>
                  <a:srgbClr val="141C24"/>
                </a:solidFill>
              </a:rPr>
              <a:t>100</a:t>
            </a:r>
          </a:p>
        </p:txBody>
      </p:sp>
      <p:sp>
        <p:nvSpPr>
          <p:cNvPr id="28" name="TextBox 27"/>
          <p:cNvSpPr txBox="1"/>
          <p:nvPr/>
        </p:nvSpPr>
        <p:spPr>
          <a:xfrm>
            <a:off x="3154680" y="3328415"/>
            <a:ext cx="1737360" cy="384048"/>
          </a:xfrm>
          <a:prstGeom prst="rect">
            <a:avLst/>
          </a:prstGeom>
          <a:noFill/>
        </p:spPr>
        <p:txBody>
          <a:bodyPr wrap="square">
            <a:spAutoFit/>
          </a:bodyPr>
          <a:lstStyle/>
          <a:p>
            <a:pPr algn="ctr"/>
            <a:r>
              <a:rPr sz="1600" b="0">
                <a:solidFill>
                  <a:srgbClr val="141C24"/>
                </a:solidFill>
              </a:rPr>
              <a:t>0.6087</a:t>
            </a:r>
          </a:p>
        </p:txBody>
      </p:sp>
      <p:sp>
        <p:nvSpPr>
          <p:cNvPr id="29" name="TextBox 28"/>
          <p:cNvSpPr txBox="1"/>
          <p:nvPr/>
        </p:nvSpPr>
        <p:spPr>
          <a:xfrm>
            <a:off x="4892040" y="3328415"/>
            <a:ext cx="1737360" cy="384048"/>
          </a:xfrm>
          <a:prstGeom prst="rect">
            <a:avLst/>
          </a:prstGeom>
          <a:noFill/>
        </p:spPr>
        <p:txBody>
          <a:bodyPr wrap="square">
            <a:spAutoFit/>
          </a:bodyPr>
          <a:lstStyle/>
          <a:p>
            <a:pPr algn="ctr"/>
            <a:r>
              <a:rPr sz="1600" b="0">
                <a:solidFill>
                  <a:srgbClr val="141C24"/>
                </a:solidFill>
              </a:rPr>
              <a:t>0.6195</a:t>
            </a:r>
          </a:p>
        </p:txBody>
      </p:sp>
      <p:sp>
        <p:nvSpPr>
          <p:cNvPr id="30" name="TextBox 29"/>
          <p:cNvSpPr txBox="1"/>
          <p:nvPr/>
        </p:nvSpPr>
        <p:spPr>
          <a:xfrm>
            <a:off x="6629400" y="3328415"/>
            <a:ext cx="1737360" cy="384048"/>
          </a:xfrm>
          <a:prstGeom prst="rect">
            <a:avLst/>
          </a:prstGeom>
          <a:noFill/>
        </p:spPr>
        <p:txBody>
          <a:bodyPr wrap="square">
            <a:spAutoFit/>
          </a:bodyPr>
          <a:lstStyle/>
          <a:p>
            <a:pPr algn="ctr"/>
            <a:r>
              <a:rPr sz="1600" b="1">
                <a:solidFill>
                  <a:srgbClr val="2A78D6"/>
                </a:solidFill>
              </a:rPr>
              <a:t>+0.0108</a:t>
            </a:r>
          </a:p>
        </p:txBody>
      </p:sp>
      <p:sp>
        <p:nvSpPr>
          <p:cNvPr id="31" name="TextBox 30"/>
          <p:cNvSpPr txBox="1"/>
          <p:nvPr/>
        </p:nvSpPr>
        <p:spPr>
          <a:xfrm>
            <a:off x="8366760" y="3328415"/>
            <a:ext cx="1371600" cy="384048"/>
          </a:xfrm>
          <a:prstGeom prst="rect">
            <a:avLst/>
          </a:prstGeom>
          <a:noFill/>
        </p:spPr>
        <p:txBody>
          <a:bodyPr wrap="square">
            <a:spAutoFit/>
          </a:bodyPr>
          <a:lstStyle/>
          <a:p>
            <a:pPr algn="ctr"/>
            <a:r>
              <a:rPr sz="1600" b="0">
                <a:solidFill>
                  <a:srgbClr val="141C24"/>
                </a:solidFill>
              </a:rPr>
              <a:t>10/10</a:t>
            </a:r>
          </a:p>
        </p:txBody>
      </p:sp>
      <p:sp>
        <p:nvSpPr>
          <p:cNvPr id="32" name="TextBox 31"/>
          <p:cNvSpPr txBox="1"/>
          <p:nvPr/>
        </p:nvSpPr>
        <p:spPr>
          <a:xfrm>
            <a:off x="777240" y="3712463"/>
            <a:ext cx="2377440" cy="384048"/>
          </a:xfrm>
          <a:prstGeom prst="rect">
            <a:avLst/>
          </a:prstGeom>
          <a:noFill/>
        </p:spPr>
        <p:txBody>
          <a:bodyPr wrap="square">
            <a:spAutoFit/>
          </a:bodyPr>
          <a:lstStyle/>
          <a:p>
            <a:pPr algn="l"/>
            <a:r>
              <a:rPr sz="1600" b="0">
                <a:solidFill>
                  <a:srgbClr val="141C24"/>
                </a:solidFill>
              </a:rPr>
              <a:t>200</a:t>
            </a:r>
          </a:p>
        </p:txBody>
      </p:sp>
      <p:sp>
        <p:nvSpPr>
          <p:cNvPr id="33" name="TextBox 32"/>
          <p:cNvSpPr txBox="1"/>
          <p:nvPr/>
        </p:nvSpPr>
        <p:spPr>
          <a:xfrm>
            <a:off x="3154680" y="3712463"/>
            <a:ext cx="1737360" cy="384048"/>
          </a:xfrm>
          <a:prstGeom prst="rect">
            <a:avLst/>
          </a:prstGeom>
          <a:noFill/>
        </p:spPr>
        <p:txBody>
          <a:bodyPr wrap="square">
            <a:spAutoFit/>
          </a:bodyPr>
          <a:lstStyle/>
          <a:p>
            <a:pPr algn="ctr"/>
            <a:r>
              <a:rPr sz="1600" b="0">
                <a:solidFill>
                  <a:srgbClr val="141C24"/>
                </a:solidFill>
              </a:rPr>
              <a:t>0.6135</a:t>
            </a:r>
          </a:p>
        </p:txBody>
      </p:sp>
      <p:sp>
        <p:nvSpPr>
          <p:cNvPr id="34" name="TextBox 33"/>
          <p:cNvSpPr txBox="1"/>
          <p:nvPr/>
        </p:nvSpPr>
        <p:spPr>
          <a:xfrm>
            <a:off x="4892040" y="3712463"/>
            <a:ext cx="1737360" cy="384048"/>
          </a:xfrm>
          <a:prstGeom prst="rect">
            <a:avLst/>
          </a:prstGeom>
          <a:noFill/>
        </p:spPr>
        <p:txBody>
          <a:bodyPr wrap="square">
            <a:spAutoFit/>
          </a:bodyPr>
          <a:lstStyle/>
          <a:p>
            <a:pPr algn="ctr"/>
            <a:r>
              <a:rPr sz="1600" b="0">
                <a:solidFill>
                  <a:srgbClr val="141C24"/>
                </a:solidFill>
              </a:rPr>
              <a:t>0.6240</a:t>
            </a:r>
          </a:p>
        </p:txBody>
      </p:sp>
      <p:sp>
        <p:nvSpPr>
          <p:cNvPr id="35" name="TextBox 34"/>
          <p:cNvSpPr txBox="1"/>
          <p:nvPr/>
        </p:nvSpPr>
        <p:spPr>
          <a:xfrm>
            <a:off x="6629400" y="3712463"/>
            <a:ext cx="1737360" cy="384048"/>
          </a:xfrm>
          <a:prstGeom prst="rect">
            <a:avLst/>
          </a:prstGeom>
          <a:noFill/>
        </p:spPr>
        <p:txBody>
          <a:bodyPr wrap="square">
            <a:spAutoFit/>
          </a:bodyPr>
          <a:lstStyle/>
          <a:p>
            <a:pPr algn="ctr"/>
            <a:r>
              <a:rPr sz="1600" b="1">
                <a:solidFill>
                  <a:srgbClr val="2A78D6"/>
                </a:solidFill>
              </a:rPr>
              <a:t>+0.0105</a:t>
            </a:r>
          </a:p>
        </p:txBody>
      </p:sp>
      <p:sp>
        <p:nvSpPr>
          <p:cNvPr id="36" name="TextBox 35"/>
          <p:cNvSpPr txBox="1"/>
          <p:nvPr/>
        </p:nvSpPr>
        <p:spPr>
          <a:xfrm>
            <a:off x="8366760" y="3712463"/>
            <a:ext cx="1371600" cy="384048"/>
          </a:xfrm>
          <a:prstGeom prst="rect">
            <a:avLst/>
          </a:prstGeom>
          <a:noFill/>
        </p:spPr>
        <p:txBody>
          <a:bodyPr wrap="square">
            <a:spAutoFit/>
          </a:bodyPr>
          <a:lstStyle/>
          <a:p>
            <a:pPr algn="ctr"/>
            <a:r>
              <a:rPr sz="1600" b="0">
                <a:solidFill>
                  <a:srgbClr val="141C24"/>
                </a:solidFill>
              </a:rPr>
              <a:t>10/10</a:t>
            </a:r>
          </a:p>
        </p:txBody>
      </p:sp>
      <p:sp>
        <p:nvSpPr>
          <p:cNvPr id="37" name="Rounded Rectangle 36"/>
          <p:cNvSpPr/>
          <p:nvPr/>
        </p:nvSpPr>
        <p:spPr>
          <a:xfrm>
            <a:off x="8503920" y="1874519"/>
            <a:ext cx="3017520" cy="1508760"/>
          </a:xfrm>
          <a:prstGeom prst="roundRect">
            <a:avLst>
              <a:gd name="adj" fmla="val 6000"/>
            </a:avLst>
          </a:prstGeom>
          <a:solidFill>
            <a:srgbClr val="FDF1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8641080" y="2020824"/>
            <a:ext cx="2743200" cy="777240"/>
          </a:xfrm>
          <a:prstGeom prst="rect">
            <a:avLst/>
          </a:prstGeom>
          <a:noFill/>
        </p:spPr>
        <p:txBody>
          <a:bodyPr wrap="square">
            <a:spAutoFit/>
          </a:bodyPr>
          <a:lstStyle/>
          <a:p>
            <a:pPr algn="ctr"/>
            <a:r>
              <a:rPr sz="4000" b="1">
                <a:solidFill>
                  <a:srgbClr val="119D8F"/>
                </a:solidFill>
              </a:rPr>
              <a:t>+9.7%</a:t>
            </a:r>
          </a:p>
        </p:txBody>
      </p:sp>
      <p:sp>
        <p:nvSpPr>
          <p:cNvPr id="39" name="TextBox 38"/>
          <p:cNvSpPr txBox="1"/>
          <p:nvPr/>
        </p:nvSpPr>
        <p:spPr>
          <a:xfrm>
            <a:off x="8641080" y="2843784"/>
            <a:ext cx="2743200" cy="457200"/>
          </a:xfrm>
          <a:prstGeom prst="rect">
            <a:avLst/>
          </a:prstGeom>
          <a:noFill/>
        </p:spPr>
        <p:txBody>
          <a:bodyPr wrap="square">
            <a:spAutoFit/>
          </a:bodyPr>
          <a:lstStyle/>
          <a:p>
            <a:pPr algn="ctr"/>
            <a:r>
              <a:rPr sz="1200">
                <a:solidFill>
                  <a:srgbClr val="636E7A"/>
                </a:solidFill>
              </a:rPr>
              <a:t>at five shots</a:t>
            </a:r>
          </a:p>
        </p:txBody>
      </p:sp>
      <p:sp>
        <p:nvSpPr>
          <p:cNvPr id="40" name="Rounded Rectangle 39"/>
          <p:cNvSpPr/>
          <p:nvPr/>
        </p:nvSpPr>
        <p:spPr>
          <a:xfrm>
            <a:off x="8503920" y="3566160"/>
            <a:ext cx="3017520" cy="1508760"/>
          </a:xfrm>
          <a:prstGeom prst="roundRect">
            <a:avLst>
              <a:gd name="adj" fmla="val 6000"/>
            </a:avLst>
          </a:prstGeom>
          <a:solidFill>
            <a:srgbClr val="EEF3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8641080" y="3712463"/>
            <a:ext cx="2743200" cy="777240"/>
          </a:xfrm>
          <a:prstGeom prst="rect">
            <a:avLst/>
          </a:prstGeom>
          <a:noFill/>
        </p:spPr>
        <p:txBody>
          <a:bodyPr wrap="square">
            <a:spAutoFit/>
          </a:bodyPr>
          <a:lstStyle/>
          <a:p>
            <a:pPr algn="ctr"/>
            <a:r>
              <a:rPr sz="4000" b="1">
                <a:solidFill>
                  <a:srgbClr val="2A78D6"/>
                </a:solidFill>
              </a:rPr>
              <a:t>47/50</a:t>
            </a:r>
          </a:p>
        </p:txBody>
      </p:sp>
      <p:sp>
        <p:nvSpPr>
          <p:cNvPr id="42" name="TextBox 41"/>
          <p:cNvSpPr txBox="1"/>
          <p:nvPr/>
        </p:nvSpPr>
        <p:spPr>
          <a:xfrm>
            <a:off x="8641080" y="4535424"/>
            <a:ext cx="2743200" cy="457200"/>
          </a:xfrm>
          <a:prstGeom prst="rect">
            <a:avLst/>
          </a:prstGeom>
          <a:noFill/>
        </p:spPr>
        <p:txBody>
          <a:bodyPr wrap="square">
            <a:spAutoFit/>
          </a:bodyPr>
          <a:lstStyle/>
          <a:p>
            <a:pPr algn="ctr"/>
            <a:r>
              <a:rPr sz="1200">
                <a:solidFill>
                  <a:srgbClr val="636E7A"/>
                </a:solidFill>
              </a:rPr>
              <a:t>episodes won</a:t>
            </a:r>
          </a:p>
        </p:txBody>
      </p:sp>
      <p:sp>
        <p:nvSpPr>
          <p:cNvPr id="43" name="Rounded Rectangle 42"/>
          <p:cNvSpPr/>
          <p:nvPr/>
        </p:nvSpPr>
        <p:spPr>
          <a:xfrm>
            <a:off x="777240" y="5074920"/>
            <a:ext cx="10607040" cy="1051560"/>
          </a:xfrm>
          <a:prstGeom prst="roundRect">
            <a:avLst>
              <a:gd name="adj" fmla="val 6000"/>
            </a:avLst>
          </a:prstGeom>
          <a:solidFill>
            <a:srgbClr val="EEF3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1051560" y="5212080"/>
            <a:ext cx="10058400" cy="822960"/>
          </a:xfrm>
          <a:prstGeom prst="rect">
            <a:avLst/>
          </a:prstGeom>
          <a:noFill/>
        </p:spPr>
        <p:txBody>
          <a:bodyPr wrap="square">
            <a:spAutoFit/>
          </a:bodyPr>
          <a:lstStyle/>
          <a:p>
            <a:r>
              <a:rPr sz="1700" b="1">
                <a:solidFill>
                  <a:srgbClr val="141C24"/>
                </a:solidFill>
              </a:rPr>
              <a:t>Same pixels. Same episodes. Same environment. The only thing that differs is the method.</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18872"/>
          </a:xfrm>
          <a:prstGeom prst="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310896"/>
            <a:ext cx="10515600" cy="320040"/>
          </a:xfrm>
          <a:prstGeom prst="rect">
            <a:avLst/>
          </a:prstGeom>
          <a:noFill/>
        </p:spPr>
        <p:txBody>
          <a:bodyPr wrap="square">
            <a:spAutoFit/>
          </a:bodyPr>
          <a:lstStyle/>
          <a:p>
            <a:r>
              <a:rPr sz="1100" b="1">
                <a:solidFill>
                  <a:srgbClr val="2A78D6"/>
                </a:solidFill>
                <a:latin typeface="Consolas"/>
              </a:rPr>
              <a:t>LEARNING CURVE</a:t>
            </a:r>
          </a:p>
        </p:txBody>
      </p:sp>
      <p:sp>
        <p:nvSpPr>
          <p:cNvPr id="4" name="TextBox 3"/>
          <p:cNvSpPr txBox="1"/>
          <p:nvPr/>
        </p:nvSpPr>
        <p:spPr>
          <a:xfrm>
            <a:off x="548640" y="603504"/>
            <a:ext cx="11155680" cy="914400"/>
          </a:xfrm>
          <a:prstGeom prst="rect">
            <a:avLst/>
          </a:prstGeom>
          <a:noFill/>
        </p:spPr>
        <p:txBody>
          <a:bodyPr wrap="square">
            <a:spAutoFit/>
          </a:bodyPr>
          <a:lstStyle/>
          <a:p>
            <a:r>
              <a:rPr sz="3300" b="1">
                <a:solidFill>
                  <a:srgbClr val="141C24"/>
                </a:solidFill>
              </a:rPr>
              <a:t>The gain is where the data is scarcest</a:t>
            </a:r>
          </a:p>
        </p:txBody>
      </p:sp>
      <p:sp>
        <p:nvSpPr>
          <p:cNvPr id="5" name="TextBox 4"/>
          <p:cNvSpPr txBox="1"/>
          <p:nvPr/>
        </p:nvSpPr>
        <p:spPr>
          <a:xfrm>
            <a:off x="10241280" y="6327648"/>
            <a:ext cx="1554480" cy="320040"/>
          </a:xfrm>
          <a:prstGeom prst="rect">
            <a:avLst/>
          </a:prstGeom>
          <a:noFill/>
        </p:spPr>
        <p:txBody>
          <a:bodyPr wrap="square">
            <a:spAutoFit/>
          </a:bodyPr>
          <a:lstStyle/>
          <a:p>
            <a:pPr algn="r"/>
            <a:r>
              <a:rPr sz="1000">
                <a:solidFill>
                  <a:srgbClr val="636E7A"/>
                </a:solidFill>
              </a:rPr>
              <a:t>M3</a:t>
            </a:r>
          </a:p>
        </p:txBody>
      </p:sp>
      <p:pic>
        <p:nvPicPr>
          <p:cNvPr id="6" name="Picture 5" descr="fig1_learning_curve.png"/>
          <p:cNvPicPr>
            <a:picLocks noChangeAspect="1"/>
          </p:cNvPicPr>
          <p:nvPr/>
        </p:nvPicPr>
        <p:blipFill>
          <a:blip r:embed="rId2"/>
          <a:stretch>
            <a:fillRect/>
          </a:stretch>
        </p:blipFill>
        <p:spPr>
          <a:xfrm>
            <a:off x="640080" y="1691640"/>
            <a:ext cx="6323464" cy="4480560"/>
          </a:xfrm>
          <a:prstGeom prst="rect">
            <a:avLst/>
          </a:prstGeom>
        </p:spPr>
      </p:pic>
      <p:sp>
        <p:nvSpPr>
          <p:cNvPr id="7" name="Oval 6"/>
          <p:cNvSpPr/>
          <p:nvPr/>
        </p:nvSpPr>
        <p:spPr>
          <a:xfrm>
            <a:off x="6126480" y="2039112"/>
            <a:ext cx="100584" cy="100584"/>
          </a:xfrm>
          <a:prstGeom prst="ellipse">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19088" y="1920240"/>
            <a:ext cx="4846320" cy="411480"/>
          </a:xfrm>
          <a:prstGeom prst="rect">
            <a:avLst/>
          </a:prstGeom>
          <a:noFill/>
        </p:spPr>
        <p:txBody>
          <a:bodyPr wrap="square">
            <a:spAutoFit/>
          </a:bodyPr>
          <a:lstStyle/>
          <a:p>
            <a:r>
              <a:rPr sz="1700">
                <a:solidFill>
                  <a:srgbClr val="141C24"/>
                </a:solidFill>
              </a:rPr>
              <a:t>Five shots is the hard case</a:t>
            </a:r>
          </a:p>
        </p:txBody>
      </p:sp>
      <p:sp>
        <p:nvSpPr>
          <p:cNvPr id="9" name="Oval 8"/>
          <p:cNvSpPr/>
          <p:nvPr/>
        </p:nvSpPr>
        <p:spPr>
          <a:xfrm>
            <a:off x="6126480" y="2496312"/>
            <a:ext cx="100584" cy="100584"/>
          </a:xfrm>
          <a:prstGeom prst="ellipse">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19088" y="2377440"/>
            <a:ext cx="4846320" cy="411480"/>
          </a:xfrm>
          <a:prstGeom prst="rect">
            <a:avLst/>
          </a:prstGeom>
          <a:noFill/>
        </p:spPr>
        <p:txBody>
          <a:bodyPr wrap="square">
            <a:spAutoFit/>
          </a:bodyPr>
          <a:lstStyle/>
          <a:p>
            <a:r>
              <a:rPr sz="1700">
                <a:solidFill>
                  <a:srgbClr val="141C24"/>
                </a:solidFill>
              </a:rPr>
              <a:t>That is where transfer should matter</a:t>
            </a:r>
          </a:p>
        </p:txBody>
      </p:sp>
      <p:sp>
        <p:nvSpPr>
          <p:cNvPr id="11" name="Oval 10"/>
          <p:cNvSpPr/>
          <p:nvPr/>
        </p:nvSpPr>
        <p:spPr>
          <a:xfrm>
            <a:off x="6126480" y="2953512"/>
            <a:ext cx="100584" cy="100584"/>
          </a:xfrm>
          <a:prstGeom prst="ellipse">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19088" y="2834640"/>
            <a:ext cx="4846320" cy="411480"/>
          </a:xfrm>
          <a:prstGeom prst="rect">
            <a:avLst/>
          </a:prstGeom>
          <a:noFill/>
        </p:spPr>
        <p:txBody>
          <a:bodyPr wrap="square">
            <a:spAutoFit/>
          </a:bodyPr>
          <a:lstStyle/>
          <a:p>
            <a:r>
              <a:rPr sz="1700">
                <a:solidFill>
                  <a:srgbClr val="141C24"/>
                </a:solidFill>
              </a:rPr>
              <a:t>And that is where it does</a:t>
            </a:r>
          </a:p>
        </p:txBody>
      </p:sp>
      <p:sp>
        <p:nvSpPr>
          <p:cNvPr id="13" name="Oval 12"/>
          <p:cNvSpPr/>
          <p:nvPr/>
        </p:nvSpPr>
        <p:spPr>
          <a:xfrm>
            <a:off x="6126480" y="3867911"/>
            <a:ext cx="100584" cy="100584"/>
          </a:xfrm>
          <a:prstGeom prst="ellipse">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19088" y="3749039"/>
            <a:ext cx="4846320" cy="411480"/>
          </a:xfrm>
          <a:prstGeom prst="rect">
            <a:avLst/>
          </a:prstGeom>
          <a:noFill/>
        </p:spPr>
        <p:txBody>
          <a:bodyPr wrap="square">
            <a:spAutoFit/>
          </a:bodyPr>
          <a:lstStyle/>
          <a:p>
            <a:r>
              <a:rPr sz="1700">
                <a:solidFill>
                  <a:srgbClr val="141C24"/>
                </a:solidFill>
              </a:rPr>
              <a:t>Beyond 25 shots, Amsterdam has</a:t>
            </a:r>
          </a:p>
        </p:txBody>
      </p:sp>
      <p:sp>
        <p:nvSpPr>
          <p:cNvPr id="15" name="Oval 14"/>
          <p:cNvSpPr/>
          <p:nvPr/>
        </p:nvSpPr>
        <p:spPr>
          <a:xfrm>
            <a:off x="6126480" y="4325112"/>
            <a:ext cx="100584" cy="100584"/>
          </a:xfrm>
          <a:prstGeom prst="ellipse">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19088" y="4206240"/>
            <a:ext cx="4846320" cy="411480"/>
          </a:xfrm>
          <a:prstGeom prst="rect">
            <a:avLst/>
          </a:prstGeom>
          <a:noFill/>
        </p:spPr>
        <p:txBody>
          <a:bodyPr wrap="square">
            <a:spAutoFit/>
          </a:bodyPr>
          <a:lstStyle/>
          <a:p>
            <a:r>
              <a:rPr sz="1700">
                <a:solidFill>
                  <a:srgbClr val="141C24"/>
                </a:solidFill>
              </a:rPr>
              <a:t>enough data of its own</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18872"/>
          </a:xfrm>
          <a:prstGeom prst="rect">
            <a:avLst/>
          </a:prstGeom>
          <a:solidFill>
            <a:srgbClr val="EB68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310896"/>
            <a:ext cx="10515600" cy="320040"/>
          </a:xfrm>
          <a:prstGeom prst="rect">
            <a:avLst/>
          </a:prstGeom>
          <a:noFill/>
        </p:spPr>
        <p:txBody>
          <a:bodyPr wrap="square">
            <a:spAutoFit/>
          </a:bodyPr>
          <a:lstStyle/>
          <a:p>
            <a:r>
              <a:rPr sz="1100" b="1">
                <a:solidFill>
                  <a:srgbClr val="EB6834"/>
                </a:solidFill>
                <a:latin typeface="Consolas"/>
              </a:rPr>
              <a:t>THE FINDING</a:t>
            </a:r>
          </a:p>
        </p:txBody>
      </p:sp>
      <p:sp>
        <p:nvSpPr>
          <p:cNvPr id="4" name="TextBox 3"/>
          <p:cNvSpPr txBox="1"/>
          <p:nvPr/>
        </p:nvSpPr>
        <p:spPr>
          <a:xfrm>
            <a:off x="548640" y="603504"/>
            <a:ext cx="11155680" cy="914400"/>
          </a:xfrm>
          <a:prstGeom prst="rect">
            <a:avLst/>
          </a:prstGeom>
          <a:noFill/>
        </p:spPr>
        <p:txBody>
          <a:bodyPr wrap="square">
            <a:spAutoFit/>
          </a:bodyPr>
          <a:lstStyle/>
          <a:p>
            <a:r>
              <a:rPr sz="3300" b="1">
                <a:solidFill>
                  <a:srgbClr val="141C24"/>
                </a:solidFill>
              </a:rPr>
              <a:t>Two knobs. Both depend on how much data you have.</a:t>
            </a:r>
          </a:p>
        </p:txBody>
      </p:sp>
      <p:sp>
        <p:nvSpPr>
          <p:cNvPr id="5" name="TextBox 4"/>
          <p:cNvSpPr txBox="1"/>
          <p:nvPr/>
        </p:nvSpPr>
        <p:spPr>
          <a:xfrm>
            <a:off x="10241280" y="6327648"/>
            <a:ext cx="1554480" cy="320040"/>
          </a:xfrm>
          <a:prstGeom prst="rect">
            <a:avLst/>
          </a:prstGeom>
          <a:noFill/>
        </p:spPr>
        <p:txBody>
          <a:bodyPr wrap="square">
            <a:spAutoFit/>
          </a:bodyPr>
          <a:lstStyle/>
          <a:p>
            <a:pPr algn="r"/>
            <a:r>
              <a:rPr sz="1000">
                <a:solidFill>
                  <a:srgbClr val="636E7A"/>
                </a:solidFill>
              </a:rPr>
              <a:t>M4</a:t>
            </a:r>
          </a:p>
        </p:txBody>
      </p:sp>
      <p:pic>
        <p:nvPicPr>
          <p:cNvPr id="6" name="Picture 5" descr="fig9_shrinkage.png"/>
          <p:cNvPicPr>
            <a:picLocks noChangeAspect="1"/>
          </p:cNvPicPr>
          <p:nvPr/>
        </p:nvPicPr>
        <p:blipFill>
          <a:blip r:embed="rId2"/>
          <a:stretch>
            <a:fillRect/>
          </a:stretch>
        </p:blipFill>
        <p:spPr>
          <a:xfrm>
            <a:off x="457200" y="1737360"/>
            <a:ext cx="6596612" cy="2834640"/>
          </a:xfrm>
          <a:prstGeom prst="rect">
            <a:avLst/>
          </a:prstGeom>
        </p:spPr>
      </p:pic>
      <p:sp>
        <p:nvSpPr>
          <p:cNvPr id="7" name="Rounded Rectangle 6"/>
          <p:cNvSpPr/>
          <p:nvPr/>
        </p:nvSpPr>
        <p:spPr>
          <a:xfrm>
            <a:off x="576072" y="4636008"/>
            <a:ext cx="5020056" cy="301752"/>
          </a:xfrm>
          <a:prstGeom prst="roundRect">
            <a:avLst>
              <a:gd name="adj" fmla="val 6000"/>
            </a:avLst>
          </a:prstGeom>
          <a:solidFill>
            <a:srgbClr val="0E1C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85800" y="4645152"/>
            <a:ext cx="1234440" cy="301752"/>
          </a:xfrm>
          <a:prstGeom prst="rect">
            <a:avLst/>
          </a:prstGeom>
          <a:noFill/>
        </p:spPr>
        <p:txBody>
          <a:bodyPr wrap="square">
            <a:spAutoFit/>
          </a:bodyPr>
          <a:lstStyle/>
          <a:p>
            <a:pPr algn="l"/>
            <a:r>
              <a:rPr sz="1300" b="1">
                <a:solidFill>
                  <a:srgbClr val="FFFFFF"/>
                </a:solidFill>
              </a:rPr>
              <a:t>shots</a:t>
            </a:r>
          </a:p>
        </p:txBody>
      </p:sp>
      <p:sp>
        <p:nvSpPr>
          <p:cNvPr id="9" name="TextBox 8"/>
          <p:cNvSpPr txBox="1"/>
          <p:nvPr/>
        </p:nvSpPr>
        <p:spPr>
          <a:xfrm>
            <a:off x="1920240" y="4645152"/>
            <a:ext cx="1737360" cy="301752"/>
          </a:xfrm>
          <a:prstGeom prst="rect">
            <a:avLst/>
          </a:prstGeom>
          <a:noFill/>
        </p:spPr>
        <p:txBody>
          <a:bodyPr wrap="square">
            <a:spAutoFit/>
          </a:bodyPr>
          <a:lstStyle/>
          <a:p>
            <a:pPr algn="ctr"/>
            <a:r>
              <a:rPr sz="1300" b="1">
                <a:solidFill>
                  <a:srgbClr val="FFFFFF"/>
                </a:solidFill>
              </a:rPr>
              <a:t>features (k)</a:t>
            </a:r>
          </a:p>
        </p:txBody>
      </p:sp>
      <p:sp>
        <p:nvSpPr>
          <p:cNvPr id="10" name="TextBox 9"/>
          <p:cNvSpPr txBox="1"/>
          <p:nvPr/>
        </p:nvSpPr>
        <p:spPr>
          <a:xfrm>
            <a:off x="3657600" y="4645152"/>
            <a:ext cx="1828800" cy="301752"/>
          </a:xfrm>
          <a:prstGeom prst="rect">
            <a:avLst/>
          </a:prstGeom>
          <a:noFill/>
        </p:spPr>
        <p:txBody>
          <a:bodyPr wrap="square">
            <a:spAutoFit/>
          </a:bodyPr>
          <a:lstStyle/>
          <a:p>
            <a:pPr algn="ctr"/>
            <a:r>
              <a:rPr sz="1300" b="1">
                <a:solidFill>
                  <a:srgbClr val="FFFFFF"/>
                </a:solidFill>
              </a:rPr>
              <a:t>shrinkage (λ)</a:t>
            </a:r>
          </a:p>
        </p:txBody>
      </p:sp>
      <p:sp>
        <p:nvSpPr>
          <p:cNvPr id="11" name="TextBox 10"/>
          <p:cNvSpPr txBox="1"/>
          <p:nvPr/>
        </p:nvSpPr>
        <p:spPr>
          <a:xfrm>
            <a:off x="685800" y="4946904"/>
            <a:ext cx="1234440" cy="301752"/>
          </a:xfrm>
          <a:prstGeom prst="rect">
            <a:avLst/>
          </a:prstGeom>
          <a:noFill/>
        </p:spPr>
        <p:txBody>
          <a:bodyPr wrap="square">
            <a:spAutoFit/>
          </a:bodyPr>
          <a:lstStyle/>
          <a:p>
            <a:pPr algn="l"/>
            <a:r>
              <a:rPr sz="1300" b="0">
                <a:solidFill>
                  <a:srgbClr val="141C24"/>
                </a:solidFill>
              </a:rPr>
              <a:t>5</a:t>
            </a:r>
          </a:p>
        </p:txBody>
      </p:sp>
      <p:sp>
        <p:nvSpPr>
          <p:cNvPr id="12" name="TextBox 11"/>
          <p:cNvSpPr txBox="1"/>
          <p:nvPr/>
        </p:nvSpPr>
        <p:spPr>
          <a:xfrm>
            <a:off x="1920240" y="4946904"/>
            <a:ext cx="1737360" cy="301752"/>
          </a:xfrm>
          <a:prstGeom prst="rect">
            <a:avLst/>
          </a:prstGeom>
          <a:noFill/>
        </p:spPr>
        <p:txBody>
          <a:bodyPr wrap="square">
            <a:spAutoFit/>
          </a:bodyPr>
          <a:lstStyle/>
          <a:p>
            <a:pPr algn="ctr"/>
            <a:r>
              <a:rPr sz="1300" b="0">
                <a:solidFill>
                  <a:srgbClr val="141C24"/>
                </a:solidFill>
              </a:rPr>
              <a:t>30</a:t>
            </a:r>
          </a:p>
        </p:txBody>
      </p:sp>
      <p:sp>
        <p:nvSpPr>
          <p:cNvPr id="13" name="TextBox 12"/>
          <p:cNvSpPr txBox="1"/>
          <p:nvPr/>
        </p:nvSpPr>
        <p:spPr>
          <a:xfrm>
            <a:off x="3657600" y="4946904"/>
            <a:ext cx="1828800" cy="301752"/>
          </a:xfrm>
          <a:prstGeom prst="rect">
            <a:avLst/>
          </a:prstGeom>
          <a:noFill/>
        </p:spPr>
        <p:txBody>
          <a:bodyPr wrap="square">
            <a:spAutoFit/>
          </a:bodyPr>
          <a:lstStyle/>
          <a:p>
            <a:pPr algn="ctr"/>
            <a:r>
              <a:rPr sz="1300" b="0">
                <a:solidFill>
                  <a:srgbClr val="141C24"/>
                </a:solidFill>
              </a:rPr>
              <a:t>0.6</a:t>
            </a:r>
          </a:p>
        </p:txBody>
      </p:sp>
      <p:sp>
        <p:nvSpPr>
          <p:cNvPr id="14" name="TextBox 13"/>
          <p:cNvSpPr txBox="1"/>
          <p:nvPr/>
        </p:nvSpPr>
        <p:spPr>
          <a:xfrm>
            <a:off x="685800" y="5248656"/>
            <a:ext cx="1234440" cy="301752"/>
          </a:xfrm>
          <a:prstGeom prst="rect">
            <a:avLst/>
          </a:prstGeom>
          <a:noFill/>
        </p:spPr>
        <p:txBody>
          <a:bodyPr wrap="square">
            <a:spAutoFit/>
          </a:bodyPr>
          <a:lstStyle/>
          <a:p>
            <a:pPr algn="l"/>
            <a:r>
              <a:rPr sz="1300" b="0">
                <a:solidFill>
                  <a:srgbClr val="141C24"/>
                </a:solidFill>
              </a:rPr>
              <a:t>25</a:t>
            </a:r>
          </a:p>
        </p:txBody>
      </p:sp>
      <p:sp>
        <p:nvSpPr>
          <p:cNvPr id="15" name="TextBox 14"/>
          <p:cNvSpPr txBox="1"/>
          <p:nvPr/>
        </p:nvSpPr>
        <p:spPr>
          <a:xfrm>
            <a:off x="1920240" y="5248656"/>
            <a:ext cx="1737360" cy="301752"/>
          </a:xfrm>
          <a:prstGeom prst="rect">
            <a:avLst/>
          </a:prstGeom>
          <a:noFill/>
        </p:spPr>
        <p:txBody>
          <a:bodyPr wrap="square">
            <a:spAutoFit/>
          </a:bodyPr>
          <a:lstStyle/>
          <a:p>
            <a:pPr algn="ctr"/>
            <a:r>
              <a:rPr sz="1300" b="0">
                <a:solidFill>
                  <a:srgbClr val="141C24"/>
                </a:solidFill>
              </a:rPr>
              <a:t>45</a:t>
            </a:r>
          </a:p>
        </p:txBody>
      </p:sp>
      <p:sp>
        <p:nvSpPr>
          <p:cNvPr id="16" name="TextBox 15"/>
          <p:cNvSpPr txBox="1"/>
          <p:nvPr/>
        </p:nvSpPr>
        <p:spPr>
          <a:xfrm>
            <a:off x="3657600" y="5248656"/>
            <a:ext cx="1828800" cy="301752"/>
          </a:xfrm>
          <a:prstGeom prst="rect">
            <a:avLst/>
          </a:prstGeom>
          <a:noFill/>
        </p:spPr>
        <p:txBody>
          <a:bodyPr wrap="square">
            <a:spAutoFit/>
          </a:bodyPr>
          <a:lstStyle/>
          <a:p>
            <a:pPr algn="ctr"/>
            <a:r>
              <a:rPr sz="1300" b="0">
                <a:solidFill>
                  <a:srgbClr val="141C24"/>
                </a:solidFill>
              </a:rPr>
              <a:t>0.0</a:t>
            </a:r>
          </a:p>
        </p:txBody>
      </p:sp>
      <p:sp>
        <p:nvSpPr>
          <p:cNvPr id="17" name="TextBox 16"/>
          <p:cNvSpPr txBox="1"/>
          <p:nvPr/>
        </p:nvSpPr>
        <p:spPr>
          <a:xfrm>
            <a:off x="685800" y="5550408"/>
            <a:ext cx="1234440" cy="301752"/>
          </a:xfrm>
          <a:prstGeom prst="rect">
            <a:avLst/>
          </a:prstGeom>
          <a:noFill/>
        </p:spPr>
        <p:txBody>
          <a:bodyPr wrap="square">
            <a:spAutoFit/>
          </a:bodyPr>
          <a:lstStyle/>
          <a:p>
            <a:pPr algn="l"/>
            <a:r>
              <a:rPr sz="1300" b="0">
                <a:solidFill>
                  <a:srgbClr val="141C24"/>
                </a:solidFill>
              </a:rPr>
              <a:t>50</a:t>
            </a:r>
          </a:p>
        </p:txBody>
      </p:sp>
      <p:sp>
        <p:nvSpPr>
          <p:cNvPr id="18" name="TextBox 17"/>
          <p:cNvSpPr txBox="1"/>
          <p:nvPr/>
        </p:nvSpPr>
        <p:spPr>
          <a:xfrm>
            <a:off x="1920240" y="5550408"/>
            <a:ext cx="1737360" cy="301752"/>
          </a:xfrm>
          <a:prstGeom prst="rect">
            <a:avLst/>
          </a:prstGeom>
          <a:noFill/>
        </p:spPr>
        <p:txBody>
          <a:bodyPr wrap="square">
            <a:spAutoFit/>
          </a:bodyPr>
          <a:lstStyle/>
          <a:p>
            <a:pPr algn="ctr"/>
            <a:r>
              <a:rPr sz="1300" b="0">
                <a:solidFill>
                  <a:srgbClr val="141C24"/>
                </a:solidFill>
              </a:rPr>
              <a:t>45</a:t>
            </a:r>
          </a:p>
        </p:txBody>
      </p:sp>
      <p:sp>
        <p:nvSpPr>
          <p:cNvPr id="19" name="TextBox 18"/>
          <p:cNvSpPr txBox="1"/>
          <p:nvPr/>
        </p:nvSpPr>
        <p:spPr>
          <a:xfrm>
            <a:off x="3657600" y="5550408"/>
            <a:ext cx="1828800" cy="301752"/>
          </a:xfrm>
          <a:prstGeom prst="rect">
            <a:avLst/>
          </a:prstGeom>
          <a:noFill/>
        </p:spPr>
        <p:txBody>
          <a:bodyPr wrap="square">
            <a:spAutoFit/>
          </a:bodyPr>
          <a:lstStyle/>
          <a:p>
            <a:pPr algn="ctr"/>
            <a:r>
              <a:rPr sz="1300" b="0">
                <a:solidFill>
                  <a:srgbClr val="141C24"/>
                </a:solidFill>
              </a:rPr>
              <a:t>0.0</a:t>
            </a:r>
          </a:p>
        </p:txBody>
      </p:sp>
      <p:sp>
        <p:nvSpPr>
          <p:cNvPr id="20" name="TextBox 19"/>
          <p:cNvSpPr txBox="1"/>
          <p:nvPr/>
        </p:nvSpPr>
        <p:spPr>
          <a:xfrm>
            <a:off x="685800" y="5852160"/>
            <a:ext cx="1234440" cy="301752"/>
          </a:xfrm>
          <a:prstGeom prst="rect">
            <a:avLst/>
          </a:prstGeom>
          <a:noFill/>
        </p:spPr>
        <p:txBody>
          <a:bodyPr wrap="square">
            <a:spAutoFit/>
          </a:bodyPr>
          <a:lstStyle/>
          <a:p>
            <a:pPr algn="l"/>
            <a:r>
              <a:rPr sz="1300" b="0">
                <a:solidFill>
                  <a:srgbClr val="141C24"/>
                </a:solidFill>
              </a:rPr>
              <a:t>100</a:t>
            </a:r>
          </a:p>
        </p:txBody>
      </p:sp>
      <p:sp>
        <p:nvSpPr>
          <p:cNvPr id="21" name="TextBox 20"/>
          <p:cNvSpPr txBox="1"/>
          <p:nvPr/>
        </p:nvSpPr>
        <p:spPr>
          <a:xfrm>
            <a:off x="1920240" y="5852160"/>
            <a:ext cx="1737360" cy="301752"/>
          </a:xfrm>
          <a:prstGeom prst="rect">
            <a:avLst/>
          </a:prstGeom>
          <a:noFill/>
        </p:spPr>
        <p:txBody>
          <a:bodyPr wrap="square">
            <a:spAutoFit/>
          </a:bodyPr>
          <a:lstStyle/>
          <a:p>
            <a:pPr algn="ctr"/>
            <a:r>
              <a:rPr sz="1300" b="0">
                <a:solidFill>
                  <a:srgbClr val="141C24"/>
                </a:solidFill>
              </a:rPr>
              <a:t>45</a:t>
            </a:r>
          </a:p>
        </p:txBody>
      </p:sp>
      <p:sp>
        <p:nvSpPr>
          <p:cNvPr id="22" name="TextBox 21"/>
          <p:cNvSpPr txBox="1"/>
          <p:nvPr/>
        </p:nvSpPr>
        <p:spPr>
          <a:xfrm>
            <a:off x="3657600" y="5852160"/>
            <a:ext cx="1828800" cy="301752"/>
          </a:xfrm>
          <a:prstGeom prst="rect">
            <a:avLst/>
          </a:prstGeom>
          <a:noFill/>
        </p:spPr>
        <p:txBody>
          <a:bodyPr wrap="square">
            <a:spAutoFit/>
          </a:bodyPr>
          <a:lstStyle/>
          <a:p>
            <a:pPr algn="ctr"/>
            <a:r>
              <a:rPr sz="1300" b="0">
                <a:solidFill>
                  <a:srgbClr val="141C24"/>
                </a:solidFill>
              </a:rPr>
              <a:t>0.0</a:t>
            </a:r>
          </a:p>
        </p:txBody>
      </p:sp>
      <p:sp>
        <p:nvSpPr>
          <p:cNvPr id="23" name="TextBox 22"/>
          <p:cNvSpPr txBox="1"/>
          <p:nvPr/>
        </p:nvSpPr>
        <p:spPr>
          <a:xfrm>
            <a:off x="685800" y="6153912"/>
            <a:ext cx="1234440" cy="301752"/>
          </a:xfrm>
          <a:prstGeom prst="rect">
            <a:avLst/>
          </a:prstGeom>
          <a:noFill/>
        </p:spPr>
        <p:txBody>
          <a:bodyPr wrap="square">
            <a:spAutoFit/>
          </a:bodyPr>
          <a:lstStyle/>
          <a:p>
            <a:pPr algn="l"/>
            <a:r>
              <a:rPr sz="1300" b="0">
                <a:solidFill>
                  <a:srgbClr val="141C24"/>
                </a:solidFill>
              </a:rPr>
              <a:t>200</a:t>
            </a:r>
          </a:p>
        </p:txBody>
      </p:sp>
      <p:sp>
        <p:nvSpPr>
          <p:cNvPr id="24" name="TextBox 23"/>
          <p:cNvSpPr txBox="1"/>
          <p:nvPr/>
        </p:nvSpPr>
        <p:spPr>
          <a:xfrm>
            <a:off x="1920240" y="6153912"/>
            <a:ext cx="1737360" cy="301752"/>
          </a:xfrm>
          <a:prstGeom prst="rect">
            <a:avLst/>
          </a:prstGeom>
          <a:noFill/>
        </p:spPr>
        <p:txBody>
          <a:bodyPr wrap="square">
            <a:spAutoFit/>
          </a:bodyPr>
          <a:lstStyle/>
          <a:p>
            <a:pPr algn="ctr"/>
            <a:r>
              <a:rPr sz="1300" b="0">
                <a:solidFill>
                  <a:srgbClr val="141C24"/>
                </a:solidFill>
              </a:rPr>
              <a:t>45</a:t>
            </a:r>
          </a:p>
        </p:txBody>
      </p:sp>
      <p:sp>
        <p:nvSpPr>
          <p:cNvPr id="25" name="TextBox 24"/>
          <p:cNvSpPr txBox="1"/>
          <p:nvPr/>
        </p:nvSpPr>
        <p:spPr>
          <a:xfrm>
            <a:off x="3657600" y="6153912"/>
            <a:ext cx="1828800" cy="301752"/>
          </a:xfrm>
          <a:prstGeom prst="rect">
            <a:avLst/>
          </a:prstGeom>
          <a:noFill/>
        </p:spPr>
        <p:txBody>
          <a:bodyPr wrap="square">
            <a:spAutoFit/>
          </a:bodyPr>
          <a:lstStyle/>
          <a:p>
            <a:pPr algn="ctr"/>
            <a:r>
              <a:rPr sz="1300" b="0">
                <a:solidFill>
                  <a:srgbClr val="141C24"/>
                </a:solidFill>
              </a:rPr>
              <a:t>0.0</a:t>
            </a:r>
          </a:p>
        </p:txBody>
      </p:sp>
      <p:sp>
        <p:nvSpPr>
          <p:cNvPr id="26" name="Oval 25"/>
          <p:cNvSpPr/>
          <p:nvPr/>
        </p:nvSpPr>
        <p:spPr>
          <a:xfrm>
            <a:off x="5943600" y="1947672"/>
            <a:ext cx="100584" cy="100584"/>
          </a:xfrm>
          <a:prstGeom prst="ellipse">
            <a:avLst/>
          </a:prstGeom>
          <a:solidFill>
            <a:srgbClr val="EB68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236208" y="1828800"/>
            <a:ext cx="5029200" cy="411480"/>
          </a:xfrm>
          <a:prstGeom prst="rect">
            <a:avLst/>
          </a:prstGeom>
          <a:noFill/>
        </p:spPr>
        <p:txBody>
          <a:bodyPr wrap="square">
            <a:spAutoFit/>
          </a:bodyPr>
          <a:lstStyle/>
          <a:p>
            <a:r>
              <a:rPr sz="1700">
                <a:solidFill>
                  <a:srgbClr val="141C24"/>
                </a:solidFill>
              </a:rPr>
              <a:t>λ — how much we trust Madrid over Amsterdam</a:t>
            </a:r>
          </a:p>
        </p:txBody>
      </p:sp>
      <p:sp>
        <p:nvSpPr>
          <p:cNvPr id="28" name="Oval 27"/>
          <p:cNvSpPr/>
          <p:nvPr/>
        </p:nvSpPr>
        <p:spPr>
          <a:xfrm>
            <a:off x="5943600" y="2404872"/>
            <a:ext cx="100584" cy="100584"/>
          </a:xfrm>
          <a:prstGeom prst="ellipse">
            <a:avLst/>
          </a:prstGeom>
          <a:solidFill>
            <a:srgbClr val="EB68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236208" y="2286000"/>
            <a:ext cx="5029200" cy="411480"/>
          </a:xfrm>
          <a:prstGeom prst="rect">
            <a:avLst/>
          </a:prstGeom>
          <a:noFill/>
        </p:spPr>
        <p:txBody>
          <a:bodyPr wrap="square">
            <a:spAutoFit/>
          </a:bodyPr>
          <a:lstStyle/>
          <a:p>
            <a:r>
              <a:rPr sz="1700">
                <a:solidFill>
                  <a:srgbClr val="141C24"/>
                </a:solidFill>
              </a:rPr>
              <a:t>k — how many features we keep</a:t>
            </a:r>
          </a:p>
        </p:txBody>
      </p:sp>
      <p:sp>
        <p:nvSpPr>
          <p:cNvPr id="30" name="Oval 29"/>
          <p:cNvSpPr/>
          <p:nvPr/>
        </p:nvSpPr>
        <p:spPr>
          <a:xfrm>
            <a:off x="5943600" y="3319272"/>
            <a:ext cx="100584" cy="100584"/>
          </a:xfrm>
          <a:prstGeom prst="ellipse">
            <a:avLst/>
          </a:prstGeom>
          <a:solidFill>
            <a:srgbClr val="EB68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6236208" y="3200400"/>
            <a:ext cx="5029200" cy="411480"/>
          </a:xfrm>
          <a:prstGeom prst="rect">
            <a:avLst/>
          </a:prstGeom>
          <a:noFill/>
        </p:spPr>
        <p:txBody>
          <a:bodyPr wrap="square">
            <a:spAutoFit/>
          </a:bodyPr>
          <a:lstStyle/>
          <a:p>
            <a:r>
              <a:rPr sz="1700">
                <a:solidFill>
                  <a:srgbClr val="141C24"/>
                </a:solidFill>
              </a:rPr>
              <a:t>Less data → lean on Madrid, use fewer features</a:t>
            </a:r>
          </a:p>
        </p:txBody>
      </p:sp>
      <p:sp>
        <p:nvSpPr>
          <p:cNvPr id="32" name="Oval 31"/>
          <p:cNvSpPr/>
          <p:nvPr/>
        </p:nvSpPr>
        <p:spPr>
          <a:xfrm>
            <a:off x="5943600" y="3776472"/>
            <a:ext cx="100584" cy="100584"/>
          </a:xfrm>
          <a:prstGeom prst="ellipse">
            <a:avLst/>
          </a:prstGeom>
          <a:solidFill>
            <a:srgbClr val="EB68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6236208" y="3657600"/>
            <a:ext cx="5029200" cy="411480"/>
          </a:xfrm>
          <a:prstGeom prst="rect">
            <a:avLst/>
          </a:prstGeom>
          <a:noFill/>
        </p:spPr>
        <p:txBody>
          <a:bodyPr wrap="square">
            <a:spAutoFit/>
          </a:bodyPr>
          <a:lstStyle/>
          <a:p>
            <a:r>
              <a:rPr sz="1700">
                <a:solidFill>
                  <a:srgbClr val="141C24"/>
                </a:solidFill>
              </a:rPr>
              <a:t>More data → trust Amsterdam, afford more features</a:t>
            </a:r>
          </a:p>
        </p:txBody>
      </p:sp>
      <p:sp>
        <p:nvSpPr>
          <p:cNvPr id="34" name="Oval 33"/>
          <p:cNvSpPr/>
          <p:nvPr/>
        </p:nvSpPr>
        <p:spPr>
          <a:xfrm>
            <a:off x="5943600" y="4690872"/>
            <a:ext cx="100584" cy="100584"/>
          </a:xfrm>
          <a:prstGeom prst="ellipse">
            <a:avLst/>
          </a:prstGeom>
          <a:solidFill>
            <a:srgbClr val="EB68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236208" y="4572000"/>
            <a:ext cx="5029200" cy="411480"/>
          </a:xfrm>
          <a:prstGeom prst="rect">
            <a:avLst/>
          </a:prstGeom>
          <a:noFill/>
        </p:spPr>
        <p:txBody>
          <a:bodyPr wrap="square">
            <a:spAutoFit/>
          </a:bodyPr>
          <a:lstStyle/>
          <a:p>
            <a:r>
              <a:rPr sz="1700">
                <a:solidFill>
                  <a:srgbClr val="141C24"/>
                </a:solidFill>
              </a:rPr>
              <a:t>We did not impose this. It is what shrinkage</a:t>
            </a:r>
          </a:p>
        </p:txBody>
      </p:sp>
      <p:sp>
        <p:nvSpPr>
          <p:cNvPr id="36" name="Oval 35"/>
          <p:cNvSpPr/>
          <p:nvPr/>
        </p:nvSpPr>
        <p:spPr>
          <a:xfrm>
            <a:off x="5943600" y="5148072"/>
            <a:ext cx="100584" cy="100584"/>
          </a:xfrm>
          <a:prstGeom prst="ellipse">
            <a:avLst/>
          </a:prstGeom>
          <a:solidFill>
            <a:srgbClr val="EB68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6236208" y="5029200"/>
            <a:ext cx="5029200" cy="411480"/>
          </a:xfrm>
          <a:prstGeom prst="rect">
            <a:avLst/>
          </a:prstGeom>
          <a:noFill/>
        </p:spPr>
        <p:txBody>
          <a:bodyPr wrap="square">
            <a:spAutoFit/>
          </a:bodyPr>
          <a:lstStyle/>
          <a:p>
            <a:r>
              <a:rPr sz="1700">
                <a:solidFill>
                  <a:srgbClr val="141C24"/>
                </a:solidFill>
              </a:rPr>
              <a:t>theory predicts, recovered from the data.</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18872"/>
          </a:xfrm>
          <a:prstGeom prst="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310896"/>
            <a:ext cx="10515600" cy="320040"/>
          </a:xfrm>
          <a:prstGeom prst="rect">
            <a:avLst/>
          </a:prstGeom>
          <a:noFill/>
        </p:spPr>
        <p:txBody>
          <a:bodyPr wrap="square">
            <a:spAutoFit/>
          </a:bodyPr>
          <a:lstStyle/>
          <a:p>
            <a:r>
              <a:rPr sz="1100" b="1">
                <a:solidFill>
                  <a:srgbClr val="2A78D6"/>
                </a:solidFill>
                <a:latin typeface="Consolas"/>
              </a:rPr>
              <a:t>ABLATIONS</a:t>
            </a:r>
          </a:p>
        </p:txBody>
      </p:sp>
      <p:sp>
        <p:nvSpPr>
          <p:cNvPr id="4" name="TextBox 3"/>
          <p:cNvSpPr txBox="1"/>
          <p:nvPr/>
        </p:nvSpPr>
        <p:spPr>
          <a:xfrm>
            <a:off x="548640" y="603504"/>
            <a:ext cx="11155680" cy="914400"/>
          </a:xfrm>
          <a:prstGeom prst="rect">
            <a:avLst/>
          </a:prstGeom>
          <a:noFill/>
        </p:spPr>
        <p:txBody>
          <a:bodyPr wrap="square">
            <a:spAutoFit/>
          </a:bodyPr>
          <a:lstStyle/>
          <a:p>
            <a:r>
              <a:rPr sz="3300" b="1">
                <a:solidFill>
                  <a:srgbClr val="141C24"/>
                </a:solidFill>
              </a:rPr>
              <a:t>Three things we tried that did not work</a:t>
            </a:r>
          </a:p>
        </p:txBody>
      </p:sp>
      <p:sp>
        <p:nvSpPr>
          <p:cNvPr id="5" name="TextBox 4"/>
          <p:cNvSpPr txBox="1"/>
          <p:nvPr/>
        </p:nvSpPr>
        <p:spPr>
          <a:xfrm>
            <a:off x="10241280" y="6327648"/>
            <a:ext cx="1554480" cy="320040"/>
          </a:xfrm>
          <a:prstGeom prst="rect">
            <a:avLst/>
          </a:prstGeom>
          <a:noFill/>
        </p:spPr>
        <p:txBody>
          <a:bodyPr wrap="square">
            <a:spAutoFit/>
          </a:bodyPr>
          <a:lstStyle/>
          <a:p>
            <a:pPr algn="r"/>
            <a:r>
              <a:rPr sz="1000">
                <a:solidFill>
                  <a:srgbClr val="636E7A"/>
                </a:solidFill>
              </a:rPr>
              <a:t>M4</a:t>
            </a:r>
          </a:p>
        </p:txBody>
      </p:sp>
      <p:pic>
        <p:nvPicPr>
          <p:cNvPr id="6" name="Picture 5" descr="fig3_method_ablation.png"/>
          <p:cNvPicPr>
            <a:picLocks noChangeAspect="1"/>
          </p:cNvPicPr>
          <p:nvPr/>
        </p:nvPicPr>
        <p:blipFill>
          <a:blip r:embed="rId2"/>
          <a:stretch>
            <a:fillRect/>
          </a:stretch>
        </p:blipFill>
        <p:spPr>
          <a:xfrm>
            <a:off x="548640" y="1737360"/>
            <a:ext cx="7059287" cy="4114800"/>
          </a:xfrm>
          <a:prstGeom prst="rect">
            <a:avLst/>
          </a:prstGeom>
        </p:spPr>
      </p:pic>
      <p:sp>
        <p:nvSpPr>
          <p:cNvPr id="7" name="Rounded Rectangle 6"/>
          <p:cNvSpPr/>
          <p:nvPr/>
        </p:nvSpPr>
        <p:spPr>
          <a:xfrm>
            <a:off x="5852160" y="1920240"/>
            <a:ext cx="5760720" cy="1051560"/>
          </a:xfrm>
          <a:prstGeom prst="roundRect">
            <a:avLst>
              <a:gd name="adj" fmla="val 6000"/>
            </a:avLst>
          </a:prstGeom>
          <a:solidFill>
            <a:srgbClr val="FDF1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080760" y="2029968"/>
            <a:ext cx="5394960" cy="411480"/>
          </a:xfrm>
          <a:prstGeom prst="rect">
            <a:avLst/>
          </a:prstGeom>
          <a:noFill/>
        </p:spPr>
        <p:txBody>
          <a:bodyPr wrap="square">
            <a:spAutoFit/>
          </a:bodyPr>
          <a:lstStyle/>
          <a:p>
            <a:r>
              <a:rPr sz="1700" b="1">
                <a:solidFill>
                  <a:srgbClr val="EB6834"/>
                </a:solidFill>
              </a:rPr>
              <a:t>Rank-3 LDA</a:t>
            </a:r>
          </a:p>
        </p:txBody>
      </p:sp>
      <p:sp>
        <p:nvSpPr>
          <p:cNvPr id="9" name="TextBox 8"/>
          <p:cNvSpPr txBox="1"/>
          <p:nvPr/>
        </p:nvSpPr>
        <p:spPr>
          <a:xfrm>
            <a:off x="6080760" y="2450592"/>
            <a:ext cx="5394960" cy="457200"/>
          </a:xfrm>
          <a:prstGeom prst="rect">
            <a:avLst/>
          </a:prstGeom>
          <a:noFill/>
        </p:spPr>
        <p:txBody>
          <a:bodyPr wrap="square">
            <a:spAutoFit/>
          </a:bodyPr>
          <a:lstStyle/>
          <a:p>
            <a:r>
              <a:rPr sz="1400">
                <a:solidFill>
                  <a:srgbClr val="636E7A"/>
                </a:solidFill>
              </a:rPr>
              <a:t>compresses 60 dims to 3 — loses too much</a:t>
            </a:r>
          </a:p>
        </p:txBody>
      </p:sp>
      <p:sp>
        <p:nvSpPr>
          <p:cNvPr id="10" name="Rounded Rectangle 9"/>
          <p:cNvSpPr/>
          <p:nvPr/>
        </p:nvSpPr>
        <p:spPr>
          <a:xfrm>
            <a:off x="5852160" y="3154680"/>
            <a:ext cx="5760720" cy="1051560"/>
          </a:xfrm>
          <a:prstGeom prst="roundRect">
            <a:avLst>
              <a:gd name="adj" fmla="val 6000"/>
            </a:avLst>
          </a:prstGeom>
          <a:solidFill>
            <a:srgbClr val="FDF1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080760" y="3264408"/>
            <a:ext cx="5394960" cy="411480"/>
          </a:xfrm>
          <a:prstGeom prst="rect">
            <a:avLst/>
          </a:prstGeom>
          <a:noFill/>
        </p:spPr>
        <p:txBody>
          <a:bodyPr wrap="square">
            <a:spAutoFit/>
          </a:bodyPr>
          <a:lstStyle/>
          <a:p>
            <a:r>
              <a:rPr sz="1700" b="1">
                <a:solidFill>
                  <a:srgbClr val="EB6834"/>
                </a:solidFill>
              </a:rPr>
              <a:t>RF probability space</a:t>
            </a:r>
          </a:p>
        </p:txBody>
      </p:sp>
      <p:sp>
        <p:nvSpPr>
          <p:cNvPr id="12" name="TextBox 11"/>
          <p:cNvSpPr txBox="1"/>
          <p:nvPr/>
        </p:nvSpPr>
        <p:spPr>
          <a:xfrm>
            <a:off x="6080760" y="3685032"/>
            <a:ext cx="5394960" cy="457200"/>
          </a:xfrm>
          <a:prstGeom prst="rect">
            <a:avLst/>
          </a:prstGeom>
          <a:noFill/>
        </p:spPr>
        <p:txBody>
          <a:bodyPr wrap="square">
            <a:spAutoFit/>
          </a:bodyPr>
          <a:lstStyle/>
          <a:p>
            <a:r>
              <a:rPr sz="1400">
                <a:solidFill>
                  <a:srgbClr val="636E7A"/>
                </a:solidFill>
              </a:rPr>
              <a:t>worst of nine — 4 dims is not enough</a:t>
            </a:r>
          </a:p>
        </p:txBody>
      </p:sp>
      <p:sp>
        <p:nvSpPr>
          <p:cNvPr id="13" name="Rounded Rectangle 12"/>
          <p:cNvSpPr/>
          <p:nvPr/>
        </p:nvSpPr>
        <p:spPr>
          <a:xfrm>
            <a:off x="5852160" y="4389120"/>
            <a:ext cx="5760720" cy="1051560"/>
          </a:xfrm>
          <a:prstGeom prst="roundRect">
            <a:avLst>
              <a:gd name="adj" fmla="val 6000"/>
            </a:avLst>
          </a:prstGeom>
          <a:solidFill>
            <a:srgbClr val="FDF1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080760" y="4498848"/>
            <a:ext cx="5394960" cy="411480"/>
          </a:xfrm>
          <a:prstGeom prst="rect">
            <a:avLst/>
          </a:prstGeom>
          <a:noFill/>
        </p:spPr>
        <p:txBody>
          <a:bodyPr wrap="square">
            <a:spAutoFit/>
          </a:bodyPr>
          <a:lstStyle/>
          <a:p>
            <a:r>
              <a:rPr sz="1700" b="1">
                <a:solidFill>
                  <a:srgbClr val="EB6834"/>
                </a:solidFill>
              </a:rPr>
              <a:t>94 season-aware features</a:t>
            </a:r>
          </a:p>
        </p:txBody>
      </p:sp>
      <p:sp>
        <p:nvSpPr>
          <p:cNvPr id="15" name="TextBox 14"/>
          <p:cNvSpPr txBox="1"/>
          <p:nvPr/>
        </p:nvSpPr>
        <p:spPr>
          <a:xfrm>
            <a:off x="6080760" y="4919472"/>
            <a:ext cx="5394960" cy="457200"/>
          </a:xfrm>
          <a:prstGeom prst="rect">
            <a:avLst/>
          </a:prstGeom>
          <a:noFill/>
        </p:spPr>
        <p:txBody>
          <a:bodyPr wrap="square">
            <a:spAutoFit/>
          </a:bodyPr>
          <a:lstStyle/>
          <a:p>
            <a:r>
              <a:rPr sz="1400">
                <a:solidFill>
                  <a:srgbClr val="636E7A"/>
                </a:solidFill>
              </a:rPr>
              <a:t>informative but dilutive — noisier prototypes</a:t>
            </a:r>
          </a:p>
        </p:txBody>
      </p:sp>
      <p:sp>
        <p:nvSpPr>
          <p:cNvPr id="16" name="Rounded Rectangle 15"/>
          <p:cNvSpPr/>
          <p:nvPr/>
        </p:nvSpPr>
        <p:spPr>
          <a:xfrm>
            <a:off x="5852160" y="5623560"/>
            <a:ext cx="5760720" cy="777240"/>
          </a:xfrm>
          <a:prstGeom prst="roundRect">
            <a:avLst>
              <a:gd name="adj" fmla="val 6000"/>
            </a:avLst>
          </a:prstGeom>
          <a:solidFill>
            <a:srgbClr val="EEF3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080760" y="5760720"/>
            <a:ext cx="5394960" cy="548640"/>
          </a:xfrm>
          <a:prstGeom prst="rect">
            <a:avLst/>
          </a:prstGeom>
          <a:noFill/>
        </p:spPr>
        <p:txBody>
          <a:bodyPr wrap="square">
            <a:spAutoFit/>
          </a:bodyPr>
          <a:lstStyle/>
          <a:p>
            <a:r>
              <a:rPr sz="1600" b="1">
                <a:solidFill>
                  <a:srgbClr val="2A78D6"/>
                </a:solidFill>
              </a:rPr>
              <a:t>All three: too few dimensions, or too many.</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18872"/>
          </a:xfrm>
          <a:prstGeom prst="rect">
            <a:avLst/>
          </a:prstGeom>
          <a:solidFill>
            <a:srgbClr val="0E1C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310896"/>
            <a:ext cx="10515600" cy="320040"/>
          </a:xfrm>
          <a:prstGeom prst="rect">
            <a:avLst/>
          </a:prstGeom>
          <a:noFill/>
        </p:spPr>
        <p:txBody>
          <a:bodyPr wrap="square">
            <a:spAutoFit/>
          </a:bodyPr>
          <a:lstStyle/>
          <a:p>
            <a:r>
              <a:rPr sz="1100" b="1">
                <a:solidFill>
                  <a:srgbClr val="0E1C2B"/>
                </a:solidFill>
                <a:latin typeface="Consolas"/>
              </a:rPr>
              <a:t>HONESTY</a:t>
            </a:r>
          </a:p>
        </p:txBody>
      </p:sp>
      <p:sp>
        <p:nvSpPr>
          <p:cNvPr id="4" name="TextBox 3"/>
          <p:cNvSpPr txBox="1"/>
          <p:nvPr/>
        </p:nvSpPr>
        <p:spPr>
          <a:xfrm>
            <a:off x="548640" y="603504"/>
            <a:ext cx="11155680" cy="914400"/>
          </a:xfrm>
          <a:prstGeom prst="rect">
            <a:avLst/>
          </a:prstGeom>
          <a:noFill/>
        </p:spPr>
        <p:txBody>
          <a:bodyPr wrap="square">
            <a:spAutoFit/>
          </a:bodyPr>
          <a:lstStyle/>
          <a:p>
            <a:r>
              <a:rPr sz="3300" b="1">
                <a:solidFill>
                  <a:srgbClr val="141C24"/>
                </a:solidFill>
              </a:rPr>
              <a:t>What we are not claiming</a:t>
            </a:r>
          </a:p>
        </p:txBody>
      </p:sp>
      <p:sp>
        <p:nvSpPr>
          <p:cNvPr id="5" name="TextBox 4"/>
          <p:cNvSpPr txBox="1"/>
          <p:nvPr/>
        </p:nvSpPr>
        <p:spPr>
          <a:xfrm>
            <a:off x="10241280" y="6327648"/>
            <a:ext cx="1554480" cy="320040"/>
          </a:xfrm>
          <a:prstGeom prst="rect">
            <a:avLst/>
          </a:prstGeom>
          <a:noFill/>
        </p:spPr>
        <p:txBody>
          <a:bodyPr wrap="square">
            <a:spAutoFit/>
          </a:bodyPr>
          <a:lstStyle/>
          <a:p>
            <a:pPr algn="r"/>
            <a:r>
              <a:rPr sz="1000">
                <a:solidFill>
                  <a:srgbClr val="636E7A"/>
                </a:solidFill>
              </a:rPr>
              <a:t>M4</a:t>
            </a:r>
          </a:p>
        </p:txBody>
      </p:sp>
      <p:sp>
        <p:nvSpPr>
          <p:cNvPr id="6" name="Oval 5"/>
          <p:cNvSpPr/>
          <p:nvPr/>
        </p:nvSpPr>
        <p:spPr>
          <a:xfrm>
            <a:off x="640080" y="1901952"/>
            <a:ext cx="100584" cy="100584"/>
          </a:xfrm>
          <a:prstGeom prst="ellipse">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32688" y="1783080"/>
            <a:ext cx="10332720" cy="411480"/>
          </a:xfrm>
          <a:prstGeom prst="rect">
            <a:avLst/>
          </a:prstGeom>
          <a:noFill/>
        </p:spPr>
        <p:txBody>
          <a:bodyPr wrap="square">
            <a:spAutoFit/>
          </a:bodyPr>
          <a:lstStyle/>
          <a:p>
            <a:r>
              <a:rPr sz="1800">
                <a:solidFill>
                  <a:srgbClr val="141C24"/>
                </a:solidFill>
              </a:rPr>
              <a:t>Gains beyond five shots are ~1.5% — small</a:t>
            </a:r>
          </a:p>
        </p:txBody>
      </p:sp>
      <p:sp>
        <p:nvSpPr>
          <p:cNvPr id="8" name="Oval 7"/>
          <p:cNvSpPr/>
          <p:nvPr/>
        </p:nvSpPr>
        <p:spPr>
          <a:xfrm>
            <a:off x="640080" y="2414015"/>
            <a:ext cx="100584" cy="100584"/>
          </a:xfrm>
          <a:prstGeom prst="ellipse">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32688" y="2295144"/>
            <a:ext cx="10332720" cy="411480"/>
          </a:xfrm>
          <a:prstGeom prst="rect">
            <a:avLst/>
          </a:prstGeom>
          <a:noFill/>
        </p:spPr>
        <p:txBody>
          <a:bodyPr wrap="square">
            <a:spAutoFit/>
          </a:bodyPr>
          <a:lstStyle/>
          <a:p>
            <a:r>
              <a:rPr sz="1800">
                <a:solidFill>
                  <a:srgbClr val="141C24"/>
                </a:solidFill>
              </a:rPr>
              <a:t>Error bars are spreads, not confidence intervals</a:t>
            </a:r>
          </a:p>
        </p:txBody>
      </p:sp>
      <p:sp>
        <p:nvSpPr>
          <p:cNvPr id="10" name="Oval 9"/>
          <p:cNvSpPr/>
          <p:nvPr/>
        </p:nvSpPr>
        <p:spPr>
          <a:xfrm>
            <a:off x="640080" y="2926080"/>
            <a:ext cx="100584" cy="100584"/>
          </a:xfrm>
          <a:prstGeom prst="ellipse">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32688" y="2807208"/>
            <a:ext cx="10332720" cy="411480"/>
          </a:xfrm>
          <a:prstGeom prst="rect">
            <a:avLst/>
          </a:prstGeom>
          <a:noFill/>
        </p:spPr>
        <p:txBody>
          <a:bodyPr wrap="square">
            <a:spAutoFit/>
          </a:bodyPr>
          <a:lstStyle/>
          <a:p>
            <a:r>
              <a:rPr sz="1800">
                <a:solidFill>
                  <a:srgbClr val="141C24"/>
                </a:solidFill>
              </a:rPr>
              <a:t>Confusion diagonals are recall, not F1</a:t>
            </a:r>
          </a:p>
        </p:txBody>
      </p:sp>
      <p:sp>
        <p:nvSpPr>
          <p:cNvPr id="12" name="Oval 11"/>
          <p:cNvSpPr/>
          <p:nvPr/>
        </p:nvSpPr>
        <p:spPr>
          <a:xfrm>
            <a:off x="640080" y="3438144"/>
            <a:ext cx="100584" cy="100584"/>
          </a:xfrm>
          <a:prstGeom prst="ellipse">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32688" y="3319272"/>
            <a:ext cx="10332720" cy="411480"/>
          </a:xfrm>
          <a:prstGeom prst="rect">
            <a:avLst/>
          </a:prstGeom>
          <a:noFill/>
        </p:spPr>
        <p:txBody>
          <a:bodyPr wrap="square">
            <a:spAutoFit/>
          </a:bodyPr>
          <a:lstStyle/>
          <a:p>
            <a:r>
              <a:rPr sz="1800">
                <a:solidFill>
                  <a:srgbClr val="141C24"/>
                </a:solidFill>
              </a:rPr>
              <a:t>Accuracy would have flattered us — we report macro F1</a:t>
            </a:r>
          </a:p>
        </p:txBody>
      </p:sp>
      <p:sp>
        <p:nvSpPr>
          <p:cNvPr id="14" name="Oval 13"/>
          <p:cNvSpPr/>
          <p:nvPr/>
        </p:nvSpPr>
        <p:spPr>
          <a:xfrm>
            <a:off x="640080" y="3950208"/>
            <a:ext cx="100584" cy="100584"/>
          </a:xfrm>
          <a:prstGeom prst="ellipse">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32688" y="3831336"/>
            <a:ext cx="10332720" cy="411480"/>
          </a:xfrm>
          <a:prstGeom prst="rect">
            <a:avLst/>
          </a:prstGeom>
          <a:noFill/>
        </p:spPr>
        <p:txBody>
          <a:bodyPr wrap="square">
            <a:spAutoFit/>
          </a:bodyPr>
          <a:lstStyle/>
          <a:p>
            <a:r>
              <a:rPr sz="1800">
                <a:solidFill>
                  <a:srgbClr val="141C24"/>
                </a:solidFill>
              </a:rPr>
              <a:t>We do not compare to the organiser's published numbers</a:t>
            </a:r>
          </a:p>
        </p:txBody>
      </p:sp>
      <p:sp>
        <p:nvSpPr>
          <p:cNvPr id="16" name="Rounded Rectangle 15"/>
          <p:cNvSpPr/>
          <p:nvPr/>
        </p:nvSpPr>
        <p:spPr>
          <a:xfrm>
            <a:off x="640080" y="4434840"/>
            <a:ext cx="10881360" cy="1737360"/>
          </a:xfrm>
          <a:prstGeom prst="roundRect">
            <a:avLst>
              <a:gd name="adj" fmla="val 6000"/>
            </a:avLst>
          </a:prstGeom>
          <a:solidFill>
            <a:srgbClr val="FDF1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14400" y="4572000"/>
            <a:ext cx="10332720" cy="548640"/>
          </a:xfrm>
          <a:prstGeom prst="rect">
            <a:avLst/>
          </a:prstGeom>
          <a:noFill/>
        </p:spPr>
        <p:txBody>
          <a:bodyPr wrap="square">
            <a:spAutoFit/>
          </a:bodyPr>
          <a:lstStyle/>
          <a:p>
            <a:r>
              <a:rPr sz="1800" b="1">
                <a:solidFill>
                  <a:srgbClr val="EB6834"/>
                </a:solidFill>
              </a:rPr>
              <a:t>Why not?</a:t>
            </a:r>
          </a:p>
        </p:txBody>
      </p:sp>
      <p:sp>
        <p:nvSpPr>
          <p:cNvPr id="18" name="TextBox 17"/>
          <p:cNvSpPr txBox="1"/>
          <p:nvPr/>
        </p:nvSpPr>
        <p:spPr>
          <a:xfrm>
            <a:off x="914400" y="5029200"/>
            <a:ext cx="10332720" cy="1097280"/>
          </a:xfrm>
          <a:prstGeom prst="rect">
            <a:avLst/>
          </a:prstGeom>
          <a:noFill/>
        </p:spPr>
        <p:txBody>
          <a:bodyPr wrap="square">
            <a:spAutoFit/>
          </a:bodyPr>
          <a:lstStyle/>
          <a:p>
            <a:r>
              <a:rPr sz="1500">
                <a:solidFill>
                  <a:srgbClr val="636E7A"/>
                </a:solidFill>
              </a:rPr>
              <a:t>Different episodes and a different scikit-learn. Our own reproduction of their method scores 0.5038 at five shots against their published 0.5437 — same code, different draws. Comparing across them would invent an improvement.</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18872"/>
          </a:xfrm>
          <a:prstGeom prst="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310896"/>
            <a:ext cx="10515600" cy="320040"/>
          </a:xfrm>
          <a:prstGeom prst="rect">
            <a:avLst/>
          </a:prstGeom>
          <a:noFill/>
        </p:spPr>
        <p:txBody>
          <a:bodyPr wrap="square">
            <a:spAutoFit/>
          </a:bodyPr>
          <a:lstStyle/>
          <a:p>
            <a:r>
              <a:rPr sz="1100" b="1">
                <a:solidFill>
                  <a:srgbClr val="2A78D6"/>
                </a:solidFill>
                <a:latin typeface="Consolas"/>
              </a:rPr>
              <a:t>STATED, NOT HIDDEN</a:t>
            </a:r>
          </a:p>
        </p:txBody>
      </p:sp>
      <p:sp>
        <p:nvSpPr>
          <p:cNvPr id="4" name="TextBox 3"/>
          <p:cNvSpPr txBox="1"/>
          <p:nvPr/>
        </p:nvSpPr>
        <p:spPr>
          <a:xfrm>
            <a:off x="548640" y="603504"/>
            <a:ext cx="11155680" cy="914400"/>
          </a:xfrm>
          <a:prstGeom prst="rect">
            <a:avLst/>
          </a:prstGeom>
          <a:noFill/>
        </p:spPr>
        <p:txBody>
          <a:bodyPr wrap="square">
            <a:spAutoFit/>
          </a:bodyPr>
          <a:lstStyle/>
          <a:p>
            <a:r>
              <a:rPr sz="3300" b="1">
                <a:solidFill>
                  <a:srgbClr val="141C24"/>
                </a:solidFill>
              </a:rPr>
              <a:t>Limitations</a:t>
            </a:r>
          </a:p>
        </p:txBody>
      </p:sp>
      <p:sp>
        <p:nvSpPr>
          <p:cNvPr id="5" name="TextBox 4"/>
          <p:cNvSpPr txBox="1"/>
          <p:nvPr/>
        </p:nvSpPr>
        <p:spPr>
          <a:xfrm>
            <a:off x="10241280" y="6327648"/>
            <a:ext cx="1554480" cy="320040"/>
          </a:xfrm>
          <a:prstGeom prst="rect">
            <a:avLst/>
          </a:prstGeom>
          <a:noFill/>
        </p:spPr>
        <p:txBody>
          <a:bodyPr wrap="square">
            <a:spAutoFit/>
          </a:bodyPr>
          <a:lstStyle/>
          <a:p>
            <a:pPr algn="r"/>
            <a:r>
              <a:rPr sz="1000">
                <a:solidFill>
                  <a:srgbClr val="636E7A"/>
                </a:solidFill>
              </a:rPr>
              <a:t>M4</a:t>
            </a:r>
          </a:p>
        </p:txBody>
      </p:sp>
      <p:sp>
        <p:nvSpPr>
          <p:cNvPr id="6" name="Rounded Rectangle 5"/>
          <p:cNvSpPr/>
          <p:nvPr/>
        </p:nvSpPr>
        <p:spPr>
          <a:xfrm>
            <a:off x="640080" y="1783080"/>
            <a:ext cx="10881360" cy="621792"/>
          </a:xfrm>
          <a:prstGeom prst="roundRect">
            <a:avLst>
              <a:gd name="adj" fmla="val 6000"/>
            </a:avLst>
          </a:prstGeom>
          <a:solidFill>
            <a:srgbClr val="EEF3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83664"/>
            <a:ext cx="10332720" cy="457200"/>
          </a:xfrm>
          <a:prstGeom prst="rect">
            <a:avLst/>
          </a:prstGeom>
          <a:noFill/>
        </p:spPr>
        <p:txBody>
          <a:bodyPr wrap="square">
            <a:spAutoFit/>
          </a:bodyPr>
          <a:lstStyle/>
          <a:p>
            <a:r>
              <a:rPr sz="1700">
                <a:solidFill>
                  <a:srgbClr val="141C24"/>
                </a:solidFill>
              </a:rPr>
              <a:t>1.   Features still built label-dependently — no hidden-test path yet</a:t>
            </a:r>
          </a:p>
        </p:txBody>
      </p:sp>
      <p:sp>
        <p:nvSpPr>
          <p:cNvPr id="8" name="Rounded Rectangle 7"/>
          <p:cNvSpPr/>
          <p:nvPr/>
        </p:nvSpPr>
        <p:spPr>
          <a:xfrm>
            <a:off x="640080" y="2532888"/>
            <a:ext cx="10881360" cy="621792"/>
          </a:xfrm>
          <a:prstGeom prst="roundRect">
            <a:avLst>
              <a:gd name="adj" fmla="val 6000"/>
            </a:avLst>
          </a:prstGeom>
          <a:solidFill>
            <a:srgbClr val="EEF3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14400" y="2633472"/>
            <a:ext cx="10332720" cy="457200"/>
          </a:xfrm>
          <a:prstGeom prst="rect">
            <a:avLst/>
          </a:prstGeom>
          <a:noFill/>
        </p:spPr>
        <p:txBody>
          <a:bodyPr wrap="square">
            <a:spAutoFit/>
          </a:bodyPr>
          <a:lstStyle/>
          <a:p>
            <a:r>
              <a:rPr sz="1700">
                <a:solidFill>
                  <a:srgbClr val="141C24"/>
                </a:solidFill>
              </a:rPr>
              <a:t>2.   Scaling fitted before cross-validation — not fold-safe</a:t>
            </a:r>
          </a:p>
        </p:txBody>
      </p:sp>
      <p:sp>
        <p:nvSpPr>
          <p:cNvPr id="10" name="Rounded Rectangle 9"/>
          <p:cNvSpPr/>
          <p:nvPr/>
        </p:nvSpPr>
        <p:spPr>
          <a:xfrm>
            <a:off x="640080" y="3282696"/>
            <a:ext cx="10881360" cy="621792"/>
          </a:xfrm>
          <a:prstGeom prst="roundRect">
            <a:avLst>
              <a:gd name="adj" fmla="val 6000"/>
            </a:avLst>
          </a:prstGeom>
          <a:solidFill>
            <a:srgbClr val="EEF3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3383279"/>
            <a:ext cx="10332720" cy="457200"/>
          </a:xfrm>
          <a:prstGeom prst="rect">
            <a:avLst/>
          </a:prstGeom>
          <a:noFill/>
        </p:spPr>
        <p:txBody>
          <a:bodyPr wrap="square">
            <a:spAutoFit/>
          </a:bodyPr>
          <a:lstStyle/>
          <a:p>
            <a:r>
              <a:rPr sz="1700">
                <a:solidFill>
                  <a:srgbClr val="141C24"/>
                </a:solidFill>
              </a:rPr>
              <a:t>3.   λ schedule: five values from five selection trials — overfit risk</a:t>
            </a:r>
          </a:p>
        </p:txBody>
      </p:sp>
      <p:sp>
        <p:nvSpPr>
          <p:cNvPr id="12" name="Rounded Rectangle 11"/>
          <p:cNvSpPr/>
          <p:nvPr/>
        </p:nvSpPr>
        <p:spPr>
          <a:xfrm>
            <a:off x="640080" y="4032504"/>
            <a:ext cx="10881360" cy="621792"/>
          </a:xfrm>
          <a:prstGeom prst="roundRect">
            <a:avLst>
              <a:gd name="adj" fmla="val 6000"/>
            </a:avLst>
          </a:prstGeom>
          <a:solidFill>
            <a:srgbClr val="EEF3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14400" y="4133088"/>
            <a:ext cx="10332720" cy="457200"/>
          </a:xfrm>
          <a:prstGeom prst="rect">
            <a:avLst/>
          </a:prstGeom>
          <a:noFill/>
        </p:spPr>
        <p:txBody>
          <a:bodyPr wrap="square">
            <a:spAutoFit/>
          </a:bodyPr>
          <a:lstStyle/>
          <a:p>
            <a:r>
              <a:rPr sz="1700">
                <a:solidFill>
                  <a:srgbClr val="141C24"/>
                </a:solidFill>
              </a:rPr>
              <a:t>4.   Optimal k moves once (30→45) — weak evidence for a trend</a:t>
            </a:r>
          </a:p>
        </p:txBody>
      </p:sp>
      <p:sp>
        <p:nvSpPr>
          <p:cNvPr id="14" name="Rounded Rectangle 13"/>
          <p:cNvSpPr/>
          <p:nvPr/>
        </p:nvSpPr>
        <p:spPr>
          <a:xfrm>
            <a:off x="640080" y="4782312"/>
            <a:ext cx="10881360" cy="621792"/>
          </a:xfrm>
          <a:prstGeom prst="roundRect">
            <a:avLst>
              <a:gd name="adj" fmla="val 6000"/>
            </a:avLst>
          </a:prstGeom>
          <a:solidFill>
            <a:srgbClr val="EEF3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14400" y="4882896"/>
            <a:ext cx="10332720" cy="457200"/>
          </a:xfrm>
          <a:prstGeom prst="rect">
            <a:avLst/>
          </a:prstGeom>
          <a:noFill/>
        </p:spPr>
        <p:txBody>
          <a:bodyPr wrap="square">
            <a:spAutoFit/>
          </a:bodyPr>
          <a:lstStyle/>
          <a:p>
            <a:r>
              <a:rPr sz="1700">
                <a:solidFill>
                  <a:srgbClr val="141C24"/>
                </a:solidFill>
              </a:rPr>
              <a:t>5.   Near a label-noise ceiling — three independent lines of evidence</a:t>
            </a:r>
          </a:p>
        </p:txBody>
      </p:sp>
      <p:sp>
        <p:nvSpPr>
          <p:cNvPr id="16" name="TextBox 15"/>
          <p:cNvSpPr txBox="1"/>
          <p:nvPr/>
        </p:nvSpPr>
        <p:spPr>
          <a:xfrm>
            <a:off x="640080" y="5715000"/>
            <a:ext cx="10881360" cy="548640"/>
          </a:xfrm>
          <a:prstGeom prst="rect">
            <a:avLst/>
          </a:prstGeom>
          <a:noFill/>
        </p:spPr>
        <p:txBody>
          <a:bodyPr wrap="square">
            <a:spAutoFit/>
          </a:bodyPr>
          <a:lstStyle/>
          <a:p>
            <a:r>
              <a:rPr sz="1600" b="1">
                <a:solidFill>
                  <a:srgbClr val="636E7A"/>
                </a:solidFill>
              </a:rPr>
              <a:t>No claims of worldwide portability. No claims of calibrated confidence.</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E1C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14400" y="1188720"/>
            <a:ext cx="10332720" cy="457200"/>
          </a:xfrm>
          <a:prstGeom prst="rect">
            <a:avLst/>
          </a:prstGeom>
          <a:noFill/>
        </p:spPr>
        <p:txBody>
          <a:bodyPr wrap="square">
            <a:spAutoFit/>
          </a:bodyPr>
          <a:lstStyle/>
          <a:p>
            <a:r>
              <a:rPr sz="1200" b="1">
                <a:solidFill>
                  <a:srgbClr val="8FB8E8"/>
                </a:solidFill>
                <a:latin typeface="Consolas"/>
              </a:rPr>
              <a:t>CONCLUSION</a:t>
            </a:r>
          </a:p>
        </p:txBody>
      </p:sp>
      <p:sp>
        <p:nvSpPr>
          <p:cNvPr id="4" name="TextBox 3"/>
          <p:cNvSpPr txBox="1"/>
          <p:nvPr/>
        </p:nvSpPr>
        <p:spPr>
          <a:xfrm>
            <a:off x="914400" y="1828800"/>
            <a:ext cx="10332720" cy="640080"/>
          </a:xfrm>
          <a:prstGeom prst="rect">
            <a:avLst/>
          </a:prstGeom>
          <a:noFill/>
        </p:spPr>
        <p:txBody>
          <a:bodyPr wrap="square">
            <a:spAutoFit/>
          </a:bodyPr>
          <a:lstStyle/>
          <a:p>
            <a:r>
              <a:rPr sz="2600" b="1">
                <a:solidFill>
                  <a:srgbClr val="FFFFFF"/>
                </a:solidFill>
              </a:rPr>
              <a:t>The starter's transfer transferred nothing. We proved it.</a:t>
            </a:r>
          </a:p>
        </p:txBody>
      </p:sp>
      <p:sp>
        <p:nvSpPr>
          <p:cNvPr id="5" name="TextBox 4"/>
          <p:cNvSpPr txBox="1"/>
          <p:nvPr/>
        </p:nvSpPr>
        <p:spPr>
          <a:xfrm>
            <a:off x="914400" y="2514600"/>
            <a:ext cx="10332720" cy="640080"/>
          </a:xfrm>
          <a:prstGeom prst="rect">
            <a:avLst/>
          </a:prstGeom>
          <a:noFill/>
        </p:spPr>
        <p:txBody>
          <a:bodyPr wrap="square">
            <a:spAutoFit/>
          </a:bodyPr>
          <a:lstStyle/>
          <a:p>
            <a:r>
              <a:rPr sz="2600" b="1">
                <a:solidFill>
                  <a:srgbClr val="FFFFFF"/>
                </a:solidFill>
              </a:rPr>
              <a:t>We built one that does, and measured it honestly.</a:t>
            </a:r>
          </a:p>
        </p:txBody>
      </p:sp>
      <p:sp>
        <p:nvSpPr>
          <p:cNvPr id="6" name="TextBox 5"/>
          <p:cNvSpPr txBox="1"/>
          <p:nvPr/>
        </p:nvSpPr>
        <p:spPr>
          <a:xfrm>
            <a:off x="914400" y="3200400"/>
            <a:ext cx="10332720" cy="640080"/>
          </a:xfrm>
          <a:prstGeom prst="rect">
            <a:avLst/>
          </a:prstGeom>
          <a:noFill/>
        </p:spPr>
        <p:txBody>
          <a:bodyPr wrap="square">
            <a:spAutoFit/>
          </a:bodyPr>
          <a:lstStyle/>
          <a:p>
            <a:r>
              <a:rPr sz="2600" b="1">
                <a:solidFill>
                  <a:srgbClr val="FFFFFF"/>
                </a:solidFill>
              </a:rPr>
              <a:t>Better at every budget. +9.7% where data is scarcest.</a:t>
            </a:r>
          </a:p>
        </p:txBody>
      </p:sp>
      <p:sp>
        <p:nvSpPr>
          <p:cNvPr id="7" name="TextBox 6"/>
          <p:cNvSpPr txBox="1"/>
          <p:nvPr/>
        </p:nvSpPr>
        <p:spPr>
          <a:xfrm>
            <a:off x="914400" y="4389120"/>
            <a:ext cx="10332720" cy="914400"/>
          </a:xfrm>
          <a:prstGeom prst="rect">
            <a:avLst/>
          </a:prstGeom>
          <a:noFill/>
        </p:spPr>
        <p:txBody>
          <a:bodyPr wrap="square">
            <a:spAutoFit/>
          </a:bodyPr>
          <a:lstStyle/>
          <a:p>
            <a:r>
              <a:rPr sz="3000" b="1">
                <a:solidFill>
                  <a:srgbClr val="6FA8E8"/>
                </a:solidFill>
              </a:rPr>
              <a:t>A number without a mechanism is not a finding.</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18872"/>
          </a:xfrm>
          <a:prstGeom prst="rect">
            <a:avLst/>
          </a:prstGeom>
          <a:solidFill>
            <a:srgbClr val="636E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310896"/>
            <a:ext cx="10515600" cy="320040"/>
          </a:xfrm>
          <a:prstGeom prst="rect">
            <a:avLst/>
          </a:prstGeom>
          <a:noFill/>
        </p:spPr>
        <p:txBody>
          <a:bodyPr wrap="square">
            <a:spAutoFit/>
          </a:bodyPr>
          <a:lstStyle/>
          <a:p>
            <a:r>
              <a:rPr sz="1100" b="1">
                <a:solidFill>
                  <a:srgbClr val="636E7A"/>
                </a:solidFill>
                <a:latin typeface="Consolas"/>
              </a:rPr>
              <a:t>BACKUP</a:t>
            </a:r>
          </a:p>
        </p:txBody>
      </p:sp>
      <p:sp>
        <p:nvSpPr>
          <p:cNvPr id="4" name="TextBox 3"/>
          <p:cNvSpPr txBox="1"/>
          <p:nvPr/>
        </p:nvSpPr>
        <p:spPr>
          <a:xfrm>
            <a:off x="548640" y="603504"/>
            <a:ext cx="11155680" cy="914400"/>
          </a:xfrm>
          <a:prstGeom prst="rect">
            <a:avLst/>
          </a:prstGeom>
          <a:noFill/>
        </p:spPr>
        <p:txBody>
          <a:bodyPr wrap="square">
            <a:spAutoFit/>
          </a:bodyPr>
          <a:lstStyle/>
          <a:p>
            <a:r>
              <a:rPr sz="3300" b="1">
                <a:solidFill>
                  <a:srgbClr val="141C24"/>
                </a:solidFill>
              </a:rPr>
              <a:t>Reproducibility</a:t>
            </a:r>
          </a:p>
        </p:txBody>
      </p:sp>
      <p:sp>
        <p:nvSpPr>
          <p:cNvPr id="5" name="Oval 4"/>
          <p:cNvSpPr/>
          <p:nvPr/>
        </p:nvSpPr>
        <p:spPr>
          <a:xfrm>
            <a:off x="640080" y="1901952"/>
            <a:ext cx="100584" cy="100584"/>
          </a:xfrm>
          <a:prstGeom prst="ellipse">
            <a:avLst/>
          </a:prstGeom>
          <a:solidFill>
            <a:srgbClr val="636E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32688" y="1783080"/>
            <a:ext cx="10332720" cy="411480"/>
          </a:xfrm>
          <a:prstGeom prst="rect">
            <a:avLst/>
          </a:prstGeom>
          <a:noFill/>
        </p:spPr>
        <p:txBody>
          <a:bodyPr wrap="square">
            <a:spAutoFit/>
          </a:bodyPr>
          <a:lstStyle/>
          <a:p>
            <a:r>
              <a:rPr sz="1700">
                <a:solidFill>
                  <a:srgbClr val="141C24"/>
                </a:solidFill>
              </a:rPr>
              <a:t>requirements.txt pins the exact stack</a:t>
            </a:r>
          </a:p>
        </p:txBody>
      </p:sp>
      <p:sp>
        <p:nvSpPr>
          <p:cNvPr id="7" name="Oval 6"/>
          <p:cNvSpPr/>
          <p:nvPr/>
        </p:nvSpPr>
        <p:spPr>
          <a:xfrm>
            <a:off x="640080" y="2377439"/>
            <a:ext cx="100584" cy="100584"/>
          </a:xfrm>
          <a:prstGeom prst="ellipse">
            <a:avLst/>
          </a:prstGeom>
          <a:solidFill>
            <a:srgbClr val="636E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32688" y="2258568"/>
            <a:ext cx="10332720" cy="411480"/>
          </a:xfrm>
          <a:prstGeom prst="rect">
            <a:avLst/>
          </a:prstGeom>
          <a:noFill/>
        </p:spPr>
        <p:txBody>
          <a:bodyPr wrap="square">
            <a:spAutoFit/>
          </a:bodyPr>
          <a:lstStyle/>
          <a:p>
            <a:r>
              <a:rPr sz="1700">
                <a:solidFill>
                  <a:srgbClr val="141C24"/>
                </a:solidFill>
              </a:rPr>
              <a:t>Raw data + feature cache SHA256 recorded</a:t>
            </a:r>
          </a:p>
        </p:txBody>
      </p:sp>
      <p:sp>
        <p:nvSpPr>
          <p:cNvPr id="9" name="Oval 8"/>
          <p:cNvSpPr/>
          <p:nvPr/>
        </p:nvSpPr>
        <p:spPr>
          <a:xfrm>
            <a:off x="640080" y="2852928"/>
            <a:ext cx="100584" cy="100584"/>
          </a:xfrm>
          <a:prstGeom prst="ellipse">
            <a:avLst/>
          </a:prstGeom>
          <a:solidFill>
            <a:srgbClr val="636E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32688" y="2734056"/>
            <a:ext cx="10332720" cy="411480"/>
          </a:xfrm>
          <a:prstGeom prst="rect">
            <a:avLst/>
          </a:prstGeom>
          <a:noFill/>
        </p:spPr>
        <p:txBody>
          <a:bodyPr wrap="square">
            <a:spAutoFit/>
          </a:bodyPr>
          <a:lstStyle/>
          <a:p>
            <a:r>
              <a:rPr sz="1700">
                <a:solidFill>
                  <a:srgbClr val="141C24"/>
                </a:solidFill>
              </a:rPr>
              <a:t>Episode indices stored, not regenerated from a seed</a:t>
            </a:r>
          </a:p>
        </p:txBody>
      </p:sp>
      <p:sp>
        <p:nvSpPr>
          <p:cNvPr id="11" name="Oval 10"/>
          <p:cNvSpPr/>
          <p:nvPr/>
        </p:nvSpPr>
        <p:spPr>
          <a:xfrm>
            <a:off x="640080" y="3328415"/>
            <a:ext cx="100584" cy="100584"/>
          </a:xfrm>
          <a:prstGeom prst="ellipse">
            <a:avLst/>
          </a:prstGeom>
          <a:solidFill>
            <a:srgbClr val="636E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32688" y="3209544"/>
            <a:ext cx="10332720" cy="411480"/>
          </a:xfrm>
          <a:prstGeom prst="rect">
            <a:avLst/>
          </a:prstGeom>
          <a:noFill/>
        </p:spPr>
        <p:txBody>
          <a:bodyPr wrap="square">
            <a:spAutoFit/>
          </a:bodyPr>
          <a:lstStyle/>
          <a:p>
            <a:r>
              <a:rPr sz="1700">
                <a:solidFill>
                  <a:srgbClr val="141C24"/>
                </a:solidFill>
              </a:rPr>
              <a:t>Stage 1 artifact 3 KB · reload test 17/17 in a clean session</a:t>
            </a:r>
          </a:p>
        </p:txBody>
      </p:sp>
      <p:sp>
        <p:nvSpPr>
          <p:cNvPr id="13" name="Oval 12"/>
          <p:cNvSpPr/>
          <p:nvPr/>
        </p:nvSpPr>
        <p:spPr>
          <a:xfrm>
            <a:off x="640080" y="3803904"/>
            <a:ext cx="100584" cy="100584"/>
          </a:xfrm>
          <a:prstGeom prst="ellipse">
            <a:avLst/>
          </a:prstGeom>
          <a:solidFill>
            <a:srgbClr val="636E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32688" y="3685032"/>
            <a:ext cx="10332720" cy="411480"/>
          </a:xfrm>
          <a:prstGeom prst="rect">
            <a:avLst/>
          </a:prstGeom>
          <a:noFill/>
        </p:spPr>
        <p:txBody>
          <a:bodyPr wrap="square">
            <a:spAutoFit/>
          </a:bodyPr>
          <a:lstStyle/>
          <a:p>
            <a:r>
              <a:rPr sz="1700">
                <a:solidFill>
                  <a:srgbClr val="141C24"/>
                </a:solidFill>
              </a:rPr>
              <a:t>Seeds fixed throughout · 12 commits · tagged</a:t>
            </a:r>
          </a:p>
        </p:txBody>
      </p:sp>
      <p:sp>
        <p:nvSpPr>
          <p:cNvPr id="15" name="Oval 14"/>
          <p:cNvSpPr/>
          <p:nvPr/>
        </p:nvSpPr>
        <p:spPr>
          <a:xfrm>
            <a:off x="640080" y="4279392"/>
            <a:ext cx="100584" cy="100584"/>
          </a:xfrm>
          <a:prstGeom prst="ellipse">
            <a:avLst/>
          </a:prstGeom>
          <a:solidFill>
            <a:srgbClr val="636E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32688" y="4160520"/>
            <a:ext cx="10332720" cy="411480"/>
          </a:xfrm>
          <a:prstGeom prst="rect">
            <a:avLst/>
          </a:prstGeom>
          <a:noFill/>
        </p:spPr>
        <p:txBody>
          <a:bodyPr wrap="square">
            <a:spAutoFit/>
          </a:bodyPr>
          <a:lstStyle/>
          <a:p>
            <a:r>
              <a:rPr sz="1700">
                <a:solidFill>
                  <a:srgbClr val="141C24"/>
                </a:solidFill>
              </a:rPr>
              <a:t>Cold-start reproduction: ~35 minutes</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18872"/>
          </a:xfrm>
          <a:prstGeom prst="rect">
            <a:avLst/>
          </a:prstGeom>
          <a:solidFill>
            <a:srgbClr val="636E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310896"/>
            <a:ext cx="10515600" cy="320040"/>
          </a:xfrm>
          <a:prstGeom prst="rect">
            <a:avLst/>
          </a:prstGeom>
          <a:noFill/>
        </p:spPr>
        <p:txBody>
          <a:bodyPr wrap="square">
            <a:spAutoFit/>
          </a:bodyPr>
          <a:lstStyle/>
          <a:p>
            <a:r>
              <a:rPr sz="1100" b="1">
                <a:solidFill>
                  <a:srgbClr val="636E7A"/>
                </a:solidFill>
                <a:latin typeface="Consolas"/>
              </a:rPr>
              <a:t>BACKUP</a:t>
            </a:r>
          </a:p>
        </p:txBody>
      </p:sp>
      <p:sp>
        <p:nvSpPr>
          <p:cNvPr id="4" name="TextBox 3"/>
          <p:cNvSpPr txBox="1"/>
          <p:nvPr/>
        </p:nvSpPr>
        <p:spPr>
          <a:xfrm>
            <a:off x="548640" y="603504"/>
            <a:ext cx="11155680" cy="914400"/>
          </a:xfrm>
          <a:prstGeom prst="rect">
            <a:avLst/>
          </a:prstGeom>
          <a:noFill/>
        </p:spPr>
        <p:txBody>
          <a:bodyPr wrap="square">
            <a:spAutoFit/>
          </a:bodyPr>
          <a:lstStyle/>
          <a:p>
            <a:r>
              <a:rPr sz="3300" b="1">
                <a:solidFill>
                  <a:srgbClr val="141C24"/>
                </a:solidFill>
              </a:rPr>
              <a:t>Why our baseline differs from the organiser's</a:t>
            </a:r>
          </a:p>
        </p:txBody>
      </p:sp>
      <p:sp>
        <p:nvSpPr>
          <p:cNvPr id="5" name="Oval 4"/>
          <p:cNvSpPr/>
          <p:nvPr/>
        </p:nvSpPr>
        <p:spPr>
          <a:xfrm>
            <a:off x="640080" y="1901952"/>
            <a:ext cx="100584" cy="100584"/>
          </a:xfrm>
          <a:prstGeom prst="ellipse">
            <a:avLst/>
          </a:prstGeom>
          <a:solidFill>
            <a:srgbClr val="636E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32688" y="1783080"/>
            <a:ext cx="10332720" cy="411480"/>
          </a:xfrm>
          <a:prstGeom prst="rect">
            <a:avLst/>
          </a:prstGeom>
          <a:noFill/>
        </p:spPr>
        <p:txBody>
          <a:bodyPr wrap="square">
            <a:spAutoFit/>
          </a:bodyPr>
          <a:lstStyle/>
          <a:p>
            <a:r>
              <a:rPr sz="1700">
                <a:solidFill>
                  <a:srgbClr val="141C24"/>
                </a:solidFill>
              </a:rPr>
              <a:t>All six prototype budgets match them to 4 decimal places</a:t>
            </a:r>
          </a:p>
        </p:txBody>
      </p:sp>
      <p:sp>
        <p:nvSpPr>
          <p:cNvPr id="7" name="Oval 6"/>
          <p:cNvSpPr/>
          <p:nvPr/>
        </p:nvSpPr>
        <p:spPr>
          <a:xfrm>
            <a:off x="640080" y="2377439"/>
            <a:ext cx="100584" cy="100584"/>
          </a:xfrm>
          <a:prstGeom prst="ellipse">
            <a:avLst/>
          </a:prstGeom>
          <a:solidFill>
            <a:srgbClr val="636E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32688" y="2258568"/>
            <a:ext cx="10332720" cy="411480"/>
          </a:xfrm>
          <a:prstGeom prst="rect">
            <a:avLst/>
          </a:prstGeom>
          <a:noFill/>
        </p:spPr>
        <p:txBody>
          <a:bodyPr wrap="square">
            <a:spAutoFit/>
          </a:bodyPr>
          <a:lstStyle/>
          <a:p>
            <a:r>
              <a:rPr sz="1700">
                <a:solidFill>
                  <a:srgbClr val="141C24"/>
                </a:solidFill>
              </a:rPr>
              <a:t>Both Random-Forest results differ: +0.0102 and +0.1006</a:t>
            </a:r>
          </a:p>
        </p:txBody>
      </p:sp>
      <p:sp>
        <p:nvSpPr>
          <p:cNvPr id="9" name="Oval 8"/>
          <p:cNvSpPr/>
          <p:nvPr/>
        </p:nvSpPr>
        <p:spPr>
          <a:xfrm>
            <a:off x="640080" y="2852928"/>
            <a:ext cx="100584" cy="100584"/>
          </a:xfrm>
          <a:prstGeom prst="ellipse">
            <a:avLst/>
          </a:prstGeom>
          <a:solidFill>
            <a:srgbClr val="636E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32688" y="2734056"/>
            <a:ext cx="10332720" cy="411480"/>
          </a:xfrm>
          <a:prstGeom prst="rect">
            <a:avLst/>
          </a:prstGeom>
          <a:noFill/>
        </p:spPr>
        <p:txBody>
          <a:bodyPr wrap="square">
            <a:spAutoFit/>
          </a:bodyPr>
          <a:lstStyle/>
          <a:p>
            <a:r>
              <a:rPr sz="1700">
                <a:solidFill>
                  <a:srgbClr val="141C24"/>
                </a:solidFill>
              </a:rPr>
              <a:t>The prototype path never uses the forest — it isolates the cause</a:t>
            </a:r>
          </a:p>
        </p:txBody>
      </p:sp>
      <p:sp>
        <p:nvSpPr>
          <p:cNvPr id="11" name="Oval 10"/>
          <p:cNvSpPr/>
          <p:nvPr/>
        </p:nvSpPr>
        <p:spPr>
          <a:xfrm>
            <a:off x="640080" y="3328415"/>
            <a:ext cx="100584" cy="100584"/>
          </a:xfrm>
          <a:prstGeom prst="ellipse">
            <a:avLst/>
          </a:prstGeom>
          <a:solidFill>
            <a:srgbClr val="636E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32688" y="3209544"/>
            <a:ext cx="10332720" cy="411480"/>
          </a:xfrm>
          <a:prstGeom prst="rect">
            <a:avLst/>
          </a:prstGeom>
          <a:noFill/>
        </p:spPr>
        <p:txBody>
          <a:bodyPr wrap="square">
            <a:spAutoFit/>
          </a:bodyPr>
          <a:lstStyle/>
          <a:p>
            <a:r>
              <a:rPr sz="1700">
                <a:solidFill>
                  <a:srgbClr val="141C24"/>
                </a:solidFill>
              </a:rPr>
              <a:t>Determinism: 0 of 25,992 predictions differ across two refits</a:t>
            </a:r>
          </a:p>
        </p:txBody>
      </p:sp>
      <p:sp>
        <p:nvSpPr>
          <p:cNvPr id="13" name="Oval 12"/>
          <p:cNvSpPr/>
          <p:nvPr/>
        </p:nvSpPr>
        <p:spPr>
          <a:xfrm>
            <a:off x="640080" y="3803904"/>
            <a:ext cx="100584" cy="100584"/>
          </a:xfrm>
          <a:prstGeom prst="ellipse">
            <a:avLst/>
          </a:prstGeom>
          <a:solidFill>
            <a:srgbClr val="636E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32688" y="3685032"/>
            <a:ext cx="10332720" cy="411480"/>
          </a:xfrm>
          <a:prstGeom prst="rect">
            <a:avLst/>
          </a:prstGeom>
          <a:noFill/>
        </p:spPr>
        <p:txBody>
          <a:bodyPr wrap="square">
            <a:spAutoFit/>
          </a:bodyPr>
          <a:lstStyle/>
          <a:p>
            <a:r>
              <a:rPr sz="1700">
                <a:solidFill>
                  <a:srgbClr val="141C24"/>
                </a:solidFill>
              </a:rPr>
              <a:t>Still inferred, not measured — we did not install their version</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18872"/>
          </a:xfrm>
          <a:prstGeom prst="rect">
            <a:avLst/>
          </a:prstGeom>
          <a:solidFill>
            <a:srgbClr val="636E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310896"/>
            <a:ext cx="10515600" cy="320040"/>
          </a:xfrm>
          <a:prstGeom prst="rect">
            <a:avLst/>
          </a:prstGeom>
          <a:noFill/>
        </p:spPr>
        <p:txBody>
          <a:bodyPr wrap="square">
            <a:spAutoFit/>
          </a:bodyPr>
          <a:lstStyle/>
          <a:p>
            <a:r>
              <a:rPr sz="1100" b="1">
                <a:solidFill>
                  <a:srgbClr val="636E7A"/>
                </a:solidFill>
                <a:latin typeface="Consolas"/>
              </a:rPr>
              <a:t>BACKUP</a:t>
            </a:r>
          </a:p>
        </p:txBody>
      </p:sp>
      <p:sp>
        <p:nvSpPr>
          <p:cNvPr id="4" name="TextBox 3"/>
          <p:cNvSpPr txBox="1"/>
          <p:nvPr/>
        </p:nvSpPr>
        <p:spPr>
          <a:xfrm>
            <a:off x="548640" y="603504"/>
            <a:ext cx="11155680" cy="914400"/>
          </a:xfrm>
          <a:prstGeom prst="rect">
            <a:avLst/>
          </a:prstGeom>
          <a:noFill/>
        </p:spPr>
        <p:txBody>
          <a:bodyPr wrap="square">
            <a:spAutoFit/>
          </a:bodyPr>
          <a:lstStyle/>
          <a:p>
            <a:r>
              <a:rPr sz="3300" b="1">
                <a:solidFill>
                  <a:srgbClr val="141C24"/>
                </a:solidFill>
              </a:rPr>
              <a:t>A 70-day seasonal offset between the cities</a:t>
            </a:r>
          </a:p>
        </p:txBody>
      </p:sp>
      <p:pic>
        <p:nvPicPr>
          <p:cNvPr id="5" name="Picture 4" descr="fig7_season_offset.png"/>
          <p:cNvPicPr>
            <a:picLocks noChangeAspect="1"/>
          </p:cNvPicPr>
          <p:nvPr/>
        </p:nvPicPr>
        <p:blipFill>
          <a:blip r:embed="rId2"/>
          <a:stretch>
            <a:fillRect/>
          </a:stretch>
        </p:blipFill>
        <p:spPr>
          <a:xfrm>
            <a:off x="640080" y="1737360"/>
            <a:ext cx="6405100" cy="4023360"/>
          </a:xfrm>
          <a:prstGeom prst="rect">
            <a:avLst/>
          </a:prstGeom>
        </p:spPr>
      </p:pic>
      <p:sp>
        <p:nvSpPr>
          <p:cNvPr id="6" name="Oval 5"/>
          <p:cNvSpPr/>
          <p:nvPr/>
        </p:nvSpPr>
        <p:spPr>
          <a:xfrm>
            <a:off x="5852160" y="1993391"/>
            <a:ext cx="100584" cy="100584"/>
          </a:xfrm>
          <a:prstGeom prst="ellipse">
            <a:avLst/>
          </a:prstGeom>
          <a:solidFill>
            <a:srgbClr val="636E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144768" y="1874519"/>
            <a:ext cx="5120640" cy="411480"/>
          </a:xfrm>
          <a:prstGeom prst="rect">
            <a:avLst/>
          </a:prstGeom>
          <a:noFill/>
        </p:spPr>
        <p:txBody>
          <a:bodyPr wrap="square">
            <a:spAutoFit/>
          </a:bodyPr>
          <a:lstStyle/>
          <a:p>
            <a:r>
              <a:rPr sz="1500">
                <a:solidFill>
                  <a:srgbClr val="141C24"/>
                </a:solidFill>
              </a:rPr>
              <a:t>Madrid median day 175 · Amsterdam day 105</a:t>
            </a:r>
          </a:p>
        </p:txBody>
      </p:sp>
      <p:sp>
        <p:nvSpPr>
          <p:cNvPr id="8" name="Oval 7"/>
          <p:cNvSpPr/>
          <p:nvPr/>
        </p:nvSpPr>
        <p:spPr>
          <a:xfrm>
            <a:off x="5852160" y="2414015"/>
            <a:ext cx="100584" cy="100584"/>
          </a:xfrm>
          <a:prstGeom prst="ellipse">
            <a:avLst/>
          </a:prstGeom>
          <a:solidFill>
            <a:srgbClr val="636E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144768" y="2295144"/>
            <a:ext cx="5120640" cy="411480"/>
          </a:xfrm>
          <a:prstGeom prst="rect">
            <a:avLst/>
          </a:prstGeom>
          <a:noFill/>
        </p:spPr>
        <p:txBody>
          <a:bodyPr wrap="square">
            <a:spAutoFit/>
          </a:bodyPr>
          <a:lstStyle/>
          <a:p>
            <a:r>
              <a:rPr sz="1500">
                <a:solidFill>
                  <a:srgbClr val="141C24"/>
                </a:solidFill>
              </a:rPr>
              <a:t>June–August: 48.3% vs 20.5%</a:t>
            </a:r>
          </a:p>
        </p:txBody>
      </p:sp>
      <p:sp>
        <p:nvSpPr>
          <p:cNvPr id="10" name="Oval 9"/>
          <p:cNvSpPr/>
          <p:nvPr/>
        </p:nvSpPr>
        <p:spPr>
          <a:xfrm>
            <a:off x="5852160" y="2834639"/>
            <a:ext cx="100584" cy="100584"/>
          </a:xfrm>
          <a:prstGeom prst="ellipse">
            <a:avLst/>
          </a:prstGeom>
          <a:solidFill>
            <a:srgbClr val="636E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144768" y="2715768"/>
            <a:ext cx="5120640" cy="411480"/>
          </a:xfrm>
          <a:prstGeom prst="rect">
            <a:avLst/>
          </a:prstGeom>
          <a:noFill/>
        </p:spPr>
        <p:txBody>
          <a:bodyPr wrap="square">
            <a:spAutoFit/>
          </a:bodyPr>
          <a:lstStyle/>
          <a:p>
            <a:r>
              <a:rPr sz="1500">
                <a:solidFill>
                  <a:srgbClr val="141C24"/>
                </a:solidFill>
              </a:rPr>
              <a:t>Part of the domain shift is phenology, not architecture</a:t>
            </a:r>
          </a:p>
        </p:txBody>
      </p:sp>
      <p:sp>
        <p:nvSpPr>
          <p:cNvPr id="12" name="Oval 11"/>
          <p:cNvSpPr/>
          <p:nvPr/>
        </p:nvSpPr>
        <p:spPr>
          <a:xfrm>
            <a:off x="5852160" y="3255263"/>
            <a:ext cx="100584" cy="100584"/>
          </a:xfrm>
          <a:prstGeom prst="ellipse">
            <a:avLst/>
          </a:prstGeom>
          <a:solidFill>
            <a:srgbClr val="636E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144768" y="3136391"/>
            <a:ext cx="5120640" cy="411480"/>
          </a:xfrm>
          <a:prstGeom prst="rect">
            <a:avLst/>
          </a:prstGeom>
          <a:noFill/>
        </p:spPr>
        <p:txBody>
          <a:bodyPr wrap="square">
            <a:spAutoFit/>
          </a:bodyPr>
          <a:lstStyle/>
          <a:p>
            <a:r>
              <a:rPr sz="1500">
                <a:solidFill>
                  <a:srgbClr val="141C24"/>
                </a:solidFill>
              </a:rPr>
              <a:t>We rebuilt features to control for it</a:t>
            </a:r>
          </a:p>
        </p:txBody>
      </p:sp>
      <p:sp>
        <p:nvSpPr>
          <p:cNvPr id="14" name="Oval 13"/>
          <p:cNvSpPr/>
          <p:nvPr/>
        </p:nvSpPr>
        <p:spPr>
          <a:xfrm>
            <a:off x="5852160" y="3675887"/>
            <a:ext cx="100584" cy="100584"/>
          </a:xfrm>
          <a:prstGeom prst="ellipse">
            <a:avLst/>
          </a:prstGeom>
          <a:solidFill>
            <a:srgbClr val="636E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144768" y="3557015"/>
            <a:ext cx="5120640" cy="411480"/>
          </a:xfrm>
          <a:prstGeom prst="rect">
            <a:avLst/>
          </a:prstGeom>
          <a:noFill/>
        </p:spPr>
        <p:txBody>
          <a:bodyPr wrap="square">
            <a:spAutoFit/>
          </a:bodyPr>
          <a:lstStyle/>
          <a:p>
            <a:r>
              <a:rPr sz="1500">
                <a:solidFill>
                  <a:srgbClr val="141C24"/>
                </a:solidFill>
              </a:rPr>
              <a:t>It did not help — dilution outweighed the correction</a:t>
            </a:r>
          </a:p>
        </p:txBody>
      </p:sp>
      <p:sp>
        <p:nvSpPr>
          <p:cNvPr id="16" name="Oval 15"/>
          <p:cNvSpPr/>
          <p:nvPr/>
        </p:nvSpPr>
        <p:spPr>
          <a:xfrm>
            <a:off x="5852160" y="4096511"/>
            <a:ext cx="100584" cy="100584"/>
          </a:xfrm>
          <a:prstGeom prst="ellipse">
            <a:avLst/>
          </a:prstGeom>
          <a:solidFill>
            <a:srgbClr val="636E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144768" y="3977639"/>
            <a:ext cx="5120640" cy="411480"/>
          </a:xfrm>
          <a:prstGeom prst="rect">
            <a:avLst/>
          </a:prstGeom>
          <a:noFill/>
        </p:spPr>
        <p:txBody>
          <a:bodyPr wrap="square">
            <a:spAutoFit/>
          </a:bodyPr>
          <a:lstStyle/>
          <a:p>
            <a:r>
              <a:rPr sz="1500">
                <a:solidFill>
                  <a:srgbClr val="141C24"/>
                </a:solidFill>
              </a:rPr>
              <a:t>Reported as a measured finding with a negative test</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18872"/>
          </a:xfrm>
          <a:prstGeom prst="rect">
            <a:avLst/>
          </a:prstGeom>
          <a:solidFill>
            <a:srgbClr val="636E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310896"/>
            <a:ext cx="10515600" cy="320040"/>
          </a:xfrm>
          <a:prstGeom prst="rect">
            <a:avLst/>
          </a:prstGeom>
          <a:noFill/>
        </p:spPr>
        <p:txBody>
          <a:bodyPr wrap="square">
            <a:spAutoFit/>
          </a:bodyPr>
          <a:lstStyle/>
          <a:p>
            <a:r>
              <a:rPr sz="1100" b="1">
                <a:solidFill>
                  <a:srgbClr val="636E7A"/>
                </a:solidFill>
                <a:latin typeface="Consolas"/>
              </a:rPr>
              <a:t>BACKUP</a:t>
            </a:r>
          </a:p>
        </p:txBody>
      </p:sp>
      <p:sp>
        <p:nvSpPr>
          <p:cNvPr id="4" name="TextBox 3"/>
          <p:cNvSpPr txBox="1"/>
          <p:nvPr/>
        </p:nvSpPr>
        <p:spPr>
          <a:xfrm>
            <a:off x="548640" y="603504"/>
            <a:ext cx="11155680" cy="914400"/>
          </a:xfrm>
          <a:prstGeom prst="rect">
            <a:avLst/>
          </a:prstGeom>
          <a:noFill/>
        </p:spPr>
        <p:txBody>
          <a:bodyPr wrap="square">
            <a:spAutoFit/>
          </a:bodyPr>
          <a:lstStyle/>
          <a:p>
            <a:r>
              <a:rPr sz="3300" b="1">
                <a:solidFill>
                  <a:srgbClr val="141C24"/>
                </a:solidFill>
              </a:rPr>
              <a:t>The episode protocol</a:t>
            </a:r>
          </a:p>
        </p:txBody>
      </p:sp>
      <p:sp>
        <p:nvSpPr>
          <p:cNvPr id="5" name="Oval 4"/>
          <p:cNvSpPr/>
          <p:nvPr/>
        </p:nvSpPr>
        <p:spPr>
          <a:xfrm>
            <a:off x="640080" y="1901952"/>
            <a:ext cx="100584" cy="100584"/>
          </a:xfrm>
          <a:prstGeom prst="ellipse">
            <a:avLst/>
          </a:prstGeom>
          <a:solidFill>
            <a:srgbClr val="636E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32688" y="1783080"/>
            <a:ext cx="10332720" cy="411480"/>
          </a:xfrm>
          <a:prstGeom prst="rect">
            <a:avLst/>
          </a:prstGeom>
          <a:noFill/>
        </p:spPr>
        <p:txBody>
          <a:bodyPr wrap="square">
            <a:spAutoFit/>
          </a:bodyPr>
          <a:lstStyle/>
          <a:p>
            <a:r>
              <a:rPr sz="1700">
                <a:solidFill>
                  <a:srgbClr val="141C24"/>
                </a:solidFill>
              </a:rPr>
              <a:t>One permutation per class per trial; budgets read prefixes</a:t>
            </a:r>
          </a:p>
        </p:txBody>
      </p:sp>
      <p:sp>
        <p:nvSpPr>
          <p:cNvPr id="7" name="Oval 6"/>
          <p:cNvSpPr/>
          <p:nvPr/>
        </p:nvSpPr>
        <p:spPr>
          <a:xfrm>
            <a:off x="640080" y="2377439"/>
            <a:ext cx="100584" cy="100584"/>
          </a:xfrm>
          <a:prstGeom prst="ellipse">
            <a:avLst/>
          </a:prstGeom>
          <a:solidFill>
            <a:srgbClr val="636E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32688" y="2258568"/>
            <a:ext cx="10332720" cy="411480"/>
          </a:xfrm>
          <a:prstGeom prst="rect">
            <a:avLst/>
          </a:prstGeom>
          <a:noFill/>
        </p:spPr>
        <p:txBody>
          <a:bodyPr wrap="square">
            <a:spAutoFit/>
          </a:bodyPr>
          <a:lstStyle/>
          <a:p>
            <a:r>
              <a:rPr sz="1700">
                <a:solidFill>
                  <a:srgbClr val="141C24"/>
                </a:solidFill>
              </a:rPr>
              <a:t>So budgets are nested: support(5) ⊂ support(25) ⊂ …</a:t>
            </a:r>
          </a:p>
        </p:txBody>
      </p:sp>
      <p:sp>
        <p:nvSpPr>
          <p:cNvPr id="9" name="Oval 8"/>
          <p:cNvSpPr/>
          <p:nvPr/>
        </p:nvSpPr>
        <p:spPr>
          <a:xfrm>
            <a:off x="640080" y="2852928"/>
            <a:ext cx="100584" cy="100584"/>
          </a:xfrm>
          <a:prstGeom prst="ellipse">
            <a:avLst/>
          </a:prstGeom>
          <a:solidFill>
            <a:srgbClr val="636E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32688" y="2734056"/>
            <a:ext cx="10332720" cy="411480"/>
          </a:xfrm>
          <a:prstGeom prst="rect">
            <a:avLst/>
          </a:prstGeom>
          <a:noFill/>
        </p:spPr>
        <p:txBody>
          <a:bodyPr wrap="square">
            <a:spAutoFit/>
          </a:bodyPr>
          <a:lstStyle/>
          <a:p>
            <a:r>
              <a:rPr sz="1700">
                <a:solidFill>
                  <a:srgbClr val="141C24"/>
                </a:solidFill>
              </a:rPr>
              <a:t>Support and query disjoint, verified in code every episode</a:t>
            </a:r>
          </a:p>
        </p:txBody>
      </p:sp>
      <p:sp>
        <p:nvSpPr>
          <p:cNvPr id="11" name="Oval 10"/>
          <p:cNvSpPr/>
          <p:nvPr/>
        </p:nvSpPr>
        <p:spPr>
          <a:xfrm>
            <a:off x="640080" y="3328415"/>
            <a:ext cx="100584" cy="100584"/>
          </a:xfrm>
          <a:prstGeom prst="ellipse">
            <a:avLst/>
          </a:prstGeom>
          <a:solidFill>
            <a:srgbClr val="636E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32688" y="3209544"/>
            <a:ext cx="10332720" cy="411480"/>
          </a:xfrm>
          <a:prstGeom prst="rect">
            <a:avLst/>
          </a:prstGeom>
          <a:noFill/>
        </p:spPr>
        <p:txBody>
          <a:bodyPr wrap="square">
            <a:spAutoFit/>
          </a:bodyPr>
          <a:lstStyle/>
          <a:p>
            <a:r>
              <a:rPr sz="1700">
                <a:solidFill>
                  <a:srgbClr val="141C24"/>
                </a:solidFill>
              </a:rPr>
              <a:t>Selection and audit sets never overlap</a:t>
            </a:r>
          </a:p>
        </p:txBody>
      </p:sp>
      <p:sp>
        <p:nvSpPr>
          <p:cNvPr id="13" name="Oval 12"/>
          <p:cNvSpPr/>
          <p:nvPr/>
        </p:nvSpPr>
        <p:spPr>
          <a:xfrm>
            <a:off x="640080" y="3803904"/>
            <a:ext cx="100584" cy="100584"/>
          </a:xfrm>
          <a:prstGeom prst="ellipse">
            <a:avLst/>
          </a:prstGeom>
          <a:solidFill>
            <a:srgbClr val="636E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32688" y="3685032"/>
            <a:ext cx="10332720" cy="411480"/>
          </a:xfrm>
          <a:prstGeom prst="rect">
            <a:avLst/>
          </a:prstGeom>
          <a:noFill/>
        </p:spPr>
        <p:txBody>
          <a:bodyPr wrap="square">
            <a:spAutoFit/>
          </a:bodyPr>
          <a:lstStyle/>
          <a:p>
            <a:r>
              <a:rPr sz="1700">
                <a:solidFill>
                  <a:srgbClr val="141C24"/>
                </a:solidFill>
              </a:rPr>
              <a:t>Four independent seeds used across the project</a:t>
            </a:r>
          </a:p>
        </p:txBody>
      </p:sp>
      <p:sp>
        <p:nvSpPr>
          <p:cNvPr id="15" name="Oval 14"/>
          <p:cNvSpPr/>
          <p:nvPr/>
        </p:nvSpPr>
        <p:spPr>
          <a:xfrm>
            <a:off x="640080" y="4279392"/>
            <a:ext cx="100584" cy="100584"/>
          </a:xfrm>
          <a:prstGeom prst="ellipse">
            <a:avLst/>
          </a:prstGeom>
          <a:solidFill>
            <a:srgbClr val="636E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32688" y="4160520"/>
            <a:ext cx="10332720" cy="411480"/>
          </a:xfrm>
          <a:prstGeom prst="rect">
            <a:avLst/>
          </a:prstGeom>
          <a:noFill/>
        </p:spPr>
        <p:txBody>
          <a:bodyPr wrap="square">
            <a:spAutoFit/>
          </a:bodyPr>
          <a:lstStyle/>
          <a:p>
            <a:r>
              <a:rPr sz="1700">
                <a:solidFill>
                  <a:srgbClr val="141C24"/>
                </a:solidFill>
              </a:rPr>
              <a:t>Query set shrinks unevenly as budget grows — a stated limitation</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
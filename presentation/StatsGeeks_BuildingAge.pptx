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Transfer that actually transfers</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Building-age classification from Landsat: Madrid to Amsterdam</a:t>
            </a:r>
          </a:p>
        </p:txBody>
      </p:sp>
      <p:sp>
        <p:nvSpPr>
          <p:cNvPr id="4" name="TextBox 3"/>
          <p:cNvSpPr txBox="1"/>
          <p:nvPr/>
        </p:nvSpPr>
        <p:spPr>
          <a:xfrm>
            <a:off x="10149840" y="6309360"/>
            <a:ext cx="1645920" cy="365760"/>
          </a:xfrm>
          <a:prstGeom prst="rect">
            <a:avLst/>
          </a:prstGeom>
          <a:noFill/>
        </p:spPr>
        <p:txBody>
          <a:bodyPr wrap="square">
            <a:spAutoFit/>
          </a:bodyPr>
          <a:lstStyle/>
          <a:p>
            <a:pPr algn="r"/>
            <a:r>
              <a:rPr sz="1000">
                <a:solidFill>
                  <a:srgbClr val="55606B"/>
                </a:solidFill>
              </a:rPr>
              <a:t>M1</a:t>
            </a:r>
          </a:p>
        </p:txBody>
      </p:sp>
      <p:sp>
        <p:nvSpPr>
          <p:cNvPr id="5" name="TextBox 4"/>
          <p:cNvSpPr txBox="1"/>
          <p:nvPr/>
        </p:nvSpPr>
        <p:spPr>
          <a:xfrm>
            <a:off x="640080" y="1920240"/>
            <a:ext cx="10881360" cy="3931920"/>
          </a:xfrm>
          <a:prstGeom prst="rect">
            <a:avLst/>
          </a:prstGeom>
          <a:noFill/>
        </p:spPr>
        <p:txBody>
          <a:bodyPr wrap="square">
            <a:spAutoFit/>
          </a:bodyPr>
          <a:lstStyle/>
          <a:p>
            <a:r>
              <a:rPr sz="1500">
                <a:solidFill>
                  <a:srgbClr val="55606B"/>
                </a:solidFill>
              </a:rPr>
              <a:t>Building age drives urban retrofit and energy policy, but records are incomplete. We classify the construction era of buildings within 30-metre Landsat pixels into four classes, training on Madrid and adapting to Amsterdam with as few as five labelled examples per class.
The organiser's starter pipeline appears to perform transfer learning but does not: its Madrid-trained Random Forest is discarded, and Amsterdam prototypes are computed from Amsterdam data alone. We reproduced that baseline exactly, then built a method that genuinely reuses Madrid-learned state - a frozen, importance-weighted distance metric - and demonstrated its benefit against a target-only control on matched, nested episodes.
The gain is small but consistent across every budget. Our main finding is that the ranking of source representations depends on the label budget: within-class whitening hurts at five shots and helps at two hundred. We report two failed approaches and five stated limitations.</a:t>
            </a:r>
          </a:p>
        </p:txBody>
      </p:sp>
      <p:sp>
        <p:nvSpPr>
          <p:cNvPr id="6" name="TextBox 5"/>
          <p:cNvSpPr txBox="1"/>
          <p:nvPr/>
        </p:nvSpPr>
        <p:spPr>
          <a:xfrm>
            <a:off x="640080" y="6126480"/>
            <a:ext cx="5486400" cy="365760"/>
          </a:xfrm>
          <a:prstGeom prst="rect">
            <a:avLst/>
          </a:prstGeom>
          <a:noFill/>
        </p:spPr>
        <p:txBody>
          <a:bodyPr wrap="square">
            <a:spAutoFit/>
          </a:bodyPr>
          <a:lstStyle/>
          <a:p>
            <a:r>
              <a:rPr sz="1000">
                <a:solidFill>
                  <a:srgbClr val="55606B"/>
                </a:solidFill>
              </a:rPr>
              <a:t>Abstract - 144 words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The problem</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Four-class construction era, per 30 m pixel</a:t>
            </a:r>
          </a:p>
        </p:txBody>
      </p:sp>
      <p:sp>
        <p:nvSpPr>
          <p:cNvPr id="4" name="TextBox 3"/>
          <p:cNvSpPr txBox="1"/>
          <p:nvPr/>
        </p:nvSpPr>
        <p:spPr>
          <a:xfrm>
            <a:off x="10149840" y="6309360"/>
            <a:ext cx="1645920" cy="365760"/>
          </a:xfrm>
          <a:prstGeom prst="rect">
            <a:avLst/>
          </a:prstGeom>
          <a:noFill/>
        </p:spPr>
        <p:txBody>
          <a:bodyPr wrap="square">
            <a:spAutoFit/>
          </a:bodyPr>
          <a:lstStyle/>
          <a:p>
            <a:pPr algn="r"/>
            <a:r>
              <a:rPr sz="1000">
                <a:solidFill>
                  <a:srgbClr val="55606B"/>
                </a:solidFill>
              </a:rPr>
              <a:t>M1</a:t>
            </a:r>
          </a:p>
        </p:txBody>
      </p:sp>
      <p:sp>
        <p:nvSpPr>
          <p:cNvPr id="5" name="TextBox 4"/>
          <p:cNvSpPr txBox="1"/>
          <p:nvPr/>
        </p:nvSpPr>
        <p:spPr>
          <a:xfrm>
            <a:off x="640080" y="2057400"/>
            <a:ext cx="10972800" cy="411480"/>
          </a:xfrm>
          <a:prstGeom prst="rect">
            <a:avLst/>
          </a:prstGeom>
          <a:noFill/>
        </p:spPr>
        <p:txBody>
          <a:bodyPr wrap="square">
            <a:spAutoFit/>
          </a:bodyPr>
          <a:lstStyle/>
          <a:p>
            <a:r>
              <a:rPr sz="1700" b="1">
                <a:solidFill>
                  <a:srgbClr val="0E141B"/>
                </a:solidFill>
              </a:rPr>
              <a:t>Building age drives retrofit and energy policy - and the records are incomplete.</a:t>
            </a:r>
          </a:p>
        </p:txBody>
      </p:sp>
      <p:sp>
        <p:nvSpPr>
          <p:cNvPr id="6" name="TextBox 5"/>
          <p:cNvSpPr txBox="1"/>
          <p:nvPr/>
        </p:nvSpPr>
        <p:spPr>
          <a:xfrm>
            <a:off x="640080" y="2514600"/>
            <a:ext cx="10972800" cy="411480"/>
          </a:xfrm>
          <a:prstGeom prst="rect">
            <a:avLst/>
          </a:prstGeom>
          <a:noFill/>
        </p:spPr>
        <p:txBody>
          <a:bodyPr wrap="square">
            <a:spAutoFit/>
          </a:bodyPr>
          <a:lstStyle/>
          <a:p>
            <a:r>
              <a:rPr sz="1700" b="0">
                <a:solidFill>
                  <a:srgbClr val="55606B"/>
                </a:solidFill>
              </a:rPr>
              <a:t>Classify the construction era of buildings inside a 30 m x 30 m Landsat pixel.</a:t>
            </a:r>
          </a:p>
        </p:txBody>
      </p:sp>
      <p:sp>
        <p:nvSpPr>
          <p:cNvPr id="7" name="TextBox 6"/>
          <p:cNvSpPr txBox="1"/>
          <p:nvPr/>
        </p:nvSpPr>
        <p:spPr>
          <a:xfrm>
            <a:off x="640080" y="2971800"/>
            <a:ext cx="10972800" cy="411480"/>
          </a:xfrm>
          <a:prstGeom prst="rect">
            <a:avLst/>
          </a:prstGeom>
          <a:noFill/>
        </p:spPr>
        <p:txBody>
          <a:bodyPr wrap="square">
            <a:spAutoFit/>
          </a:bodyPr>
          <a:lstStyle/>
          <a:p>
            <a:r>
              <a:rPr sz="1700" b="0">
                <a:solidFill>
                  <a:srgbClr val="55606B"/>
                </a:solidFill>
              </a:rPr>
              <a:t>Four classes. Train on Madrid. Adapt to Amsterdam.</a:t>
            </a:r>
          </a:p>
        </p:txBody>
      </p:sp>
      <p:sp>
        <p:nvSpPr>
          <p:cNvPr id="8" name="TextBox 7"/>
          <p:cNvSpPr txBox="1"/>
          <p:nvPr/>
        </p:nvSpPr>
        <p:spPr>
          <a:xfrm>
            <a:off x="640080" y="3429000"/>
            <a:ext cx="10972800" cy="411480"/>
          </a:xfrm>
          <a:prstGeom prst="rect">
            <a:avLst/>
          </a:prstGeom>
          <a:noFill/>
        </p:spPr>
        <p:txBody>
          <a:bodyPr wrap="square">
            <a:spAutoFit/>
          </a:bodyPr>
          <a:lstStyle/>
          <a:p>
            <a:r>
              <a:rPr sz="1700" b="1">
                <a:solidFill>
                  <a:srgbClr val="0E141B"/>
                </a:solidFill>
              </a:rPr>
              <a:t>The constraint: as few as 5 labelled Amsterdam examples per class.</a:t>
            </a:r>
          </a:p>
        </p:txBody>
      </p:sp>
      <p:sp>
        <p:nvSpPr>
          <p:cNvPr id="9" name="TextBox 8"/>
          <p:cNvSpPr txBox="1"/>
          <p:nvPr/>
        </p:nvSpPr>
        <p:spPr>
          <a:xfrm>
            <a:off x="640080" y="3886200"/>
            <a:ext cx="10972800" cy="411480"/>
          </a:xfrm>
          <a:prstGeom prst="rect">
            <a:avLst/>
          </a:prstGeom>
          <a:noFill/>
        </p:spPr>
        <p:txBody>
          <a:bodyPr wrap="square">
            <a:spAutoFit/>
          </a:bodyPr>
          <a:lstStyle/>
          <a:p>
            <a:r>
              <a:rPr sz="1700" b="0">
                <a:solidFill>
                  <a:srgbClr val="55606B"/>
                </a:solidFill>
              </a:rPr>
              <a:t>Metric: four-class macro F1.</a:t>
            </a:r>
          </a:p>
        </p:txBody>
      </p:sp>
      <p:sp>
        <p:nvSpPr>
          <p:cNvPr id="10" name="TextBox 9"/>
          <p:cNvSpPr txBox="1"/>
          <p:nvPr/>
        </p:nvSpPr>
        <p:spPr>
          <a:xfrm>
            <a:off x="822960" y="4480560"/>
            <a:ext cx="2834640" cy="822960"/>
          </a:xfrm>
          <a:prstGeom prst="rect">
            <a:avLst/>
          </a:prstGeom>
          <a:noFill/>
        </p:spPr>
        <p:txBody>
          <a:bodyPr wrap="square">
            <a:spAutoFit/>
          </a:bodyPr>
          <a:lstStyle/>
          <a:p>
            <a:r>
              <a:rPr sz="3600" b="1">
                <a:solidFill>
                  <a:srgbClr val="2A78D6"/>
                </a:solidFill>
              </a:rPr>
              <a:t>76,263</a:t>
            </a:r>
          </a:p>
        </p:txBody>
      </p:sp>
      <p:sp>
        <p:nvSpPr>
          <p:cNvPr id="11" name="TextBox 10"/>
          <p:cNvSpPr txBox="1"/>
          <p:nvPr/>
        </p:nvSpPr>
        <p:spPr>
          <a:xfrm>
            <a:off x="822960" y="5193792"/>
            <a:ext cx="2834640" cy="457200"/>
          </a:xfrm>
          <a:prstGeom prst="rect">
            <a:avLst/>
          </a:prstGeom>
          <a:noFill/>
        </p:spPr>
        <p:txBody>
          <a:bodyPr wrap="square">
            <a:spAutoFit/>
          </a:bodyPr>
          <a:lstStyle/>
          <a:p>
            <a:r>
              <a:rPr sz="1200">
                <a:solidFill>
                  <a:srgbClr val="55606B"/>
                </a:solidFill>
              </a:rPr>
              <a:t>Madrid pixels</a:t>
            </a:r>
          </a:p>
        </p:txBody>
      </p:sp>
      <p:sp>
        <p:nvSpPr>
          <p:cNvPr id="12" name="TextBox 11"/>
          <p:cNvSpPr txBox="1"/>
          <p:nvPr/>
        </p:nvSpPr>
        <p:spPr>
          <a:xfrm>
            <a:off x="3657600" y="4480560"/>
            <a:ext cx="2834640" cy="822960"/>
          </a:xfrm>
          <a:prstGeom prst="rect">
            <a:avLst/>
          </a:prstGeom>
          <a:noFill/>
        </p:spPr>
        <p:txBody>
          <a:bodyPr wrap="square">
            <a:spAutoFit/>
          </a:bodyPr>
          <a:lstStyle/>
          <a:p>
            <a:r>
              <a:rPr sz="3600" b="1">
                <a:solidFill>
                  <a:srgbClr val="2A78D6"/>
                </a:solidFill>
              </a:rPr>
              <a:t>25,992</a:t>
            </a:r>
          </a:p>
        </p:txBody>
      </p:sp>
      <p:sp>
        <p:nvSpPr>
          <p:cNvPr id="13" name="TextBox 12"/>
          <p:cNvSpPr txBox="1"/>
          <p:nvPr/>
        </p:nvSpPr>
        <p:spPr>
          <a:xfrm>
            <a:off x="3657600" y="5193792"/>
            <a:ext cx="2834640" cy="457200"/>
          </a:xfrm>
          <a:prstGeom prst="rect">
            <a:avLst/>
          </a:prstGeom>
          <a:noFill/>
        </p:spPr>
        <p:txBody>
          <a:bodyPr wrap="square">
            <a:spAutoFit/>
          </a:bodyPr>
          <a:lstStyle/>
          <a:p>
            <a:r>
              <a:rPr sz="1200">
                <a:solidFill>
                  <a:srgbClr val="55606B"/>
                </a:solidFill>
              </a:rPr>
              <a:t>Amsterdam pixels</a:t>
            </a:r>
          </a:p>
        </p:txBody>
      </p:sp>
      <p:sp>
        <p:nvSpPr>
          <p:cNvPr id="14" name="TextBox 13"/>
          <p:cNvSpPr txBox="1"/>
          <p:nvPr/>
        </p:nvSpPr>
        <p:spPr>
          <a:xfrm>
            <a:off x="6492240" y="4480560"/>
            <a:ext cx="2834640" cy="822960"/>
          </a:xfrm>
          <a:prstGeom prst="rect">
            <a:avLst/>
          </a:prstGeom>
          <a:noFill/>
        </p:spPr>
        <p:txBody>
          <a:bodyPr wrap="square">
            <a:spAutoFit/>
          </a:bodyPr>
          <a:lstStyle/>
          <a:p>
            <a:r>
              <a:rPr sz="3600" b="1">
                <a:solidFill>
                  <a:srgbClr val="2A78D6"/>
                </a:solidFill>
              </a:rPr>
              <a:t>1984-2025</a:t>
            </a:r>
          </a:p>
        </p:txBody>
      </p:sp>
      <p:sp>
        <p:nvSpPr>
          <p:cNvPr id="15" name="TextBox 14"/>
          <p:cNvSpPr txBox="1"/>
          <p:nvPr/>
        </p:nvSpPr>
        <p:spPr>
          <a:xfrm>
            <a:off x="6492240" y="5193792"/>
            <a:ext cx="2834640" cy="457200"/>
          </a:xfrm>
          <a:prstGeom prst="rect">
            <a:avLst/>
          </a:prstGeom>
          <a:noFill/>
        </p:spPr>
        <p:txBody>
          <a:bodyPr wrap="square">
            <a:spAutoFit/>
          </a:bodyPr>
          <a:lstStyle/>
          <a:p>
            <a:r>
              <a:rPr sz="1200">
                <a:solidFill>
                  <a:srgbClr val="55606B"/>
                </a:solidFill>
              </a:rPr>
              <a:t>annual observations</a:t>
            </a:r>
          </a:p>
        </p:txBody>
      </p:sp>
      <p:sp>
        <p:nvSpPr>
          <p:cNvPr id="16" name="TextBox 15"/>
          <p:cNvSpPr txBox="1"/>
          <p:nvPr/>
        </p:nvSpPr>
        <p:spPr>
          <a:xfrm>
            <a:off x="9326880" y="4480560"/>
            <a:ext cx="2834640" cy="822960"/>
          </a:xfrm>
          <a:prstGeom prst="rect">
            <a:avLst/>
          </a:prstGeom>
          <a:noFill/>
        </p:spPr>
        <p:txBody>
          <a:bodyPr wrap="square">
            <a:spAutoFit/>
          </a:bodyPr>
          <a:lstStyle/>
          <a:p>
            <a:r>
              <a:rPr sz="3600" b="1">
                <a:solidFill>
                  <a:srgbClr val="2A78D6"/>
                </a:solidFill>
              </a:rPr>
              <a:t>5-200</a:t>
            </a:r>
          </a:p>
        </p:txBody>
      </p:sp>
      <p:sp>
        <p:nvSpPr>
          <p:cNvPr id="17" name="TextBox 16"/>
          <p:cNvSpPr txBox="1"/>
          <p:nvPr/>
        </p:nvSpPr>
        <p:spPr>
          <a:xfrm>
            <a:off x="9326880" y="5193792"/>
            <a:ext cx="2834640" cy="457200"/>
          </a:xfrm>
          <a:prstGeom prst="rect">
            <a:avLst/>
          </a:prstGeom>
          <a:noFill/>
        </p:spPr>
        <p:txBody>
          <a:bodyPr wrap="square">
            <a:spAutoFit/>
          </a:bodyPr>
          <a:lstStyle/>
          <a:p>
            <a:r>
              <a:rPr sz="1200">
                <a:solidFill>
                  <a:srgbClr val="55606B"/>
                </a:solidFill>
              </a:rPr>
              <a:t>labels per class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The data</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Six spectral bands, once a year, for 42 years</a:t>
            </a:r>
          </a:p>
        </p:txBody>
      </p:sp>
      <p:sp>
        <p:nvSpPr>
          <p:cNvPr id="4" name="TextBox 3"/>
          <p:cNvSpPr txBox="1"/>
          <p:nvPr/>
        </p:nvSpPr>
        <p:spPr>
          <a:xfrm>
            <a:off x="10149840" y="6309360"/>
            <a:ext cx="1645920" cy="365760"/>
          </a:xfrm>
          <a:prstGeom prst="rect">
            <a:avLst/>
          </a:prstGeom>
          <a:noFill/>
        </p:spPr>
        <p:txBody>
          <a:bodyPr wrap="square">
            <a:spAutoFit/>
          </a:bodyPr>
          <a:lstStyle/>
          <a:p>
            <a:pPr algn="r"/>
            <a:r>
              <a:rPr sz="1000">
                <a:solidFill>
                  <a:srgbClr val="55606B"/>
                </a:solidFill>
              </a:rPr>
              <a:t>M2</a:t>
            </a:r>
          </a:p>
        </p:txBody>
      </p:sp>
      <p:sp>
        <p:nvSpPr>
          <p:cNvPr id="5" name="TextBox 4"/>
          <p:cNvSpPr txBox="1"/>
          <p:nvPr/>
        </p:nvSpPr>
        <p:spPr>
          <a:xfrm>
            <a:off x="640080" y="2103120"/>
            <a:ext cx="10972800" cy="411480"/>
          </a:xfrm>
          <a:prstGeom prst="rect">
            <a:avLst/>
          </a:prstGeom>
          <a:noFill/>
        </p:spPr>
        <p:txBody>
          <a:bodyPr wrap="square">
            <a:spAutoFit/>
          </a:bodyPr>
          <a:lstStyle/>
          <a:p>
            <a:r>
              <a:rPr sz="1700" b="0">
                <a:solidFill>
                  <a:srgbClr val="55606B"/>
                </a:solidFill>
              </a:rPr>
              <a:t>Each pixel is a 42-year spectral trajectory, summarised into 60 features.</a:t>
            </a:r>
          </a:p>
        </p:txBody>
      </p:sp>
      <p:sp>
        <p:nvSpPr>
          <p:cNvPr id="6" name="TextBox 5"/>
          <p:cNvSpPr txBox="1"/>
          <p:nvPr/>
        </p:nvSpPr>
        <p:spPr>
          <a:xfrm>
            <a:off x="640080" y="2560320"/>
            <a:ext cx="10972800" cy="411480"/>
          </a:xfrm>
          <a:prstGeom prst="rect">
            <a:avLst/>
          </a:prstGeom>
          <a:noFill/>
        </p:spPr>
        <p:txBody>
          <a:bodyPr wrap="square">
            <a:spAutoFit/>
          </a:bodyPr>
          <a:lstStyle/>
          <a:p>
            <a:r>
              <a:rPr sz="1700" b="1">
                <a:solidFill>
                  <a:srgbClr val="0E141B"/>
                </a:solidFill>
              </a:rPr>
              <a:t>Construction changes what ground looks like from space - that is the whole premise.</a:t>
            </a:r>
          </a:p>
        </p:txBody>
      </p:sp>
      <p:sp>
        <p:nvSpPr>
          <p:cNvPr id="7" name="TextBox 6"/>
          <p:cNvSpPr txBox="1"/>
          <p:nvPr/>
        </p:nvSpPr>
        <p:spPr>
          <a:xfrm>
            <a:off x="640080" y="3017520"/>
            <a:ext cx="10972800" cy="411480"/>
          </a:xfrm>
          <a:prstGeom prst="rect">
            <a:avLst/>
          </a:prstGeom>
          <a:noFill/>
        </p:spPr>
        <p:txBody>
          <a:bodyPr wrap="square">
            <a:spAutoFit/>
          </a:bodyPr>
          <a:lstStyle/>
          <a:p>
            <a:r>
              <a:rPr sz="1700" b="0">
                <a:solidFill>
                  <a:srgbClr val="55606B"/>
                </a:solidFill>
              </a:rPr>
              <a:t>A field becomes a roof. Concrete weathers. Dense old centres differ from new suburbs.</a:t>
            </a:r>
          </a:p>
        </p:txBody>
      </p:sp>
      <p:sp>
        <p:nvSpPr>
          <p:cNvPr id="8" name="TextBox 7"/>
          <p:cNvSpPr txBox="1"/>
          <p:nvPr/>
        </p:nvSpPr>
        <p:spPr>
          <a:xfrm>
            <a:off x="640080" y="3474720"/>
            <a:ext cx="10972800" cy="411480"/>
          </a:xfrm>
          <a:prstGeom prst="rect">
            <a:avLst/>
          </a:prstGeom>
          <a:noFill/>
        </p:spPr>
        <p:txBody>
          <a:bodyPr wrap="square">
            <a:spAutoFit/>
          </a:bodyPr>
          <a:lstStyle/>
          <a:p>
            <a:r>
              <a:rPr sz="1700" b="0">
                <a:solidFill>
                  <a:srgbClr val="55606B"/>
                </a:solidFill>
              </a:rPr>
              <a:t>Class 2 is the largest class in both cities, correcting the starter's prose.</a:t>
            </a:r>
          </a:p>
        </p:txBody>
      </p:sp>
      <p:sp>
        <p:nvSpPr>
          <p:cNvPr id="9" name="TextBox 8"/>
          <p:cNvSpPr txBox="1"/>
          <p:nvPr/>
        </p:nvSpPr>
        <p:spPr>
          <a:xfrm>
            <a:off x="640080" y="3931920"/>
            <a:ext cx="10972800" cy="411480"/>
          </a:xfrm>
          <a:prstGeom prst="rect">
            <a:avLst/>
          </a:prstGeom>
          <a:noFill/>
        </p:spPr>
        <p:txBody>
          <a:bodyPr wrap="square">
            <a:spAutoFit/>
          </a:bodyPr>
          <a:lstStyle/>
          <a:p>
            <a:r>
              <a:rPr sz="1700" b="1">
                <a:solidFill>
                  <a:srgbClr val="0E141B"/>
                </a:solidFill>
              </a:rPr>
              <a:t>We say 59 informative features, not 60 - see the next 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The labels are noisy by construction</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There is a ceiling below 1.0 and nobody knows where it is</a:t>
            </a:r>
          </a:p>
        </p:txBody>
      </p:sp>
      <p:sp>
        <p:nvSpPr>
          <p:cNvPr id="4" name="TextBox 3"/>
          <p:cNvSpPr txBox="1"/>
          <p:nvPr/>
        </p:nvSpPr>
        <p:spPr>
          <a:xfrm>
            <a:off x="10149840" y="6309360"/>
            <a:ext cx="1645920" cy="365760"/>
          </a:xfrm>
          <a:prstGeom prst="rect">
            <a:avLst/>
          </a:prstGeom>
          <a:noFill/>
        </p:spPr>
        <p:txBody>
          <a:bodyPr wrap="square">
            <a:spAutoFit/>
          </a:bodyPr>
          <a:lstStyle/>
          <a:p>
            <a:pPr algn="r"/>
            <a:r>
              <a:rPr sz="1000">
                <a:solidFill>
                  <a:srgbClr val="55606B"/>
                </a:solidFill>
              </a:rPr>
              <a:t>M2</a:t>
            </a:r>
          </a:p>
        </p:txBody>
      </p:sp>
      <p:sp>
        <p:nvSpPr>
          <p:cNvPr id="5" name="TextBox 4"/>
          <p:cNvSpPr txBox="1"/>
          <p:nvPr/>
        </p:nvSpPr>
        <p:spPr>
          <a:xfrm>
            <a:off x="640080" y="2103120"/>
            <a:ext cx="10972800" cy="411480"/>
          </a:xfrm>
          <a:prstGeom prst="rect">
            <a:avLst/>
          </a:prstGeom>
          <a:noFill/>
        </p:spPr>
        <p:txBody>
          <a:bodyPr wrap="square">
            <a:spAutoFit/>
          </a:bodyPr>
          <a:lstStyle/>
          <a:p>
            <a:r>
              <a:rPr sz="1700" b="1">
                <a:solidFill>
                  <a:srgbClr val="0E141B"/>
                </a:solidFill>
              </a:rPr>
              <a:t>The label is an area-weighted average of construction years inside the pixel.</a:t>
            </a:r>
          </a:p>
        </p:txBody>
      </p:sp>
      <p:sp>
        <p:nvSpPr>
          <p:cNvPr id="6" name="TextBox 5"/>
          <p:cNvSpPr txBox="1"/>
          <p:nvPr/>
        </p:nvSpPr>
        <p:spPr>
          <a:xfrm>
            <a:off x="640080" y="2532887"/>
            <a:ext cx="10972800" cy="411480"/>
          </a:xfrm>
          <a:prstGeom prst="rect">
            <a:avLst/>
          </a:prstGeom>
          <a:noFill/>
        </p:spPr>
        <p:txBody>
          <a:bodyPr wrap="square">
            <a:spAutoFit/>
          </a:bodyPr>
          <a:lstStyle/>
          <a:p>
            <a:r>
              <a:rPr sz="1700" b="0">
                <a:solidFill>
                  <a:srgbClr val="55606B"/>
                </a:solidFill>
              </a:rPr>
              <a:t>A pixel holding a 1950s block and a 2010s block gets a class describing neither.</a:t>
            </a:r>
          </a:p>
        </p:txBody>
      </p:sp>
      <p:sp>
        <p:nvSpPr>
          <p:cNvPr id="7" name="TextBox 6"/>
          <p:cNvSpPr txBox="1"/>
          <p:nvPr/>
        </p:nvSpPr>
        <p:spPr>
          <a:xfrm>
            <a:off x="640080" y="2962656"/>
            <a:ext cx="10972800" cy="411480"/>
          </a:xfrm>
          <a:prstGeom prst="rect">
            <a:avLst/>
          </a:prstGeom>
          <a:noFill/>
        </p:spPr>
        <p:txBody>
          <a:bodyPr wrap="square">
            <a:spAutoFit/>
          </a:bodyPr>
          <a:lstStyle/>
          <a:p>
            <a:r>
              <a:rPr sz="1700" b="0">
                <a:solidFill>
                  <a:srgbClr val="55606B"/>
                </a:solidFill>
              </a:rPr>
              <a:t>No model can reach a perfect score on labels like these.</a:t>
            </a:r>
          </a:p>
        </p:txBody>
      </p:sp>
      <p:sp>
        <p:nvSpPr>
          <p:cNvPr id="8" name="TextBox 7"/>
          <p:cNvSpPr txBox="1"/>
          <p:nvPr/>
        </p:nvSpPr>
        <p:spPr>
          <a:xfrm>
            <a:off x="640080" y="3822191"/>
            <a:ext cx="10972800" cy="411480"/>
          </a:xfrm>
          <a:prstGeom prst="rect">
            <a:avLst/>
          </a:prstGeom>
          <a:noFill/>
        </p:spPr>
        <p:txBody>
          <a:bodyPr wrap="square">
            <a:spAutoFit/>
          </a:bodyPr>
          <a:lstStyle/>
          <a:p>
            <a:r>
              <a:rPr sz="1700" b="1">
                <a:solidFill>
                  <a:srgbClr val="0E141B"/>
                </a:solidFill>
              </a:rPr>
              <a:t>Evidence we are near that ceiling:</a:t>
            </a:r>
          </a:p>
        </p:txBody>
      </p:sp>
      <p:sp>
        <p:nvSpPr>
          <p:cNvPr id="9" name="TextBox 8"/>
          <p:cNvSpPr txBox="1"/>
          <p:nvPr/>
        </p:nvSpPr>
        <p:spPr>
          <a:xfrm>
            <a:off x="640080" y="4251959"/>
            <a:ext cx="10972800" cy="411480"/>
          </a:xfrm>
          <a:prstGeom prst="rect">
            <a:avLst/>
          </a:prstGeom>
          <a:noFill/>
        </p:spPr>
        <p:txBody>
          <a:bodyPr wrap="square">
            <a:spAutoFit/>
          </a:bodyPr>
          <a:lstStyle/>
          <a:p>
            <a:r>
              <a:rPr sz="1700" b="0">
                <a:solidFill>
                  <a:srgbClr val="55606B"/>
                </a:solidFill>
              </a:rPr>
              <a:t>Amsterdam at 200 shots reaches 0.6227.</a:t>
            </a:r>
          </a:p>
        </p:txBody>
      </p:sp>
      <p:sp>
        <p:nvSpPr>
          <p:cNvPr id="10" name="TextBox 9"/>
          <p:cNvSpPr txBox="1"/>
          <p:nvPr/>
        </p:nvSpPr>
        <p:spPr>
          <a:xfrm>
            <a:off x="640080" y="4681727"/>
            <a:ext cx="10972800" cy="411480"/>
          </a:xfrm>
          <a:prstGeom prst="rect">
            <a:avLst/>
          </a:prstGeom>
          <a:noFill/>
        </p:spPr>
        <p:txBody>
          <a:bodyPr wrap="square">
            <a:spAutoFit/>
          </a:bodyPr>
          <a:lstStyle/>
          <a:p>
            <a:r>
              <a:rPr sz="1700" b="0">
                <a:solidFill>
                  <a:srgbClr val="55606B"/>
                </a:solidFill>
              </a:rPr>
              <a:t>Madrid's own full-data cross-validated score is 0.6281.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First, we reproduced the baseline exactly</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Zero code edits - then the numbers disagreed</a:t>
            </a:r>
          </a:p>
        </p:txBody>
      </p:sp>
      <p:sp>
        <p:nvSpPr>
          <p:cNvPr id="4" name="TextBox 3"/>
          <p:cNvSpPr txBox="1"/>
          <p:nvPr/>
        </p:nvSpPr>
        <p:spPr>
          <a:xfrm>
            <a:off x="10149840" y="6309360"/>
            <a:ext cx="1645920" cy="365760"/>
          </a:xfrm>
          <a:prstGeom prst="rect">
            <a:avLst/>
          </a:prstGeom>
          <a:noFill/>
        </p:spPr>
        <p:txBody>
          <a:bodyPr wrap="square">
            <a:spAutoFit/>
          </a:bodyPr>
          <a:lstStyle/>
          <a:p>
            <a:pPr algn="r"/>
            <a:r>
              <a:rPr sz="1000">
                <a:solidFill>
                  <a:srgbClr val="55606B"/>
                </a:solidFill>
              </a:rPr>
              <a:t>M2</a:t>
            </a:r>
          </a:p>
        </p:txBody>
      </p:sp>
      <p:sp>
        <p:nvSpPr>
          <p:cNvPr id="5" name="TextBox 4"/>
          <p:cNvSpPr txBox="1"/>
          <p:nvPr/>
        </p:nvSpPr>
        <p:spPr>
          <a:xfrm>
            <a:off x="640080" y="2011680"/>
            <a:ext cx="10972800" cy="411480"/>
          </a:xfrm>
          <a:prstGeom prst="rect">
            <a:avLst/>
          </a:prstGeom>
          <a:noFill/>
        </p:spPr>
        <p:txBody>
          <a:bodyPr wrap="square">
            <a:spAutoFit/>
          </a:bodyPr>
          <a:lstStyle/>
          <a:p>
            <a:r>
              <a:rPr sz="1700" b="0">
                <a:solidFill>
                  <a:srgbClr val="55606B"/>
                </a:solidFill>
              </a:rPr>
              <a:t>Every result that avoids the Random Forest matched the organiser to 4 decimal places.</a:t>
            </a:r>
          </a:p>
        </p:txBody>
      </p:sp>
      <p:sp>
        <p:nvSpPr>
          <p:cNvPr id="6" name="TextBox 5"/>
          <p:cNvSpPr txBox="1"/>
          <p:nvPr/>
        </p:nvSpPr>
        <p:spPr>
          <a:xfrm>
            <a:off x="640080" y="2441448"/>
            <a:ext cx="10972800" cy="411480"/>
          </a:xfrm>
          <a:prstGeom prst="rect">
            <a:avLst/>
          </a:prstGeom>
          <a:noFill/>
        </p:spPr>
        <p:txBody>
          <a:bodyPr wrap="square">
            <a:spAutoFit/>
          </a:bodyPr>
          <a:lstStyle/>
          <a:p>
            <a:r>
              <a:rPr sz="1700" b="1">
                <a:solidFill>
                  <a:srgbClr val="0E141B"/>
                </a:solidFill>
              </a:rPr>
              <a:t>Both Random-Forest results did not:</a:t>
            </a:r>
          </a:p>
        </p:txBody>
      </p:sp>
      <p:sp>
        <p:nvSpPr>
          <p:cNvPr id="7" name="TextBox 6"/>
          <p:cNvSpPr txBox="1"/>
          <p:nvPr/>
        </p:nvSpPr>
        <p:spPr>
          <a:xfrm>
            <a:off x="640080" y="2871216"/>
            <a:ext cx="10972800" cy="411480"/>
          </a:xfrm>
          <a:prstGeom prst="rect">
            <a:avLst/>
          </a:prstGeom>
          <a:noFill/>
        </p:spPr>
        <p:txBody>
          <a:bodyPr wrap="square">
            <a:spAutoFit/>
          </a:bodyPr>
          <a:lstStyle/>
          <a:p>
            <a:r>
              <a:rPr sz="1700" b="0">
                <a:solidFill>
                  <a:srgbClr val="55606B"/>
                </a:solidFill>
              </a:rPr>
              <a:t>        Madrid CV   0.6281  vs  0.6179            Zero-shot   0.4433  vs  0.3427</a:t>
            </a:r>
          </a:p>
        </p:txBody>
      </p:sp>
      <p:sp>
        <p:nvSpPr>
          <p:cNvPr id="8" name="TextBox 7"/>
          <p:cNvSpPr txBox="1"/>
          <p:nvPr/>
        </p:nvSpPr>
        <p:spPr>
          <a:xfrm>
            <a:off x="640080" y="3300984"/>
            <a:ext cx="10972800" cy="411480"/>
          </a:xfrm>
          <a:prstGeom prst="rect">
            <a:avLst/>
          </a:prstGeom>
          <a:noFill/>
        </p:spPr>
        <p:txBody>
          <a:bodyPr wrap="square">
            <a:spAutoFit/>
          </a:bodyPr>
          <a:lstStyle/>
          <a:p>
            <a:r>
              <a:rPr sz="1700" b="0">
                <a:solidFill>
                  <a:srgbClr val="55606B"/>
                </a:solidFill>
              </a:rPr>
              <a:t>Diagnosed to a scikit-learn version difference. The prototype path never touches</a:t>
            </a:r>
          </a:p>
        </p:txBody>
      </p:sp>
      <p:sp>
        <p:nvSpPr>
          <p:cNvPr id="9" name="TextBox 8"/>
          <p:cNvSpPr txBox="1"/>
          <p:nvPr/>
        </p:nvSpPr>
        <p:spPr>
          <a:xfrm>
            <a:off x="640080" y="3730752"/>
            <a:ext cx="10972800" cy="411480"/>
          </a:xfrm>
          <a:prstGeom prst="rect">
            <a:avLst/>
          </a:prstGeom>
          <a:noFill/>
        </p:spPr>
        <p:txBody>
          <a:bodyPr wrap="square">
            <a:spAutoFit/>
          </a:bodyPr>
          <a:lstStyle/>
          <a:p>
            <a:r>
              <a:rPr sz="1700" b="0">
                <a:solidFill>
                  <a:srgbClr val="55606B"/>
                </a:solidFill>
              </a:rPr>
              <a:t>tree code, so it acted as an unintended control that isolated the cause.</a:t>
            </a:r>
          </a:p>
        </p:txBody>
      </p:sp>
      <p:sp>
        <p:nvSpPr>
          <p:cNvPr id="10" name="TextBox 9"/>
          <p:cNvSpPr txBox="1"/>
          <p:nvPr/>
        </p:nvSpPr>
        <p:spPr>
          <a:xfrm>
            <a:off x="640080" y="4160520"/>
            <a:ext cx="10972800" cy="411480"/>
          </a:xfrm>
          <a:prstGeom prst="rect">
            <a:avLst/>
          </a:prstGeom>
          <a:noFill/>
        </p:spPr>
        <p:txBody>
          <a:bodyPr wrap="square">
            <a:spAutoFit/>
          </a:bodyPr>
          <a:lstStyle/>
          <a:p>
            <a:r>
              <a:rPr sz="1700" b="1">
                <a:solidFill>
                  <a:srgbClr val="0E141B"/>
                </a:solidFill>
              </a:rPr>
              <a:t>Refitting twice: 0 of 25,992 predictions differed. Systematic, not noise.</a:t>
            </a:r>
          </a:p>
        </p:txBody>
      </p:sp>
      <p:sp>
        <p:nvSpPr>
          <p:cNvPr id="11" name="TextBox 10"/>
          <p:cNvSpPr txBox="1"/>
          <p:nvPr/>
        </p:nvSpPr>
        <p:spPr>
          <a:xfrm>
            <a:off x="640080" y="4590288"/>
            <a:ext cx="10972800" cy="411480"/>
          </a:xfrm>
          <a:prstGeom prst="rect">
            <a:avLst/>
          </a:prstGeom>
          <a:noFill/>
        </p:spPr>
        <p:txBody>
          <a:bodyPr wrap="square">
            <a:spAutoFit/>
          </a:bodyPr>
          <a:lstStyle/>
          <a:p>
            <a:r>
              <a:rPr sz="1700" b="0">
                <a:solidFill>
                  <a:srgbClr val="55606B"/>
                </a:solidFill>
              </a:rPr>
              <a:t>Also found: has_early_data is constant in both cities. 59 features carry signal, not 60.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The starter's transfer learning transfers nothing</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The defect at the centre of this challenge</a:t>
            </a:r>
          </a:p>
        </p:txBody>
      </p:sp>
      <p:sp>
        <p:nvSpPr>
          <p:cNvPr id="4" name="TextBox 3"/>
          <p:cNvSpPr txBox="1"/>
          <p:nvPr/>
        </p:nvSpPr>
        <p:spPr>
          <a:xfrm>
            <a:off x="10149840" y="6309360"/>
            <a:ext cx="1645920" cy="365760"/>
          </a:xfrm>
          <a:prstGeom prst="rect">
            <a:avLst/>
          </a:prstGeom>
          <a:noFill/>
        </p:spPr>
        <p:txBody>
          <a:bodyPr wrap="square">
            <a:spAutoFit/>
          </a:bodyPr>
          <a:lstStyle/>
          <a:p>
            <a:pPr algn="r"/>
            <a:r>
              <a:rPr sz="1000">
                <a:solidFill>
                  <a:srgbClr val="55606B"/>
                </a:solidFill>
              </a:rPr>
              <a:t>M2 &gt; M3</a:t>
            </a:r>
          </a:p>
        </p:txBody>
      </p:sp>
      <p:sp>
        <p:nvSpPr>
          <p:cNvPr id="5" name="TextBox 4"/>
          <p:cNvSpPr txBox="1"/>
          <p:nvPr/>
        </p:nvSpPr>
        <p:spPr>
          <a:xfrm>
            <a:off x="640080" y="2011680"/>
            <a:ext cx="10972800" cy="411480"/>
          </a:xfrm>
          <a:prstGeom prst="rect">
            <a:avLst/>
          </a:prstGeom>
          <a:noFill/>
        </p:spPr>
        <p:txBody>
          <a:bodyPr wrap="square">
            <a:spAutoFit/>
          </a:bodyPr>
          <a:lstStyle/>
          <a:p>
            <a:r>
              <a:rPr sz="1700" b="1">
                <a:solidFill>
                  <a:srgbClr val="0E141B"/>
                </a:solidFill>
              </a:rPr>
              <a:t>It trains a Madrid Random Forest. Then it throws it away.</a:t>
            </a:r>
          </a:p>
        </p:txBody>
      </p:sp>
      <p:sp>
        <p:nvSpPr>
          <p:cNvPr id="6" name="TextBox 5"/>
          <p:cNvSpPr txBox="1"/>
          <p:nvPr/>
        </p:nvSpPr>
        <p:spPr>
          <a:xfrm>
            <a:off x="640080" y="2432304"/>
            <a:ext cx="10972800" cy="411480"/>
          </a:xfrm>
          <a:prstGeom prst="rect">
            <a:avLst/>
          </a:prstGeom>
          <a:noFill/>
        </p:spPr>
        <p:txBody>
          <a:bodyPr wrap="square">
            <a:spAutoFit/>
          </a:bodyPr>
          <a:lstStyle/>
          <a:p>
            <a:r>
              <a:rPr sz="1700" b="0">
                <a:solidFill>
                  <a:srgbClr val="55606B"/>
                </a:solidFill>
              </a:rPr>
              <a:t>Amsterdam prototypes are computed from Amsterdam data alone.</a:t>
            </a:r>
          </a:p>
        </p:txBody>
      </p:sp>
      <p:sp>
        <p:nvSpPr>
          <p:cNvPr id="7" name="TextBox 6"/>
          <p:cNvSpPr txBox="1"/>
          <p:nvPr/>
        </p:nvSpPr>
        <p:spPr>
          <a:xfrm>
            <a:off x="640080" y="2852928"/>
            <a:ext cx="10972800" cy="411480"/>
          </a:xfrm>
          <a:prstGeom prst="rect">
            <a:avLst/>
          </a:prstGeom>
          <a:noFill/>
        </p:spPr>
        <p:txBody>
          <a:bodyPr wrap="square">
            <a:spAutoFit/>
          </a:bodyPr>
          <a:lstStyle/>
          <a:p>
            <a:r>
              <a:rPr sz="1700" b="0">
                <a:solidFill>
                  <a:srgbClr val="55606B"/>
                </a:solidFill>
              </a:rPr>
              <a:t>Madrid contributes only the scaler's mean and variance.</a:t>
            </a:r>
          </a:p>
        </p:txBody>
      </p:sp>
      <p:sp>
        <p:nvSpPr>
          <p:cNvPr id="8" name="TextBox 7"/>
          <p:cNvSpPr txBox="1"/>
          <p:nvPr/>
        </p:nvSpPr>
        <p:spPr>
          <a:xfrm>
            <a:off x="640080" y="3273552"/>
            <a:ext cx="10972800" cy="411480"/>
          </a:xfrm>
          <a:prstGeom prst="rect">
            <a:avLst/>
          </a:prstGeom>
          <a:noFill/>
        </p:spPr>
        <p:txBody>
          <a:bodyPr wrap="square">
            <a:spAutoFit/>
          </a:bodyPr>
          <a:lstStyle/>
          <a:p>
            <a:r>
              <a:rPr sz="1700" b="0">
                <a:solidFill>
                  <a:srgbClr val="55606B"/>
                </a:solidFill>
              </a:rPr>
              <a:t>Rising F1 with more labels measures an Amsterdam-only method getting more Amsterdam data.</a:t>
            </a:r>
          </a:p>
        </p:txBody>
      </p:sp>
      <p:sp>
        <p:nvSpPr>
          <p:cNvPr id="9" name="TextBox 8"/>
          <p:cNvSpPr txBox="1"/>
          <p:nvPr/>
        </p:nvSpPr>
        <p:spPr>
          <a:xfrm>
            <a:off x="640080" y="4114800"/>
            <a:ext cx="10972800" cy="411480"/>
          </a:xfrm>
          <a:prstGeom prst="rect">
            <a:avLst/>
          </a:prstGeom>
          <a:noFill/>
        </p:spPr>
        <p:txBody>
          <a:bodyPr wrap="square">
            <a:spAutoFit/>
          </a:bodyPr>
          <a:lstStyle/>
          <a:p>
            <a:r>
              <a:rPr sz="1700" b="1">
                <a:solidFill>
                  <a:srgbClr val="0E141B"/>
                </a:solidFill>
              </a:rPr>
              <a:t>And that flaw became our best instrument. Because it touches no scikit-learn tree</a:t>
            </a:r>
          </a:p>
        </p:txBody>
      </p:sp>
      <p:sp>
        <p:nvSpPr>
          <p:cNvPr id="10" name="TextBox 9"/>
          <p:cNvSpPr txBox="1"/>
          <p:nvPr/>
        </p:nvSpPr>
        <p:spPr>
          <a:xfrm>
            <a:off x="640080" y="4535424"/>
            <a:ext cx="10972800" cy="411480"/>
          </a:xfrm>
          <a:prstGeom prst="rect">
            <a:avLst/>
          </a:prstGeom>
          <a:noFill/>
        </p:spPr>
        <p:txBody>
          <a:bodyPr wrap="square">
            <a:spAutoFit/>
          </a:bodyPr>
          <a:lstStyle/>
          <a:p>
            <a:r>
              <a:rPr sz="1700" b="0">
                <a:solidFill>
                  <a:srgbClr val="55606B"/>
                </a:solidFill>
              </a:rPr>
              <a:t>code, it proved our data pipeline was identical - which is how we isolated the</a:t>
            </a:r>
          </a:p>
        </p:txBody>
      </p:sp>
      <p:sp>
        <p:nvSpPr>
          <p:cNvPr id="11" name="TextBox 10"/>
          <p:cNvSpPr txBox="1"/>
          <p:nvPr/>
        </p:nvSpPr>
        <p:spPr>
          <a:xfrm>
            <a:off x="640080" y="4956048"/>
            <a:ext cx="10972800" cy="411480"/>
          </a:xfrm>
          <a:prstGeom prst="rect">
            <a:avLst/>
          </a:prstGeom>
          <a:noFill/>
        </p:spPr>
        <p:txBody>
          <a:bodyPr wrap="square">
            <a:spAutoFit/>
          </a:bodyPr>
          <a:lstStyle/>
          <a:p>
            <a:r>
              <a:rPr sz="1700" b="0">
                <a:solidFill>
                  <a:srgbClr val="55606B"/>
                </a:solidFill>
              </a:rPr>
              <a:t>version difference on the previous 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What we actually transfer</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A metric, not a classifier</a:t>
            </a:r>
          </a:p>
        </p:txBody>
      </p:sp>
      <p:sp>
        <p:nvSpPr>
          <p:cNvPr id="4" name="TextBox 3"/>
          <p:cNvSpPr txBox="1"/>
          <p:nvPr/>
        </p:nvSpPr>
        <p:spPr>
          <a:xfrm>
            <a:off x="10149840" y="6309360"/>
            <a:ext cx="1645920" cy="365760"/>
          </a:xfrm>
          <a:prstGeom prst="rect">
            <a:avLst/>
          </a:prstGeom>
          <a:noFill/>
        </p:spPr>
        <p:txBody>
          <a:bodyPr wrap="square">
            <a:spAutoFit/>
          </a:bodyPr>
          <a:lstStyle/>
          <a:p>
            <a:pPr algn="r"/>
            <a:r>
              <a:rPr sz="1000">
                <a:solidFill>
                  <a:srgbClr val="55606B"/>
                </a:solidFill>
              </a:rPr>
              <a:t>M3</a:t>
            </a:r>
          </a:p>
        </p:txBody>
      </p:sp>
      <p:sp>
        <p:nvSpPr>
          <p:cNvPr id="5" name="TextBox 4"/>
          <p:cNvSpPr txBox="1"/>
          <p:nvPr/>
        </p:nvSpPr>
        <p:spPr>
          <a:xfrm>
            <a:off x="640080" y="2011680"/>
            <a:ext cx="10972800" cy="411480"/>
          </a:xfrm>
          <a:prstGeom prst="rect">
            <a:avLst/>
          </a:prstGeom>
          <a:noFill/>
        </p:spPr>
        <p:txBody>
          <a:bodyPr wrap="square">
            <a:spAutoFit/>
          </a:bodyPr>
          <a:lstStyle/>
          <a:p>
            <a:r>
              <a:rPr sz="1700" b="1">
                <a:solidFill>
                  <a:srgbClr val="0E141B"/>
                </a:solidFill>
              </a:rPr>
              <a:t>1.  Learn a transform T on MADRID ONLY.          2.  Freeze it.</a:t>
            </a:r>
          </a:p>
        </p:txBody>
      </p:sp>
      <p:sp>
        <p:nvSpPr>
          <p:cNvPr id="6" name="TextBox 5"/>
          <p:cNvSpPr txBox="1"/>
          <p:nvPr/>
        </p:nvSpPr>
        <p:spPr>
          <a:xfrm>
            <a:off x="640080" y="2468880"/>
            <a:ext cx="10972800" cy="411480"/>
          </a:xfrm>
          <a:prstGeom prst="rect">
            <a:avLst/>
          </a:prstGeom>
          <a:noFill/>
        </p:spPr>
        <p:txBody>
          <a:bodyPr wrap="square">
            <a:spAutoFit/>
          </a:bodyPr>
          <a:lstStyle/>
          <a:p>
            <a:r>
              <a:rPr sz="1700" b="1">
                <a:solidFill>
                  <a:srgbClr val="0E141B"/>
                </a:solidFill>
              </a:rPr>
              <a:t>3.  Push Amsterdam support and query through T.</a:t>
            </a:r>
          </a:p>
        </p:txBody>
      </p:sp>
      <p:sp>
        <p:nvSpPr>
          <p:cNvPr id="7" name="TextBox 6"/>
          <p:cNvSpPr txBox="1"/>
          <p:nvPr/>
        </p:nvSpPr>
        <p:spPr>
          <a:xfrm>
            <a:off x="640080" y="2926080"/>
            <a:ext cx="10972800" cy="411480"/>
          </a:xfrm>
          <a:prstGeom prst="rect">
            <a:avLst/>
          </a:prstGeom>
          <a:noFill/>
        </p:spPr>
        <p:txBody>
          <a:bodyPr wrap="square">
            <a:spAutoFit/>
          </a:bodyPr>
          <a:lstStyle/>
          <a:p>
            <a:r>
              <a:rPr sz="1700" b="1">
                <a:solidFill>
                  <a:srgbClr val="0E141B"/>
                </a:solidFill>
              </a:rPr>
              <a:t>4.  Nearest class prototype, from support labels only.</a:t>
            </a:r>
          </a:p>
        </p:txBody>
      </p:sp>
      <p:sp>
        <p:nvSpPr>
          <p:cNvPr id="8" name="TextBox 7"/>
          <p:cNvSpPr txBox="1"/>
          <p:nvPr/>
        </p:nvSpPr>
        <p:spPr>
          <a:xfrm>
            <a:off x="640080" y="3840480"/>
            <a:ext cx="10972800" cy="411480"/>
          </a:xfrm>
          <a:prstGeom prst="rect">
            <a:avLst/>
          </a:prstGeom>
          <a:noFill/>
        </p:spPr>
        <p:txBody>
          <a:bodyPr wrap="square">
            <a:spAutoFit/>
          </a:bodyPr>
          <a:lstStyle/>
          <a:p>
            <a:r>
              <a:rPr sz="1700" b="0">
                <a:solidFill>
                  <a:srgbClr val="55606B"/>
                </a:solidFill>
              </a:rPr>
              <a:t>Madrid teaches which of the 60 measurements matter. Amsterdam supplies the examples.</a:t>
            </a:r>
          </a:p>
        </p:txBody>
      </p:sp>
      <p:sp>
        <p:nvSpPr>
          <p:cNvPr id="9" name="TextBox 8"/>
          <p:cNvSpPr txBox="1"/>
          <p:nvPr/>
        </p:nvSpPr>
        <p:spPr>
          <a:xfrm>
            <a:off x="1005840" y="4572000"/>
            <a:ext cx="2834640" cy="822960"/>
          </a:xfrm>
          <a:prstGeom prst="rect">
            <a:avLst/>
          </a:prstGeom>
          <a:noFill/>
        </p:spPr>
        <p:txBody>
          <a:bodyPr wrap="square">
            <a:spAutoFit/>
          </a:bodyPr>
          <a:lstStyle/>
          <a:p>
            <a:r>
              <a:rPr sz="3600" b="1">
                <a:solidFill>
                  <a:srgbClr val="2A78D6"/>
                </a:solidFill>
              </a:rPr>
              <a:t>3 KB</a:t>
            </a:r>
          </a:p>
        </p:txBody>
      </p:sp>
      <p:sp>
        <p:nvSpPr>
          <p:cNvPr id="10" name="TextBox 9"/>
          <p:cNvSpPr txBox="1"/>
          <p:nvPr/>
        </p:nvSpPr>
        <p:spPr>
          <a:xfrm>
            <a:off x="1005840" y="5285232"/>
            <a:ext cx="2834640" cy="457200"/>
          </a:xfrm>
          <a:prstGeom prst="rect">
            <a:avLst/>
          </a:prstGeom>
          <a:noFill/>
        </p:spPr>
        <p:txBody>
          <a:bodyPr wrap="square">
            <a:spAutoFit/>
          </a:bodyPr>
          <a:lstStyle/>
          <a:p>
            <a:r>
              <a:rPr sz="1200">
                <a:solidFill>
                  <a:srgbClr val="55606B"/>
                </a:solidFill>
              </a:rPr>
              <a:t>the shipped artifact</a:t>
            </a:r>
          </a:p>
        </p:txBody>
      </p:sp>
      <p:sp>
        <p:nvSpPr>
          <p:cNvPr id="11" name="TextBox 10"/>
          <p:cNvSpPr txBox="1"/>
          <p:nvPr/>
        </p:nvSpPr>
        <p:spPr>
          <a:xfrm>
            <a:off x="4572000" y="4572000"/>
            <a:ext cx="2834640" cy="822960"/>
          </a:xfrm>
          <a:prstGeom prst="rect">
            <a:avLst/>
          </a:prstGeom>
          <a:noFill/>
        </p:spPr>
        <p:txBody>
          <a:bodyPr wrap="square">
            <a:spAutoFit/>
          </a:bodyPr>
          <a:lstStyle/>
          <a:p>
            <a:r>
              <a:rPr sz="3600" b="1">
                <a:solidFill>
                  <a:srgbClr val="55606B"/>
                </a:solidFill>
              </a:rPr>
              <a:t>244 MB</a:t>
            </a:r>
          </a:p>
        </p:txBody>
      </p:sp>
      <p:sp>
        <p:nvSpPr>
          <p:cNvPr id="12" name="TextBox 11"/>
          <p:cNvSpPr txBox="1"/>
          <p:nvPr/>
        </p:nvSpPr>
        <p:spPr>
          <a:xfrm>
            <a:off x="4572000" y="5285232"/>
            <a:ext cx="2834640" cy="457200"/>
          </a:xfrm>
          <a:prstGeom prst="rect">
            <a:avLst/>
          </a:prstGeom>
          <a:noFill/>
        </p:spPr>
        <p:txBody>
          <a:bodyPr wrap="square">
            <a:spAutoFit/>
          </a:bodyPr>
          <a:lstStyle/>
          <a:p>
            <a:r>
              <a:rPr sz="1200">
                <a:solidFill>
                  <a:srgbClr val="55606B"/>
                </a:solidFill>
              </a:rPr>
              <a:t>the forest that produced it</a:t>
            </a:r>
          </a:p>
        </p:txBody>
      </p:sp>
      <p:sp>
        <p:nvSpPr>
          <p:cNvPr id="13" name="TextBox 12"/>
          <p:cNvSpPr txBox="1"/>
          <p:nvPr/>
        </p:nvSpPr>
        <p:spPr>
          <a:xfrm>
            <a:off x="8229600" y="4663440"/>
            <a:ext cx="3474720" cy="1188720"/>
          </a:xfrm>
          <a:prstGeom prst="rect">
            <a:avLst/>
          </a:prstGeom>
          <a:noFill/>
        </p:spPr>
        <p:txBody>
          <a:bodyPr wrap="square">
            <a:spAutoFit/>
          </a:bodyPr>
          <a:lstStyle/>
          <a:p>
            <a:r>
              <a:rPr sz="1700" b="1">
                <a:solidFill>
                  <a:srgbClr val="2A78D6"/>
                </a:solidFill>
              </a:rPr>
              <a:t>Everything that
transfers fits in 3 KB.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Making the comparison fair</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The part that makes any of this measurable</a:t>
            </a:r>
          </a:p>
        </p:txBody>
      </p:sp>
      <p:sp>
        <p:nvSpPr>
          <p:cNvPr id="4" name="TextBox 3"/>
          <p:cNvSpPr txBox="1"/>
          <p:nvPr/>
        </p:nvSpPr>
        <p:spPr>
          <a:xfrm>
            <a:off x="10149840" y="6309360"/>
            <a:ext cx="1645920" cy="365760"/>
          </a:xfrm>
          <a:prstGeom prst="rect">
            <a:avLst/>
          </a:prstGeom>
          <a:noFill/>
        </p:spPr>
        <p:txBody>
          <a:bodyPr wrap="square">
            <a:spAutoFit/>
          </a:bodyPr>
          <a:lstStyle/>
          <a:p>
            <a:pPr algn="r"/>
            <a:r>
              <a:rPr sz="1000">
                <a:solidFill>
                  <a:srgbClr val="55606B"/>
                </a:solidFill>
              </a:rPr>
              <a:t>M3</a:t>
            </a:r>
          </a:p>
        </p:txBody>
      </p:sp>
      <p:sp>
        <p:nvSpPr>
          <p:cNvPr id="5" name="TextBox 4"/>
          <p:cNvSpPr txBox="1"/>
          <p:nvPr/>
        </p:nvSpPr>
        <p:spPr>
          <a:xfrm>
            <a:off x="640080" y="2011680"/>
            <a:ext cx="10972800" cy="411480"/>
          </a:xfrm>
          <a:prstGeom prst="rect">
            <a:avLst/>
          </a:prstGeom>
          <a:noFill/>
        </p:spPr>
        <p:txBody>
          <a:bodyPr wrap="square">
            <a:spAutoFit/>
          </a:bodyPr>
          <a:lstStyle/>
          <a:p>
            <a:r>
              <a:rPr sz="1700" b="1">
                <a:solidFill>
                  <a:srgbClr val="0E141B"/>
                </a:solidFill>
              </a:rPr>
              <a:t>Episodes matched across methods and nested across budgets - a budget increase</a:t>
            </a:r>
          </a:p>
        </p:txBody>
      </p:sp>
      <p:sp>
        <p:nvSpPr>
          <p:cNvPr id="6" name="TextBox 5"/>
          <p:cNvSpPr txBox="1"/>
          <p:nvPr/>
        </p:nvSpPr>
        <p:spPr>
          <a:xfrm>
            <a:off x="640080" y="2441448"/>
            <a:ext cx="10972800" cy="411480"/>
          </a:xfrm>
          <a:prstGeom prst="rect">
            <a:avLst/>
          </a:prstGeom>
          <a:noFill/>
        </p:spPr>
        <p:txBody>
          <a:bodyPr wrap="square">
            <a:spAutoFit/>
          </a:bodyPr>
          <a:lstStyle/>
          <a:p>
            <a:r>
              <a:rPr sz="1700" b="0">
                <a:solidFill>
                  <a:srgbClr val="55606B"/>
                </a:solidFill>
              </a:rPr>
              <a:t>adds pixels and changes nothing else.</a:t>
            </a:r>
          </a:p>
        </p:txBody>
      </p:sp>
      <p:sp>
        <p:nvSpPr>
          <p:cNvPr id="7" name="TextBox 6"/>
          <p:cNvSpPr txBox="1"/>
          <p:nvPr/>
        </p:nvSpPr>
        <p:spPr>
          <a:xfrm>
            <a:off x="640080" y="2871216"/>
            <a:ext cx="10972800" cy="411480"/>
          </a:xfrm>
          <a:prstGeom prst="rect">
            <a:avLst/>
          </a:prstGeom>
          <a:noFill/>
        </p:spPr>
        <p:txBody>
          <a:bodyPr wrap="square">
            <a:spAutoFit/>
          </a:bodyPr>
          <a:lstStyle/>
          <a:p>
            <a:r>
              <a:rPr sz="1700" b="1">
                <a:solidFill>
                  <a:srgbClr val="0E141B"/>
                </a:solidFill>
              </a:rPr>
              <a:t>Support indices stored, not regenerated from a seed - we had direct evidence</a:t>
            </a:r>
          </a:p>
        </p:txBody>
      </p:sp>
      <p:sp>
        <p:nvSpPr>
          <p:cNvPr id="8" name="TextBox 7"/>
          <p:cNvSpPr txBox="1"/>
          <p:nvPr/>
        </p:nvSpPr>
        <p:spPr>
          <a:xfrm>
            <a:off x="640080" y="3300984"/>
            <a:ext cx="10972800" cy="411480"/>
          </a:xfrm>
          <a:prstGeom prst="rect">
            <a:avLst/>
          </a:prstGeom>
          <a:noFill/>
        </p:spPr>
        <p:txBody>
          <a:bodyPr wrap="square">
            <a:spAutoFit/>
          </a:bodyPr>
          <a:lstStyle/>
          <a:p>
            <a:r>
              <a:rPr sz="1700" b="0">
                <a:solidFill>
                  <a:srgbClr val="55606B"/>
                </a:solidFill>
              </a:rPr>
              <a:t>that seeds do not survive an environment change.</a:t>
            </a:r>
          </a:p>
        </p:txBody>
      </p:sp>
      <p:sp>
        <p:nvSpPr>
          <p:cNvPr id="9" name="TextBox 8"/>
          <p:cNvSpPr txBox="1"/>
          <p:nvPr/>
        </p:nvSpPr>
        <p:spPr>
          <a:xfrm>
            <a:off x="640080" y="3730752"/>
            <a:ext cx="10972800" cy="411480"/>
          </a:xfrm>
          <a:prstGeom prst="rect">
            <a:avLst/>
          </a:prstGeom>
          <a:noFill/>
        </p:spPr>
        <p:txBody>
          <a:bodyPr wrap="square">
            <a:spAutoFit/>
          </a:bodyPr>
          <a:lstStyle/>
          <a:p>
            <a:r>
              <a:rPr sz="1700" b="0">
                <a:solidFill>
                  <a:srgbClr val="55606B"/>
                </a:solidFill>
              </a:rPr>
              <a:t>Selection on trials 0-4. Audit on trials 5-9, reported once.</a:t>
            </a:r>
          </a:p>
        </p:txBody>
      </p:sp>
      <p:sp>
        <p:nvSpPr>
          <p:cNvPr id="10" name="TextBox 9"/>
          <p:cNvSpPr txBox="1"/>
          <p:nvPr/>
        </p:nvSpPr>
        <p:spPr>
          <a:xfrm>
            <a:off x="640080" y="4590288"/>
            <a:ext cx="10972800" cy="411480"/>
          </a:xfrm>
          <a:prstGeom prst="rect">
            <a:avLst/>
          </a:prstGeom>
          <a:noFill/>
        </p:spPr>
        <p:txBody>
          <a:bodyPr wrap="square">
            <a:spAutoFit/>
          </a:bodyPr>
          <a:lstStyle/>
          <a:p>
            <a:r>
              <a:rPr sz="1700" b="1">
                <a:solidFill>
                  <a:srgbClr val="0E141B"/>
                </a:solidFill>
              </a:rPr>
              <a:t>Beating zero-shot proves nothing. Beating the target-only control does.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Does it work?</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Held-out audit episodes, mean +/- 1 SD</a:t>
            </a:r>
          </a:p>
        </p:txBody>
      </p:sp>
      <p:sp>
        <p:nvSpPr>
          <p:cNvPr id="4" name="TextBox 3"/>
          <p:cNvSpPr txBox="1"/>
          <p:nvPr/>
        </p:nvSpPr>
        <p:spPr>
          <a:xfrm>
            <a:off x="10149840" y="6309360"/>
            <a:ext cx="1645920" cy="365760"/>
          </a:xfrm>
          <a:prstGeom prst="rect">
            <a:avLst/>
          </a:prstGeom>
          <a:noFill/>
        </p:spPr>
        <p:txBody>
          <a:bodyPr wrap="square">
            <a:spAutoFit/>
          </a:bodyPr>
          <a:lstStyle/>
          <a:p>
            <a:pPr algn="r"/>
            <a:r>
              <a:rPr sz="1000">
                <a:solidFill>
                  <a:srgbClr val="55606B"/>
                </a:solidFill>
              </a:rPr>
              <a:t>M3</a:t>
            </a:r>
          </a:p>
        </p:txBody>
      </p:sp>
      <p:pic>
        <p:nvPicPr>
          <p:cNvPr id="5" name="Picture 4" descr="fig1_learning_curve.png"/>
          <p:cNvPicPr>
            <a:picLocks noChangeAspect="1"/>
          </p:cNvPicPr>
          <p:nvPr/>
        </p:nvPicPr>
        <p:blipFill>
          <a:blip r:embed="rId2"/>
          <a:stretch>
            <a:fillRect/>
          </a:stretch>
        </p:blipFill>
        <p:spPr>
          <a:xfrm>
            <a:off x="640080" y="1737360"/>
            <a:ext cx="6323464" cy="4480560"/>
          </a:xfrm>
          <a:prstGeom prst="rect">
            <a:avLst/>
          </a:prstGeom>
        </p:spPr>
      </p:pic>
      <p:sp>
        <p:nvSpPr>
          <p:cNvPr id="6" name="TextBox 5"/>
          <p:cNvSpPr txBox="1"/>
          <p:nvPr/>
        </p:nvSpPr>
        <p:spPr>
          <a:xfrm>
            <a:off x="6675120" y="2148840"/>
            <a:ext cx="1234440" cy="365760"/>
          </a:xfrm>
          <a:prstGeom prst="rect">
            <a:avLst/>
          </a:prstGeom>
          <a:noFill/>
        </p:spPr>
        <p:txBody>
          <a:bodyPr wrap="square">
            <a:spAutoFit/>
          </a:bodyPr>
          <a:lstStyle/>
          <a:p>
            <a:r>
              <a:rPr sz="1400" b="1">
                <a:solidFill>
                  <a:srgbClr val="0E141B"/>
                </a:solidFill>
              </a:rPr>
              <a:t>shots</a:t>
            </a:r>
          </a:p>
        </p:txBody>
      </p:sp>
      <p:sp>
        <p:nvSpPr>
          <p:cNvPr id="7" name="TextBox 6"/>
          <p:cNvSpPr txBox="1"/>
          <p:nvPr/>
        </p:nvSpPr>
        <p:spPr>
          <a:xfrm>
            <a:off x="7955279" y="2148840"/>
            <a:ext cx="1234440" cy="365760"/>
          </a:xfrm>
          <a:prstGeom prst="rect">
            <a:avLst/>
          </a:prstGeom>
          <a:noFill/>
        </p:spPr>
        <p:txBody>
          <a:bodyPr wrap="square">
            <a:spAutoFit/>
          </a:bodyPr>
          <a:lstStyle/>
          <a:p>
            <a:r>
              <a:rPr sz="1400" b="1">
                <a:solidFill>
                  <a:srgbClr val="0E141B"/>
                </a:solidFill>
              </a:rPr>
              <a:t>control</a:t>
            </a:r>
          </a:p>
        </p:txBody>
      </p:sp>
      <p:sp>
        <p:nvSpPr>
          <p:cNvPr id="8" name="TextBox 7"/>
          <p:cNvSpPr txBox="1"/>
          <p:nvPr/>
        </p:nvSpPr>
        <p:spPr>
          <a:xfrm>
            <a:off x="9235440" y="2148840"/>
            <a:ext cx="1234440" cy="365760"/>
          </a:xfrm>
          <a:prstGeom prst="rect">
            <a:avLst/>
          </a:prstGeom>
          <a:noFill/>
        </p:spPr>
        <p:txBody>
          <a:bodyPr wrap="square">
            <a:spAutoFit/>
          </a:bodyPr>
          <a:lstStyle/>
          <a:p>
            <a:r>
              <a:rPr sz="1400" b="1">
                <a:solidFill>
                  <a:srgbClr val="0E141B"/>
                </a:solidFill>
              </a:rPr>
              <a:t>ours</a:t>
            </a:r>
          </a:p>
        </p:txBody>
      </p:sp>
      <p:sp>
        <p:nvSpPr>
          <p:cNvPr id="9" name="TextBox 8"/>
          <p:cNvSpPr txBox="1"/>
          <p:nvPr/>
        </p:nvSpPr>
        <p:spPr>
          <a:xfrm>
            <a:off x="10515600" y="2148840"/>
            <a:ext cx="1234440" cy="365760"/>
          </a:xfrm>
          <a:prstGeom prst="rect">
            <a:avLst/>
          </a:prstGeom>
          <a:noFill/>
        </p:spPr>
        <p:txBody>
          <a:bodyPr wrap="square">
            <a:spAutoFit/>
          </a:bodyPr>
          <a:lstStyle/>
          <a:p>
            <a:r>
              <a:rPr sz="1400" b="1">
                <a:solidFill>
                  <a:srgbClr val="0E141B"/>
                </a:solidFill>
              </a:rPr>
              <a:t>gain</a:t>
            </a:r>
          </a:p>
        </p:txBody>
      </p:sp>
      <p:sp>
        <p:nvSpPr>
          <p:cNvPr id="10" name="TextBox 9"/>
          <p:cNvSpPr txBox="1"/>
          <p:nvPr/>
        </p:nvSpPr>
        <p:spPr>
          <a:xfrm>
            <a:off x="6675120" y="2551176"/>
            <a:ext cx="1234440" cy="365760"/>
          </a:xfrm>
          <a:prstGeom prst="rect">
            <a:avLst/>
          </a:prstGeom>
          <a:noFill/>
        </p:spPr>
        <p:txBody>
          <a:bodyPr wrap="square">
            <a:spAutoFit/>
          </a:bodyPr>
          <a:lstStyle/>
          <a:p>
            <a:r>
              <a:rPr sz="1400" b="0">
                <a:solidFill>
                  <a:srgbClr val="55606B"/>
                </a:solidFill>
              </a:rPr>
              <a:t>5</a:t>
            </a:r>
          </a:p>
        </p:txBody>
      </p:sp>
      <p:sp>
        <p:nvSpPr>
          <p:cNvPr id="11" name="TextBox 10"/>
          <p:cNvSpPr txBox="1"/>
          <p:nvPr/>
        </p:nvSpPr>
        <p:spPr>
          <a:xfrm>
            <a:off x="7955279" y="2551176"/>
            <a:ext cx="1234440" cy="365760"/>
          </a:xfrm>
          <a:prstGeom prst="rect">
            <a:avLst/>
          </a:prstGeom>
          <a:noFill/>
        </p:spPr>
        <p:txBody>
          <a:bodyPr wrap="square">
            <a:spAutoFit/>
          </a:bodyPr>
          <a:lstStyle/>
          <a:p>
            <a:r>
              <a:rPr sz="1400" b="0">
                <a:solidFill>
                  <a:srgbClr val="55606B"/>
                </a:solidFill>
              </a:rPr>
              <a:t>0.5556</a:t>
            </a:r>
          </a:p>
        </p:txBody>
      </p:sp>
      <p:sp>
        <p:nvSpPr>
          <p:cNvPr id="12" name="TextBox 11"/>
          <p:cNvSpPr txBox="1"/>
          <p:nvPr/>
        </p:nvSpPr>
        <p:spPr>
          <a:xfrm>
            <a:off x="9235440" y="2551176"/>
            <a:ext cx="1234440" cy="365760"/>
          </a:xfrm>
          <a:prstGeom prst="rect">
            <a:avLst/>
          </a:prstGeom>
          <a:noFill/>
        </p:spPr>
        <p:txBody>
          <a:bodyPr wrap="square">
            <a:spAutoFit/>
          </a:bodyPr>
          <a:lstStyle/>
          <a:p>
            <a:r>
              <a:rPr sz="1400" b="0">
                <a:solidFill>
                  <a:srgbClr val="55606B"/>
                </a:solidFill>
              </a:rPr>
              <a:t>0.5589</a:t>
            </a:r>
          </a:p>
        </p:txBody>
      </p:sp>
      <p:sp>
        <p:nvSpPr>
          <p:cNvPr id="13" name="TextBox 12"/>
          <p:cNvSpPr txBox="1"/>
          <p:nvPr/>
        </p:nvSpPr>
        <p:spPr>
          <a:xfrm>
            <a:off x="10515600" y="2551176"/>
            <a:ext cx="1234440" cy="365760"/>
          </a:xfrm>
          <a:prstGeom prst="rect">
            <a:avLst/>
          </a:prstGeom>
          <a:noFill/>
        </p:spPr>
        <p:txBody>
          <a:bodyPr wrap="square">
            <a:spAutoFit/>
          </a:bodyPr>
          <a:lstStyle/>
          <a:p>
            <a:r>
              <a:rPr sz="1400" b="0">
                <a:solidFill>
                  <a:srgbClr val="2A78D6"/>
                </a:solidFill>
              </a:rPr>
              <a:t>+0.0033</a:t>
            </a:r>
          </a:p>
        </p:txBody>
      </p:sp>
      <p:sp>
        <p:nvSpPr>
          <p:cNvPr id="14" name="TextBox 13"/>
          <p:cNvSpPr txBox="1"/>
          <p:nvPr/>
        </p:nvSpPr>
        <p:spPr>
          <a:xfrm>
            <a:off x="6675120" y="2953512"/>
            <a:ext cx="1234440" cy="365760"/>
          </a:xfrm>
          <a:prstGeom prst="rect">
            <a:avLst/>
          </a:prstGeom>
          <a:noFill/>
        </p:spPr>
        <p:txBody>
          <a:bodyPr wrap="square">
            <a:spAutoFit/>
          </a:bodyPr>
          <a:lstStyle/>
          <a:p>
            <a:r>
              <a:rPr sz="1400" b="0">
                <a:solidFill>
                  <a:srgbClr val="55606B"/>
                </a:solidFill>
              </a:rPr>
              <a:t>25</a:t>
            </a:r>
          </a:p>
        </p:txBody>
      </p:sp>
      <p:sp>
        <p:nvSpPr>
          <p:cNvPr id="15" name="TextBox 14"/>
          <p:cNvSpPr txBox="1"/>
          <p:nvPr/>
        </p:nvSpPr>
        <p:spPr>
          <a:xfrm>
            <a:off x="7955279" y="2953512"/>
            <a:ext cx="1234440" cy="365760"/>
          </a:xfrm>
          <a:prstGeom prst="rect">
            <a:avLst/>
          </a:prstGeom>
          <a:noFill/>
        </p:spPr>
        <p:txBody>
          <a:bodyPr wrap="square">
            <a:spAutoFit/>
          </a:bodyPr>
          <a:lstStyle/>
          <a:p>
            <a:r>
              <a:rPr sz="1400" b="0">
                <a:solidFill>
                  <a:srgbClr val="55606B"/>
                </a:solidFill>
              </a:rPr>
              <a:t>0.5956</a:t>
            </a:r>
          </a:p>
        </p:txBody>
      </p:sp>
      <p:sp>
        <p:nvSpPr>
          <p:cNvPr id="16" name="TextBox 15"/>
          <p:cNvSpPr txBox="1"/>
          <p:nvPr/>
        </p:nvSpPr>
        <p:spPr>
          <a:xfrm>
            <a:off x="9235440" y="2953512"/>
            <a:ext cx="1234440" cy="365760"/>
          </a:xfrm>
          <a:prstGeom prst="rect">
            <a:avLst/>
          </a:prstGeom>
          <a:noFill/>
        </p:spPr>
        <p:txBody>
          <a:bodyPr wrap="square">
            <a:spAutoFit/>
          </a:bodyPr>
          <a:lstStyle/>
          <a:p>
            <a:r>
              <a:rPr sz="1400" b="0">
                <a:solidFill>
                  <a:srgbClr val="55606B"/>
                </a:solidFill>
              </a:rPr>
              <a:t>0.6028</a:t>
            </a:r>
          </a:p>
        </p:txBody>
      </p:sp>
      <p:sp>
        <p:nvSpPr>
          <p:cNvPr id="17" name="TextBox 16"/>
          <p:cNvSpPr txBox="1"/>
          <p:nvPr/>
        </p:nvSpPr>
        <p:spPr>
          <a:xfrm>
            <a:off x="10515600" y="2953512"/>
            <a:ext cx="1234440" cy="365760"/>
          </a:xfrm>
          <a:prstGeom prst="rect">
            <a:avLst/>
          </a:prstGeom>
          <a:noFill/>
        </p:spPr>
        <p:txBody>
          <a:bodyPr wrap="square">
            <a:spAutoFit/>
          </a:bodyPr>
          <a:lstStyle/>
          <a:p>
            <a:r>
              <a:rPr sz="1400" b="0">
                <a:solidFill>
                  <a:srgbClr val="2A78D6"/>
                </a:solidFill>
              </a:rPr>
              <a:t>+0.0072</a:t>
            </a:r>
          </a:p>
        </p:txBody>
      </p:sp>
      <p:sp>
        <p:nvSpPr>
          <p:cNvPr id="18" name="TextBox 17"/>
          <p:cNvSpPr txBox="1"/>
          <p:nvPr/>
        </p:nvSpPr>
        <p:spPr>
          <a:xfrm>
            <a:off x="6675120" y="3355848"/>
            <a:ext cx="1234440" cy="365760"/>
          </a:xfrm>
          <a:prstGeom prst="rect">
            <a:avLst/>
          </a:prstGeom>
          <a:noFill/>
        </p:spPr>
        <p:txBody>
          <a:bodyPr wrap="square">
            <a:spAutoFit/>
          </a:bodyPr>
          <a:lstStyle/>
          <a:p>
            <a:r>
              <a:rPr sz="1400" b="0">
                <a:solidFill>
                  <a:srgbClr val="55606B"/>
                </a:solidFill>
              </a:rPr>
              <a:t>50</a:t>
            </a:r>
          </a:p>
        </p:txBody>
      </p:sp>
      <p:sp>
        <p:nvSpPr>
          <p:cNvPr id="19" name="TextBox 18"/>
          <p:cNvSpPr txBox="1"/>
          <p:nvPr/>
        </p:nvSpPr>
        <p:spPr>
          <a:xfrm>
            <a:off x="7955279" y="3355848"/>
            <a:ext cx="1234440" cy="365760"/>
          </a:xfrm>
          <a:prstGeom prst="rect">
            <a:avLst/>
          </a:prstGeom>
          <a:noFill/>
        </p:spPr>
        <p:txBody>
          <a:bodyPr wrap="square">
            <a:spAutoFit/>
          </a:bodyPr>
          <a:lstStyle/>
          <a:p>
            <a:r>
              <a:rPr sz="1400" b="0">
                <a:solidFill>
                  <a:srgbClr val="55606B"/>
                </a:solidFill>
              </a:rPr>
              <a:t>0.6152</a:t>
            </a:r>
          </a:p>
        </p:txBody>
      </p:sp>
      <p:sp>
        <p:nvSpPr>
          <p:cNvPr id="20" name="TextBox 19"/>
          <p:cNvSpPr txBox="1"/>
          <p:nvPr/>
        </p:nvSpPr>
        <p:spPr>
          <a:xfrm>
            <a:off x="9235440" y="3355848"/>
            <a:ext cx="1234440" cy="365760"/>
          </a:xfrm>
          <a:prstGeom prst="rect">
            <a:avLst/>
          </a:prstGeom>
          <a:noFill/>
        </p:spPr>
        <p:txBody>
          <a:bodyPr wrap="square">
            <a:spAutoFit/>
          </a:bodyPr>
          <a:lstStyle/>
          <a:p>
            <a:r>
              <a:rPr sz="1400" b="0">
                <a:solidFill>
                  <a:srgbClr val="55606B"/>
                </a:solidFill>
              </a:rPr>
              <a:t>0.6179</a:t>
            </a:r>
          </a:p>
        </p:txBody>
      </p:sp>
      <p:sp>
        <p:nvSpPr>
          <p:cNvPr id="21" name="TextBox 20"/>
          <p:cNvSpPr txBox="1"/>
          <p:nvPr/>
        </p:nvSpPr>
        <p:spPr>
          <a:xfrm>
            <a:off x="10515600" y="3355848"/>
            <a:ext cx="1234440" cy="365760"/>
          </a:xfrm>
          <a:prstGeom prst="rect">
            <a:avLst/>
          </a:prstGeom>
          <a:noFill/>
        </p:spPr>
        <p:txBody>
          <a:bodyPr wrap="square">
            <a:spAutoFit/>
          </a:bodyPr>
          <a:lstStyle/>
          <a:p>
            <a:r>
              <a:rPr sz="1400" b="0">
                <a:solidFill>
                  <a:srgbClr val="2A78D6"/>
                </a:solidFill>
              </a:rPr>
              <a:t>+0.0026</a:t>
            </a:r>
          </a:p>
        </p:txBody>
      </p:sp>
      <p:sp>
        <p:nvSpPr>
          <p:cNvPr id="22" name="TextBox 21"/>
          <p:cNvSpPr txBox="1"/>
          <p:nvPr/>
        </p:nvSpPr>
        <p:spPr>
          <a:xfrm>
            <a:off x="6675120" y="3758184"/>
            <a:ext cx="1234440" cy="365760"/>
          </a:xfrm>
          <a:prstGeom prst="rect">
            <a:avLst/>
          </a:prstGeom>
          <a:noFill/>
        </p:spPr>
        <p:txBody>
          <a:bodyPr wrap="square">
            <a:spAutoFit/>
          </a:bodyPr>
          <a:lstStyle/>
          <a:p>
            <a:r>
              <a:rPr sz="1400" b="0">
                <a:solidFill>
                  <a:srgbClr val="55606B"/>
                </a:solidFill>
              </a:rPr>
              <a:t>100</a:t>
            </a:r>
          </a:p>
        </p:txBody>
      </p:sp>
      <p:sp>
        <p:nvSpPr>
          <p:cNvPr id="23" name="TextBox 22"/>
          <p:cNvSpPr txBox="1"/>
          <p:nvPr/>
        </p:nvSpPr>
        <p:spPr>
          <a:xfrm>
            <a:off x="7955279" y="3758184"/>
            <a:ext cx="1234440" cy="365760"/>
          </a:xfrm>
          <a:prstGeom prst="rect">
            <a:avLst/>
          </a:prstGeom>
          <a:noFill/>
        </p:spPr>
        <p:txBody>
          <a:bodyPr wrap="square">
            <a:spAutoFit/>
          </a:bodyPr>
          <a:lstStyle/>
          <a:p>
            <a:r>
              <a:rPr sz="1400" b="0">
                <a:solidFill>
                  <a:srgbClr val="55606B"/>
                </a:solidFill>
              </a:rPr>
              <a:t>0.6191</a:t>
            </a:r>
          </a:p>
        </p:txBody>
      </p:sp>
      <p:sp>
        <p:nvSpPr>
          <p:cNvPr id="24" name="TextBox 23"/>
          <p:cNvSpPr txBox="1"/>
          <p:nvPr/>
        </p:nvSpPr>
        <p:spPr>
          <a:xfrm>
            <a:off x="9235440" y="3758184"/>
            <a:ext cx="1234440" cy="365760"/>
          </a:xfrm>
          <a:prstGeom prst="rect">
            <a:avLst/>
          </a:prstGeom>
          <a:noFill/>
        </p:spPr>
        <p:txBody>
          <a:bodyPr wrap="square">
            <a:spAutoFit/>
          </a:bodyPr>
          <a:lstStyle/>
          <a:p>
            <a:r>
              <a:rPr sz="1400" b="0">
                <a:solidFill>
                  <a:srgbClr val="55606B"/>
                </a:solidFill>
              </a:rPr>
              <a:t>0.6208</a:t>
            </a:r>
          </a:p>
        </p:txBody>
      </p:sp>
      <p:sp>
        <p:nvSpPr>
          <p:cNvPr id="25" name="TextBox 24"/>
          <p:cNvSpPr txBox="1"/>
          <p:nvPr/>
        </p:nvSpPr>
        <p:spPr>
          <a:xfrm>
            <a:off x="10515600" y="3758184"/>
            <a:ext cx="1234440" cy="365760"/>
          </a:xfrm>
          <a:prstGeom prst="rect">
            <a:avLst/>
          </a:prstGeom>
          <a:noFill/>
        </p:spPr>
        <p:txBody>
          <a:bodyPr wrap="square">
            <a:spAutoFit/>
          </a:bodyPr>
          <a:lstStyle/>
          <a:p>
            <a:r>
              <a:rPr sz="1400" b="0">
                <a:solidFill>
                  <a:srgbClr val="2A78D6"/>
                </a:solidFill>
              </a:rPr>
              <a:t>+0.0018</a:t>
            </a:r>
          </a:p>
        </p:txBody>
      </p:sp>
      <p:sp>
        <p:nvSpPr>
          <p:cNvPr id="26" name="TextBox 25"/>
          <p:cNvSpPr txBox="1"/>
          <p:nvPr/>
        </p:nvSpPr>
        <p:spPr>
          <a:xfrm>
            <a:off x="6675120" y="4160520"/>
            <a:ext cx="1234440" cy="365760"/>
          </a:xfrm>
          <a:prstGeom prst="rect">
            <a:avLst/>
          </a:prstGeom>
          <a:noFill/>
        </p:spPr>
        <p:txBody>
          <a:bodyPr wrap="square">
            <a:spAutoFit/>
          </a:bodyPr>
          <a:lstStyle/>
          <a:p>
            <a:r>
              <a:rPr sz="1400" b="0">
                <a:solidFill>
                  <a:srgbClr val="55606B"/>
                </a:solidFill>
              </a:rPr>
              <a:t>200</a:t>
            </a:r>
          </a:p>
        </p:txBody>
      </p:sp>
      <p:sp>
        <p:nvSpPr>
          <p:cNvPr id="27" name="TextBox 26"/>
          <p:cNvSpPr txBox="1"/>
          <p:nvPr/>
        </p:nvSpPr>
        <p:spPr>
          <a:xfrm>
            <a:off x="7955279" y="4160520"/>
            <a:ext cx="1234440" cy="365760"/>
          </a:xfrm>
          <a:prstGeom prst="rect">
            <a:avLst/>
          </a:prstGeom>
          <a:noFill/>
        </p:spPr>
        <p:txBody>
          <a:bodyPr wrap="square">
            <a:spAutoFit/>
          </a:bodyPr>
          <a:lstStyle/>
          <a:p>
            <a:r>
              <a:rPr sz="1400" b="0">
                <a:solidFill>
                  <a:srgbClr val="55606B"/>
                </a:solidFill>
              </a:rPr>
              <a:t>0.6185</a:t>
            </a:r>
          </a:p>
        </p:txBody>
      </p:sp>
      <p:sp>
        <p:nvSpPr>
          <p:cNvPr id="28" name="TextBox 27"/>
          <p:cNvSpPr txBox="1"/>
          <p:nvPr/>
        </p:nvSpPr>
        <p:spPr>
          <a:xfrm>
            <a:off x="9235440" y="4160520"/>
            <a:ext cx="1234440" cy="365760"/>
          </a:xfrm>
          <a:prstGeom prst="rect">
            <a:avLst/>
          </a:prstGeom>
          <a:noFill/>
        </p:spPr>
        <p:txBody>
          <a:bodyPr wrap="square">
            <a:spAutoFit/>
          </a:bodyPr>
          <a:lstStyle/>
          <a:p>
            <a:r>
              <a:rPr sz="1400" b="0">
                <a:solidFill>
                  <a:srgbClr val="55606B"/>
                </a:solidFill>
              </a:rPr>
              <a:t>0.6227</a:t>
            </a:r>
          </a:p>
        </p:txBody>
      </p:sp>
      <p:sp>
        <p:nvSpPr>
          <p:cNvPr id="29" name="TextBox 28"/>
          <p:cNvSpPr txBox="1"/>
          <p:nvPr/>
        </p:nvSpPr>
        <p:spPr>
          <a:xfrm>
            <a:off x="10515600" y="4160520"/>
            <a:ext cx="1234440" cy="365760"/>
          </a:xfrm>
          <a:prstGeom prst="rect">
            <a:avLst/>
          </a:prstGeom>
          <a:noFill/>
        </p:spPr>
        <p:txBody>
          <a:bodyPr wrap="square">
            <a:spAutoFit/>
          </a:bodyPr>
          <a:lstStyle/>
          <a:p>
            <a:r>
              <a:rPr sz="1400" b="0">
                <a:solidFill>
                  <a:srgbClr val="2A78D6"/>
                </a:solidFill>
              </a:rPr>
              <a:t>+0.0042</a:t>
            </a:r>
          </a:p>
        </p:txBody>
      </p:sp>
      <p:sp>
        <p:nvSpPr>
          <p:cNvPr id="30" name="TextBox 29"/>
          <p:cNvSpPr txBox="1"/>
          <p:nvPr/>
        </p:nvSpPr>
        <p:spPr>
          <a:xfrm>
            <a:off x="6675120" y="4937760"/>
            <a:ext cx="4937760" cy="1005840"/>
          </a:xfrm>
          <a:prstGeom prst="rect">
            <a:avLst/>
          </a:prstGeom>
          <a:noFill/>
        </p:spPr>
        <p:txBody>
          <a:bodyPr wrap="square">
            <a:spAutoFit/>
          </a:bodyPr>
          <a:lstStyle/>
          <a:p>
            <a:r>
              <a:rPr sz="1400">
                <a:solidFill>
                  <a:srgbClr val="0E141B"/>
                </a:solidFill>
              </a:rPr>
              <a:t>Positive at every budget.
The lines are close - that is the honest picture.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What is worth transferring from Madrid?</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Nine frozen source representations, identical procedure otherwise</a:t>
            </a:r>
          </a:p>
        </p:txBody>
      </p:sp>
      <p:sp>
        <p:nvSpPr>
          <p:cNvPr id="4" name="TextBox 3"/>
          <p:cNvSpPr txBox="1"/>
          <p:nvPr/>
        </p:nvSpPr>
        <p:spPr>
          <a:xfrm>
            <a:off x="10149840" y="6309360"/>
            <a:ext cx="1645920" cy="365760"/>
          </a:xfrm>
          <a:prstGeom prst="rect">
            <a:avLst/>
          </a:prstGeom>
          <a:noFill/>
        </p:spPr>
        <p:txBody>
          <a:bodyPr wrap="square">
            <a:spAutoFit/>
          </a:bodyPr>
          <a:lstStyle/>
          <a:p>
            <a:pPr algn="r"/>
            <a:r>
              <a:rPr sz="1000">
                <a:solidFill>
                  <a:srgbClr val="55606B"/>
                </a:solidFill>
              </a:rPr>
              <a:t>M3 &gt; M4</a:t>
            </a:r>
          </a:p>
        </p:txBody>
      </p:sp>
      <p:pic>
        <p:nvPicPr>
          <p:cNvPr id="5" name="Picture 4" descr="fig3_method_ablation.png"/>
          <p:cNvPicPr>
            <a:picLocks noChangeAspect="1"/>
          </p:cNvPicPr>
          <p:nvPr/>
        </p:nvPicPr>
        <p:blipFill>
          <a:blip r:embed="rId2"/>
          <a:stretch>
            <a:fillRect/>
          </a:stretch>
        </p:blipFill>
        <p:spPr>
          <a:xfrm>
            <a:off x="548640" y="1783080"/>
            <a:ext cx="7529906" cy="4389120"/>
          </a:xfrm>
          <a:prstGeom prst="rect">
            <a:avLst/>
          </a:prstGeom>
        </p:spPr>
      </p:pic>
      <p:sp>
        <p:nvSpPr>
          <p:cNvPr id="6" name="TextBox 5"/>
          <p:cNvSpPr txBox="1"/>
          <p:nvPr/>
        </p:nvSpPr>
        <p:spPr>
          <a:xfrm>
            <a:off x="6309360" y="1965960"/>
            <a:ext cx="5394960" cy="411480"/>
          </a:xfrm>
          <a:prstGeom prst="rect">
            <a:avLst/>
          </a:prstGeom>
          <a:noFill/>
        </p:spPr>
        <p:txBody>
          <a:bodyPr wrap="square">
            <a:spAutoFit/>
          </a:bodyPr>
          <a:lstStyle/>
          <a:p>
            <a:r>
              <a:rPr sz="1500" b="1">
                <a:solidFill>
                  <a:srgbClr val="0E141B"/>
                </a:solidFill>
              </a:rPr>
              <a:t>The crude method beat the clever ones.</a:t>
            </a:r>
          </a:p>
        </p:txBody>
      </p:sp>
      <p:sp>
        <p:nvSpPr>
          <p:cNvPr id="7" name="TextBox 6"/>
          <p:cNvSpPr txBox="1"/>
          <p:nvPr/>
        </p:nvSpPr>
        <p:spPr>
          <a:xfrm>
            <a:off x="6309360" y="2770632"/>
            <a:ext cx="5394960" cy="411480"/>
          </a:xfrm>
          <a:prstGeom prst="rect">
            <a:avLst/>
          </a:prstGeom>
          <a:noFill/>
        </p:spPr>
        <p:txBody>
          <a:bodyPr wrap="square">
            <a:spAutoFit/>
          </a:bodyPr>
          <a:lstStyle/>
          <a:p>
            <a:r>
              <a:rPr sz="1500" b="0">
                <a:solidFill>
                  <a:srgbClr val="55606B"/>
                </a:solidFill>
              </a:rPr>
              <a:t>Importance weighting worked.</a:t>
            </a:r>
          </a:p>
        </p:txBody>
      </p:sp>
      <p:sp>
        <p:nvSpPr>
          <p:cNvPr id="8" name="TextBox 7"/>
          <p:cNvSpPr txBox="1"/>
          <p:nvPr/>
        </p:nvSpPr>
        <p:spPr>
          <a:xfrm>
            <a:off x="6309360" y="3172968"/>
            <a:ext cx="5394960" cy="411480"/>
          </a:xfrm>
          <a:prstGeom prst="rect">
            <a:avLst/>
          </a:prstGeom>
          <a:noFill/>
        </p:spPr>
        <p:txBody>
          <a:bodyPr wrap="square">
            <a:spAutoFit/>
          </a:bodyPr>
          <a:lstStyle/>
          <a:p>
            <a:r>
              <a:rPr sz="1500" b="0">
                <a:solidFill>
                  <a:srgbClr val="55606B"/>
                </a:solidFill>
              </a:rPr>
              <a:t>Rank-3 LDA hurt.</a:t>
            </a:r>
          </a:p>
        </p:txBody>
      </p:sp>
      <p:sp>
        <p:nvSpPr>
          <p:cNvPr id="9" name="TextBox 8"/>
          <p:cNvSpPr txBox="1"/>
          <p:nvPr/>
        </p:nvSpPr>
        <p:spPr>
          <a:xfrm>
            <a:off x="6309360" y="3575304"/>
            <a:ext cx="5394960" cy="411480"/>
          </a:xfrm>
          <a:prstGeom prst="rect">
            <a:avLst/>
          </a:prstGeom>
          <a:noFill/>
        </p:spPr>
        <p:txBody>
          <a:bodyPr wrap="square">
            <a:spAutoFit/>
          </a:bodyPr>
          <a:lstStyle/>
          <a:p>
            <a:r>
              <a:rPr sz="1500" b="0">
                <a:solidFill>
                  <a:srgbClr val="55606B"/>
                </a:solidFill>
              </a:rPr>
              <a:t>The classifier's own probability space hurt</a:t>
            </a:r>
          </a:p>
        </p:txBody>
      </p:sp>
      <p:sp>
        <p:nvSpPr>
          <p:cNvPr id="10" name="TextBox 9"/>
          <p:cNvSpPr txBox="1"/>
          <p:nvPr/>
        </p:nvSpPr>
        <p:spPr>
          <a:xfrm>
            <a:off x="6309360" y="3977639"/>
            <a:ext cx="5394960" cy="411480"/>
          </a:xfrm>
          <a:prstGeom prst="rect">
            <a:avLst/>
          </a:prstGeom>
          <a:noFill/>
        </p:spPr>
        <p:txBody>
          <a:bodyPr wrap="square">
            <a:spAutoFit/>
          </a:bodyPr>
          <a:lstStyle/>
          <a:p>
            <a:r>
              <a:rPr sz="1500" b="0">
                <a:solidFill>
                  <a:srgbClr val="55606B"/>
                </a:solidFill>
              </a:rPr>
              <a:t>badly - the worst of the nine.</a:t>
            </a:r>
          </a:p>
        </p:txBody>
      </p:sp>
      <p:sp>
        <p:nvSpPr>
          <p:cNvPr id="11" name="TextBox 10"/>
          <p:cNvSpPr txBox="1"/>
          <p:nvPr/>
        </p:nvSpPr>
        <p:spPr>
          <a:xfrm>
            <a:off x="6309360" y="4782312"/>
            <a:ext cx="5394960" cy="411480"/>
          </a:xfrm>
          <a:prstGeom prst="rect">
            <a:avLst/>
          </a:prstGeom>
          <a:noFill/>
        </p:spPr>
        <p:txBody>
          <a:bodyPr wrap="square">
            <a:spAutoFit/>
          </a:bodyPr>
          <a:lstStyle/>
          <a:p>
            <a:r>
              <a:rPr sz="1500" b="1">
                <a:solidFill>
                  <a:srgbClr val="0E141B"/>
                </a:solidFill>
              </a:rPr>
              <a:t>Both compress 60 dimensions into 3-4 and</a:t>
            </a:r>
          </a:p>
        </p:txBody>
      </p:sp>
      <p:sp>
        <p:nvSpPr>
          <p:cNvPr id="12" name="TextBox 11"/>
          <p:cNvSpPr txBox="1"/>
          <p:nvPr/>
        </p:nvSpPr>
        <p:spPr>
          <a:xfrm>
            <a:off x="6309360" y="5184648"/>
            <a:ext cx="5394960" cy="411480"/>
          </a:xfrm>
          <a:prstGeom prst="rect">
            <a:avLst/>
          </a:prstGeom>
          <a:noFill/>
        </p:spPr>
        <p:txBody>
          <a:bodyPr wrap="square">
            <a:spAutoFit/>
          </a:bodyPr>
          <a:lstStyle/>
          <a:p>
            <a:r>
              <a:rPr sz="1500" b="1">
                <a:solidFill>
                  <a:srgbClr val="0E141B"/>
                </a:solidFill>
              </a:rPr>
              <a:t>discard what Amsterdam needs.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The ranking depends on the label budget</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Same transform, opposite verdict</a:t>
            </a:r>
          </a:p>
        </p:txBody>
      </p:sp>
      <p:sp>
        <p:nvSpPr>
          <p:cNvPr id="4" name="TextBox 3"/>
          <p:cNvSpPr txBox="1"/>
          <p:nvPr/>
        </p:nvSpPr>
        <p:spPr>
          <a:xfrm>
            <a:off x="10149840" y="6309360"/>
            <a:ext cx="1645920" cy="365760"/>
          </a:xfrm>
          <a:prstGeom prst="rect">
            <a:avLst/>
          </a:prstGeom>
          <a:noFill/>
        </p:spPr>
        <p:txBody>
          <a:bodyPr wrap="square">
            <a:spAutoFit/>
          </a:bodyPr>
          <a:lstStyle/>
          <a:p>
            <a:pPr algn="r"/>
            <a:r>
              <a:rPr sz="1000">
                <a:solidFill>
                  <a:srgbClr val="55606B"/>
                </a:solidFill>
              </a:rPr>
              <a:t>M4</a:t>
            </a:r>
          </a:p>
        </p:txBody>
      </p:sp>
      <p:pic>
        <p:nvPicPr>
          <p:cNvPr id="5" name="Picture 4" descr="fig4_budget_dependence.png"/>
          <p:cNvPicPr>
            <a:picLocks noChangeAspect="1"/>
          </p:cNvPicPr>
          <p:nvPr/>
        </p:nvPicPr>
        <p:blipFill>
          <a:blip r:embed="rId2"/>
          <a:stretch>
            <a:fillRect/>
          </a:stretch>
        </p:blipFill>
        <p:spPr>
          <a:xfrm>
            <a:off x="548640" y="1783080"/>
            <a:ext cx="7982299" cy="4297680"/>
          </a:xfrm>
          <a:prstGeom prst="rect">
            <a:avLst/>
          </a:prstGeom>
        </p:spPr>
      </p:pic>
      <p:sp>
        <p:nvSpPr>
          <p:cNvPr id="6" name="TextBox 5"/>
          <p:cNvSpPr txBox="1"/>
          <p:nvPr/>
        </p:nvSpPr>
        <p:spPr>
          <a:xfrm>
            <a:off x="6217920" y="1920240"/>
            <a:ext cx="5394960" cy="411480"/>
          </a:xfrm>
          <a:prstGeom prst="rect">
            <a:avLst/>
          </a:prstGeom>
          <a:noFill/>
        </p:spPr>
        <p:txBody>
          <a:bodyPr wrap="square">
            <a:spAutoFit/>
          </a:bodyPr>
          <a:lstStyle/>
          <a:p>
            <a:r>
              <a:rPr sz="1500" b="1">
                <a:solidFill>
                  <a:srgbClr val="0E141B"/>
                </a:solidFill>
              </a:rPr>
              <a:t>Within-class whitening:</a:t>
            </a:r>
          </a:p>
        </p:txBody>
      </p:sp>
      <p:sp>
        <p:nvSpPr>
          <p:cNvPr id="7" name="TextBox 6"/>
          <p:cNvSpPr txBox="1"/>
          <p:nvPr/>
        </p:nvSpPr>
        <p:spPr>
          <a:xfrm>
            <a:off x="6217920" y="2304288"/>
            <a:ext cx="5394960" cy="411480"/>
          </a:xfrm>
          <a:prstGeom prst="rect">
            <a:avLst/>
          </a:prstGeom>
          <a:noFill/>
        </p:spPr>
        <p:txBody>
          <a:bodyPr wrap="square">
            <a:spAutoFit/>
          </a:bodyPr>
          <a:lstStyle/>
          <a:p>
            <a:r>
              <a:rPr sz="1500" b="0">
                <a:solidFill>
                  <a:srgbClr val="55606B"/>
                </a:solidFill>
              </a:rPr>
              <a:t>        -0.0218 at 5 shots</a:t>
            </a:r>
          </a:p>
        </p:txBody>
      </p:sp>
      <p:sp>
        <p:nvSpPr>
          <p:cNvPr id="8" name="TextBox 7"/>
          <p:cNvSpPr txBox="1"/>
          <p:nvPr/>
        </p:nvSpPr>
        <p:spPr>
          <a:xfrm>
            <a:off x="6217920" y="2688336"/>
            <a:ext cx="5394960" cy="411480"/>
          </a:xfrm>
          <a:prstGeom prst="rect">
            <a:avLst/>
          </a:prstGeom>
          <a:noFill/>
        </p:spPr>
        <p:txBody>
          <a:bodyPr wrap="square">
            <a:spAutoFit/>
          </a:bodyPr>
          <a:lstStyle/>
          <a:p>
            <a:r>
              <a:rPr sz="1500" b="0">
                <a:solidFill>
                  <a:srgbClr val="55606B"/>
                </a:solidFill>
              </a:rPr>
              <a:t>        +0.0090 at 200 shots</a:t>
            </a:r>
          </a:p>
        </p:txBody>
      </p:sp>
      <p:sp>
        <p:nvSpPr>
          <p:cNvPr id="9" name="TextBox 8"/>
          <p:cNvSpPr txBox="1"/>
          <p:nvPr/>
        </p:nvSpPr>
        <p:spPr>
          <a:xfrm>
            <a:off x="6217920" y="3456432"/>
            <a:ext cx="5394960" cy="411480"/>
          </a:xfrm>
          <a:prstGeom prst="rect">
            <a:avLst/>
          </a:prstGeom>
          <a:noFill/>
        </p:spPr>
        <p:txBody>
          <a:bodyPr wrap="square">
            <a:spAutoFit/>
          </a:bodyPr>
          <a:lstStyle/>
          <a:p>
            <a:r>
              <a:rPr sz="1500" b="0">
                <a:solidFill>
                  <a:srgbClr val="55606B"/>
                </a:solidFill>
              </a:rPr>
              <a:t>Whitening amplifies low-variance directions.</a:t>
            </a:r>
          </a:p>
        </p:txBody>
      </p:sp>
      <p:sp>
        <p:nvSpPr>
          <p:cNvPr id="10" name="TextBox 9"/>
          <p:cNvSpPr txBox="1"/>
          <p:nvPr/>
        </p:nvSpPr>
        <p:spPr>
          <a:xfrm>
            <a:off x="6217920" y="3840480"/>
            <a:ext cx="5394960" cy="411480"/>
          </a:xfrm>
          <a:prstGeom prst="rect">
            <a:avLst/>
          </a:prstGeom>
          <a:noFill/>
        </p:spPr>
        <p:txBody>
          <a:bodyPr wrap="square">
            <a:spAutoFit/>
          </a:bodyPr>
          <a:lstStyle/>
          <a:p>
            <a:r>
              <a:rPr sz="1500" b="0">
                <a:solidFill>
                  <a:srgbClr val="55606B"/>
                </a:solidFill>
              </a:rPr>
              <a:t>Destructive when 5 points must estimate a</a:t>
            </a:r>
          </a:p>
        </p:txBody>
      </p:sp>
      <p:sp>
        <p:nvSpPr>
          <p:cNvPr id="11" name="TextBox 10"/>
          <p:cNvSpPr txBox="1"/>
          <p:nvPr/>
        </p:nvSpPr>
        <p:spPr>
          <a:xfrm>
            <a:off x="6217920" y="4224528"/>
            <a:ext cx="5394960" cy="411480"/>
          </a:xfrm>
          <a:prstGeom prst="rect">
            <a:avLst/>
          </a:prstGeom>
          <a:noFill/>
        </p:spPr>
        <p:txBody>
          <a:bodyPr wrap="square">
            <a:spAutoFit/>
          </a:bodyPr>
          <a:lstStyle/>
          <a:p>
            <a:r>
              <a:rPr sz="1500" b="0">
                <a:solidFill>
                  <a:srgbClr val="55606B"/>
                </a:solidFill>
              </a:rPr>
              <a:t>prototype. Helpful once 200 make it stable.</a:t>
            </a:r>
          </a:p>
        </p:txBody>
      </p:sp>
      <p:sp>
        <p:nvSpPr>
          <p:cNvPr id="12" name="TextBox 11"/>
          <p:cNvSpPr txBox="1"/>
          <p:nvPr/>
        </p:nvSpPr>
        <p:spPr>
          <a:xfrm>
            <a:off x="6217920" y="4992624"/>
            <a:ext cx="5394960" cy="411480"/>
          </a:xfrm>
          <a:prstGeom prst="rect">
            <a:avLst/>
          </a:prstGeom>
          <a:noFill/>
        </p:spPr>
        <p:txBody>
          <a:bodyPr wrap="square">
            <a:spAutoFit/>
          </a:bodyPr>
          <a:lstStyle/>
          <a:p>
            <a:r>
              <a:rPr sz="1500" b="1">
                <a:solidFill>
                  <a:srgbClr val="0E141B"/>
                </a:solidFill>
              </a:rPr>
              <a:t>This also explains the LDA failure: rank-3</a:t>
            </a:r>
          </a:p>
        </p:txBody>
      </p:sp>
      <p:sp>
        <p:nvSpPr>
          <p:cNvPr id="13" name="TextBox 12"/>
          <p:cNvSpPr txBox="1"/>
          <p:nvPr/>
        </p:nvSpPr>
        <p:spPr>
          <a:xfrm>
            <a:off x="6217920" y="5376672"/>
            <a:ext cx="5394960" cy="411480"/>
          </a:xfrm>
          <a:prstGeom prst="rect">
            <a:avLst/>
          </a:prstGeom>
          <a:noFill/>
        </p:spPr>
        <p:txBody>
          <a:bodyPr wrap="square">
            <a:spAutoFit/>
          </a:bodyPr>
          <a:lstStyle/>
          <a:p>
            <a:r>
              <a:rPr sz="1500" b="1">
                <a:solidFill>
                  <a:srgbClr val="0E141B"/>
                </a:solidFill>
              </a:rPr>
              <a:t>collapse, not useless supervision.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Reading the numbers honestly</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What we claim, and what we do not</a:t>
            </a:r>
          </a:p>
        </p:txBody>
      </p:sp>
      <p:sp>
        <p:nvSpPr>
          <p:cNvPr id="4" name="TextBox 3"/>
          <p:cNvSpPr txBox="1"/>
          <p:nvPr/>
        </p:nvSpPr>
        <p:spPr>
          <a:xfrm>
            <a:off x="10149840" y="6309360"/>
            <a:ext cx="1645920" cy="365760"/>
          </a:xfrm>
          <a:prstGeom prst="rect">
            <a:avLst/>
          </a:prstGeom>
          <a:noFill/>
        </p:spPr>
        <p:txBody>
          <a:bodyPr wrap="square">
            <a:spAutoFit/>
          </a:bodyPr>
          <a:lstStyle/>
          <a:p>
            <a:pPr algn="r"/>
            <a:r>
              <a:rPr sz="1000">
                <a:solidFill>
                  <a:srgbClr val="55606B"/>
                </a:solidFill>
              </a:rPr>
              <a:t>M4</a:t>
            </a:r>
          </a:p>
        </p:txBody>
      </p:sp>
      <p:pic>
        <p:nvPicPr>
          <p:cNvPr id="5" name="Picture 4" descr="fig2_transfer_benefit.png"/>
          <p:cNvPicPr>
            <a:picLocks noChangeAspect="1"/>
          </p:cNvPicPr>
          <p:nvPr/>
        </p:nvPicPr>
        <p:blipFill>
          <a:blip r:embed="rId2"/>
          <a:stretch>
            <a:fillRect/>
          </a:stretch>
        </p:blipFill>
        <p:spPr>
          <a:xfrm>
            <a:off x="548640" y="1920240"/>
            <a:ext cx="5756868" cy="3474720"/>
          </a:xfrm>
          <a:prstGeom prst="rect">
            <a:avLst/>
          </a:prstGeom>
        </p:spPr>
      </p:pic>
      <p:sp>
        <p:nvSpPr>
          <p:cNvPr id="6" name="TextBox 5"/>
          <p:cNvSpPr txBox="1"/>
          <p:nvPr/>
        </p:nvSpPr>
        <p:spPr>
          <a:xfrm>
            <a:off x="5394960" y="1874519"/>
            <a:ext cx="6217920" cy="411480"/>
          </a:xfrm>
          <a:prstGeom prst="rect">
            <a:avLst/>
          </a:prstGeom>
          <a:noFill/>
        </p:spPr>
        <p:txBody>
          <a:bodyPr wrap="square">
            <a:spAutoFit/>
          </a:bodyPr>
          <a:lstStyle/>
          <a:p>
            <a:r>
              <a:rPr sz="1500" b="1">
                <a:solidFill>
                  <a:srgbClr val="0E141B"/>
                </a:solidFill>
              </a:rPr>
              <a:t>The gain is small: +0.002 to +0.007.</a:t>
            </a:r>
          </a:p>
        </p:txBody>
      </p:sp>
      <p:sp>
        <p:nvSpPr>
          <p:cNvPr id="7" name="TextBox 6"/>
          <p:cNvSpPr txBox="1"/>
          <p:nvPr/>
        </p:nvSpPr>
        <p:spPr>
          <a:xfrm>
            <a:off x="5394960" y="2258568"/>
            <a:ext cx="6217920" cy="411480"/>
          </a:xfrm>
          <a:prstGeom prst="rect">
            <a:avLst/>
          </a:prstGeom>
          <a:noFill/>
        </p:spPr>
        <p:txBody>
          <a:bodyPr wrap="square">
            <a:spAutoFit/>
          </a:bodyPr>
          <a:lstStyle/>
          <a:p>
            <a:r>
              <a:rPr sz="1500" b="0">
                <a:solidFill>
                  <a:srgbClr val="55606B"/>
                </a:solidFill>
              </a:rPr>
              <a:t>The evidence is consistency across matched</a:t>
            </a:r>
          </a:p>
        </p:txBody>
      </p:sp>
      <p:sp>
        <p:nvSpPr>
          <p:cNvPr id="8" name="TextBox 7"/>
          <p:cNvSpPr txBox="1"/>
          <p:nvPr/>
        </p:nvSpPr>
        <p:spPr>
          <a:xfrm>
            <a:off x="5394960" y="2642615"/>
            <a:ext cx="6217920" cy="411480"/>
          </a:xfrm>
          <a:prstGeom prst="rect">
            <a:avLst/>
          </a:prstGeom>
          <a:noFill/>
        </p:spPr>
        <p:txBody>
          <a:bodyPr wrap="square">
            <a:spAutoFit/>
          </a:bodyPr>
          <a:lstStyle/>
          <a:p>
            <a:r>
              <a:rPr sz="1500" b="0">
                <a:solidFill>
                  <a:srgbClr val="55606B"/>
                </a:solidFill>
              </a:rPr>
              <a:t>episodes, not magnitude.</a:t>
            </a:r>
          </a:p>
        </p:txBody>
      </p:sp>
      <p:sp>
        <p:nvSpPr>
          <p:cNvPr id="9" name="TextBox 8"/>
          <p:cNvSpPr txBox="1"/>
          <p:nvPr/>
        </p:nvSpPr>
        <p:spPr>
          <a:xfrm>
            <a:off x="5394960" y="3410711"/>
            <a:ext cx="6217920" cy="411480"/>
          </a:xfrm>
          <a:prstGeom prst="rect">
            <a:avLst/>
          </a:prstGeom>
          <a:noFill/>
        </p:spPr>
        <p:txBody>
          <a:bodyPr wrap="square">
            <a:spAutoFit/>
          </a:bodyPr>
          <a:lstStyle/>
          <a:p>
            <a:r>
              <a:rPr sz="1500" b="1">
                <a:solidFill>
                  <a:srgbClr val="0E141B"/>
                </a:solidFill>
              </a:rPr>
              <a:t>Error bars are spreads, not confidence intervals.</a:t>
            </a:r>
          </a:p>
        </p:txBody>
      </p:sp>
      <p:sp>
        <p:nvSpPr>
          <p:cNvPr id="10" name="TextBox 9"/>
          <p:cNvSpPr txBox="1"/>
          <p:nvPr/>
        </p:nvSpPr>
        <p:spPr>
          <a:xfrm>
            <a:off x="5394960" y="3794760"/>
            <a:ext cx="6217920" cy="411480"/>
          </a:xfrm>
          <a:prstGeom prst="rect">
            <a:avLst/>
          </a:prstGeom>
          <a:noFill/>
        </p:spPr>
        <p:txBody>
          <a:bodyPr wrap="square">
            <a:spAutoFit/>
          </a:bodyPr>
          <a:lstStyle/>
          <a:p>
            <a:r>
              <a:rPr sz="1500" b="1">
                <a:solidFill>
                  <a:srgbClr val="0E141B"/>
                </a:solidFill>
              </a:rPr>
              <a:t>Confusion diagonals are recall, not F1.</a:t>
            </a:r>
          </a:p>
        </p:txBody>
      </p:sp>
      <p:sp>
        <p:nvSpPr>
          <p:cNvPr id="11" name="TextBox 10"/>
          <p:cNvSpPr txBox="1"/>
          <p:nvPr/>
        </p:nvSpPr>
        <p:spPr>
          <a:xfrm>
            <a:off x="5394960" y="4178808"/>
            <a:ext cx="6217920" cy="411480"/>
          </a:xfrm>
          <a:prstGeom prst="rect">
            <a:avLst/>
          </a:prstGeom>
          <a:noFill/>
        </p:spPr>
        <p:txBody>
          <a:bodyPr wrap="square">
            <a:spAutoFit/>
          </a:bodyPr>
          <a:lstStyle/>
          <a:p>
            <a:r>
              <a:rPr sz="1500" b="0">
                <a:solidFill>
                  <a:srgbClr val="55606B"/>
                </a:solidFill>
              </a:rPr>
              <a:t>Accuracy 0.4496 exceeds macro F1 0.4433 on</a:t>
            </a:r>
          </a:p>
        </p:txBody>
      </p:sp>
      <p:sp>
        <p:nvSpPr>
          <p:cNvPr id="12" name="TextBox 11"/>
          <p:cNvSpPr txBox="1"/>
          <p:nvPr/>
        </p:nvSpPr>
        <p:spPr>
          <a:xfrm>
            <a:off x="5394960" y="4562856"/>
            <a:ext cx="6217920" cy="411480"/>
          </a:xfrm>
          <a:prstGeom prst="rect">
            <a:avLst/>
          </a:prstGeom>
          <a:noFill/>
        </p:spPr>
        <p:txBody>
          <a:bodyPr wrap="square">
            <a:spAutoFit/>
          </a:bodyPr>
          <a:lstStyle/>
          <a:p>
            <a:r>
              <a:rPr sz="1500" b="0">
                <a:solidFill>
                  <a:srgbClr val="55606B"/>
                </a:solidFill>
              </a:rPr>
              <a:t>zero-shot - accuracy would have flattered us.</a:t>
            </a:r>
          </a:p>
        </p:txBody>
      </p:sp>
      <p:sp>
        <p:nvSpPr>
          <p:cNvPr id="13" name="TextBox 12"/>
          <p:cNvSpPr txBox="1"/>
          <p:nvPr/>
        </p:nvSpPr>
        <p:spPr>
          <a:xfrm>
            <a:off x="5394960" y="5330952"/>
            <a:ext cx="6217920" cy="411480"/>
          </a:xfrm>
          <a:prstGeom prst="rect">
            <a:avLst/>
          </a:prstGeom>
          <a:noFill/>
        </p:spPr>
        <p:txBody>
          <a:bodyPr wrap="square">
            <a:spAutoFit/>
          </a:bodyPr>
          <a:lstStyle/>
          <a:p>
            <a:r>
              <a:rPr sz="1500" b="1">
                <a:solidFill>
                  <a:srgbClr val="0E141B"/>
                </a:solidFill>
              </a:rPr>
              <a:t>Two methods were audited, so we crown no winner.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Where it still fails</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Class 2 is the hard one</a:t>
            </a:r>
          </a:p>
        </p:txBody>
      </p:sp>
      <p:sp>
        <p:nvSpPr>
          <p:cNvPr id="4" name="TextBox 3"/>
          <p:cNvSpPr txBox="1"/>
          <p:nvPr/>
        </p:nvSpPr>
        <p:spPr>
          <a:xfrm>
            <a:off x="10149840" y="6309360"/>
            <a:ext cx="1645920" cy="365760"/>
          </a:xfrm>
          <a:prstGeom prst="rect">
            <a:avLst/>
          </a:prstGeom>
          <a:noFill/>
        </p:spPr>
        <p:txBody>
          <a:bodyPr wrap="square">
            <a:spAutoFit/>
          </a:bodyPr>
          <a:lstStyle/>
          <a:p>
            <a:pPr algn="r"/>
            <a:r>
              <a:rPr sz="1000">
                <a:solidFill>
                  <a:srgbClr val="55606B"/>
                </a:solidFill>
              </a:rPr>
              <a:t>M4</a:t>
            </a:r>
          </a:p>
        </p:txBody>
      </p:sp>
      <p:pic>
        <p:nvPicPr>
          <p:cNvPr id="5" name="Picture 4" descr="fig5_confusion.png"/>
          <p:cNvPicPr>
            <a:picLocks noChangeAspect="1"/>
          </p:cNvPicPr>
          <p:nvPr/>
        </p:nvPicPr>
        <p:blipFill>
          <a:blip r:embed="rId2"/>
          <a:stretch>
            <a:fillRect/>
          </a:stretch>
        </p:blipFill>
        <p:spPr>
          <a:xfrm>
            <a:off x="731520" y="1783080"/>
            <a:ext cx="4655344" cy="4206240"/>
          </a:xfrm>
          <a:prstGeom prst="rect">
            <a:avLst/>
          </a:prstGeom>
        </p:spPr>
      </p:pic>
      <p:sp>
        <p:nvSpPr>
          <p:cNvPr id="6" name="TextBox 5"/>
          <p:cNvSpPr txBox="1"/>
          <p:nvPr/>
        </p:nvSpPr>
        <p:spPr>
          <a:xfrm>
            <a:off x="5852160" y="2011680"/>
            <a:ext cx="5760720" cy="411480"/>
          </a:xfrm>
          <a:prstGeom prst="rect">
            <a:avLst/>
          </a:prstGeom>
          <a:noFill/>
        </p:spPr>
        <p:txBody>
          <a:bodyPr wrap="square">
            <a:spAutoFit/>
          </a:bodyPr>
          <a:lstStyle/>
          <a:p>
            <a:r>
              <a:rPr sz="1500" b="1">
                <a:solidFill>
                  <a:srgbClr val="0E141B"/>
                </a:solidFill>
              </a:rPr>
              <a:t>37% of true Class 2 pixels are predicted Class 1.</a:t>
            </a:r>
          </a:p>
        </p:txBody>
      </p:sp>
      <p:sp>
        <p:nvSpPr>
          <p:cNvPr id="7" name="TextBox 6"/>
          <p:cNvSpPr txBox="1"/>
          <p:nvPr/>
        </p:nvSpPr>
        <p:spPr>
          <a:xfrm>
            <a:off x="5852160" y="2816352"/>
            <a:ext cx="5760720" cy="411480"/>
          </a:xfrm>
          <a:prstGeom prst="rect">
            <a:avLst/>
          </a:prstGeom>
          <a:noFill/>
        </p:spPr>
        <p:txBody>
          <a:bodyPr wrap="square">
            <a:spAutoFit/>
          </a:bodyPr>
          <a:lstStyle/>
          <a:p>
            <a:r>
              <a:rPr sz="1500" b="0">
                <a:solidFill>
                  <a:srgbClr val="55606B"/>
                </a:solidFill>
              </a:rPr>
              <a:t>Zero-shot Class 3 was the sharpest failure:</a:t>
            </a:r>
          </a:p>
        </p:txBody>
      </p:sp>
      <p:sp>
        <p:nvSpPr>
          <p:cNvPr id="8" name="TextBox 7"/>
          <p:cNvSpPr txBox="1"/>
          <p:nvPr/>
        </p:nvSpPr>
        <p:spPr>
          <a:xfrm>
            <a:off x="5852160" y="3218688"/>
            <a:ext cx="5760720" cy="411480"/>
          </a:xfrm>
          <a:prstGeom prst="rect">
            <a:avLst/>
          </a:prstGeom>
          <a:noFill/>
        </p:spPr>
        <p:txBody>
          <a:bodyPr wrap="square">
            <a:spAutoFit/>
          </a:bodyPr>
          <a:lstStyle/>
          <a:p>
            <a:r>
              <a:rPr sz="1500" b="0">
                <a:solidFill>
                  <a:srgbClr val="55606B"/>
                </a:solidFill>
              </a:rPr>
              <a:t>recall 0.19 against precision 0.77. The Madrid</a:t>
            </a:r>
          </a:p>
        </p:txBody>
      </p:sp>
      <p:sp>
        <p:nvSpPr>
          <p:cNvPr id="9" name="TextBox 8"/>
          <p:cNvSpPr txBox="1"/>
          <p:nvPr/>
        </p:nvSpPr>
        <p:spPr>
          <a:xfrm>
            <a:off x="5852160" y="3621024"/>
            <a:ext cx="5760720" cy="411480"/>
          </a:xfrm>
          <a:prstGeom prst="rect">
            <a:avLst/>
          </a:prstGeom>
          <a:noFill/>
        </p:spPr>
        <p:txBody>
          <a:bodyPr wrap="square">
            <a:spAutoFit/>
          </a:bodyPr>
          <a:lstStyle/>
          <a:p>
            <a:r>
              <a:rPr sz="1500" b="0">
                <a:solidFill>
                  <a:srgbClr val="55606B"/>
                </a:solidFill>
              </a:rPr>
              <a:t>model almost never predicted it, but was usually</a:t>
            </a:r>
          </a:p>
        </p:txBody>
      </p:sp>
      <p:sp>
        <p:nvSpPr>
          <p:cNvPr id="10" name="TextBox 9"/>
          <p:cNvSpPr txBox="1"/>
          <p:nvPr/>
        </p:nvSpPr>
        <p:spPr>
          <a:xfrm>
            <a:off x="5852160" y="4023360"/>
            <a:ext cx="5760720" cy="411480"/>
          </a:xfrm>
          <a:prstGeom prst="rect">
            <a:avLst/>
          </a:prstGeom>
          <a:noFill/>
        </p:spPr>
        <p:txBody>
          <a:bodyPr wrap="square">
            <a:spAutoFit/>
          </a:bodyPr>
          <a:lstStyle/>
          <a:p>
            <a:r>
              <a:rPr sz="1500" b="0">
                <a:solidFill>
                  <a:srgbClr val="55606B"/>
                </a:solidFill>
              </a:rPr>
              <a:t>right when it did.</a:t>
            </a:r>
          </a:p>
        </p:txBody>
      </p:sp>
      <p:sp>
        <p:nvSpPr>
          <p:cNvPr id="11" name="TextBox 10"/>
          <p:cNvSpPr txBox="1"/>
          <p:nvPr/>
        </p:nvSpPr>
        <p:spPr>
          <a:xfrm>
            <a:off x="5852160" y="4828032"/>
            <a:ext cx="5760720" cy="411480"/>
          </a:xfrm>
          <a:prstGeom prst="rect">
            <a:avLst/>
          </a:prstGeom>
          <a:noFill/>
        </p:spPr>
        <p:txBody>
          <a:bodyPr wrap="square">
            <a:spAutoFit/>
          </a:bodyPr>
          <a:lstStyle/>
          <a:p>
            <a:r>
              <a:rPr sz="1500" b="1">
                <a:solidFill>
                  <a:srgbClr val="0E141B"/>
                </a:solidFill>
              </a:rPr>
              <a:t>Adjacent eras look alike from space. That is a</a:t>
            </a:r>
          </a:p>
        </p:txBody>
      </p:sp>
      <p:sp>
        <p:nvSpPr>
          <p:cNvPr id="12" name="TextBox 11"/>
          <p:cNvSpPr txBox="1"/>
          <p:nvPr/>
        </p:nvSpPr>
        <p:spPr>
          <a:xfrm>
            <a:off x="5852160" y="5230368"/>
            <a:ext cx="5760720" cy="411480"/>
          </a:xfrm>
          <a:prstGeom prst="rect">
            <a:avLst/>
          </a:prstGeom>
          <a:noFill/>
        </p:spPr>
        <p:txBody>
          <a:bodyPr wrap="square">
            <a:spAutoFit/>
          </a:bodyPr>
          <a:lstStyle/>
          <a:p>
            <a:r>
              <a:rPr sz="1500" b="1">
                <a:solidFill>
                  <a:srgbClr val="0E141B"/>
                </a:solidFill>
              </a:rPr>
              <a:t>property of the problem, not a bug to tune away.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Limitations</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Stated, not hidden</a:t>
            </a:r>
          </a:p>
        </p:txBody>
      </p:sp>
      <p:sp>
        <p:nvSpPr>
          <p:cNvPr id="4" name="TextBox 3"/>
          <p:cNvSpPr txBox="1"/>
          <p:nvPr/>
        </p:nvSpPr>
        <p:spPr>
          <a:xfrm>
            <a:off x="10149840" y="6309360"/>
            <a:ext cx="1645920" cy="365760"/>
          </a:xfrm>
          <a:prstGeom prst="rect">
            <a:avLst/>
          </a:prstGeom>
          <a:noFill/>
        </p:spPr>
        <p:txBody>
          <a:bodyPr wrap="square">
            <a:spAutoFit/>
          </a:bodyPr>
          <a:lstStyle/>
          <a:p>
            <a:pPr algn="r"/>
            <a:r>
              <a:rPr sz="1000">
                <a:solidFill>
                  <a:srgbClr val="55606B"/>
                </a:solidFill>
              </a:rPr>
              <a:t>M4</a:t>
            </a:r>
          </a:p>
        </p:txBody>
      </p:sp>
      <p:sp>
        <p:nvSpPr>
          <p:cNvPr id="5" name="TextBox 4"/>
          <p:cNvSpPr txBox="1"/>
          <p:nvPr/>
        </p:nvSpPr>
        <p:spPr>
          <a:xfrm>
            <a:off x="640080" y="2011680"/>
            <a:ext cx="10972800" cy="411480"/>
          </a:xfrm>
          <a:prstGeom prst="rect">
            <a:avLst/>
          </a:prstGeom>
          <a:noFill/>
        </p:spPr>
        <p:txBody>
          <a:bodyPr wrap="square">
            <a:spAutoFit/>
          </a:bodyPr>
          <a:lstStyle/>
          <a:p>
            <a:r>
              <a:rPr sz="1700" b="1">
                <a:solidFill>
                  <a:srgbClr val="0E141B"/>
                </a:solidFill>
              </a:rPr>
              <a:t>1.  Features are still built label-dependently - the pipeline could not currently</a:t>
            </a:r>
          </a:p>
        </p:txBody>
      </p:sp>
      <p:sp>
        <p:nvSpPr>
          <p:cNvPr id="6" name="TextBox 5"/>
          <p:cNvSpPr txBox="1"/>
          <p:nvPr/>
        </p:nvSpPr>
        <p:spPr>
          <a:xfrm>
            <a:off x="640080" y="2450592"/>
            <a:ext cx="10972800" cy="411480"/>
          </a:xfrm>
          <a:prstGeom prst="rect">
            <a:avLst/>
          </a:prstGeom>
          <a:noFill/>
        </p:spPr>
        <p:txBody>
          <a:bodyPr wrap="square">
            <a:spAutoFit/>
          </a:bodyPr>
          <a:lstStyle/>
          <a:p>
            <a:r>
              <a:rPr sz="1700" b="0">
                <a:solidFill>
                  <a:srgbClr val="55606B"/>
                </a:solidFill>
              </a:rPr>
              <a:t>        generate features for an unlabelled hidden test set.</a:t>
            </a:r>
          </a:p>
        </p:txBody>
      </p:sp>
      <p:sp>
        <p:nvSpPr>
          <p:cNvPr id="7" name="TextBox 6"/>
          <p:cNvSpPr txBox="1"/>
          <p:nvPr/>
        </p:nvSpPr>
        <p:spPr>
          <a:xfrm>
            <a:off x="640080" y="2889504"/>
            <a:ext cx="10972800" cy="411480"/>
          </a:xfrm>
          <a:prstGeom prst="rect">
            <a:avLst/>
          </a:prstGeom>
          <a:noFill/>
        </p:spPr>
        <p:txBody>
          <a:bodyPr wrap="square">
            <a:spAutoFit/>
          </a:bodyPr>
          <a:lstStyle/>
          <a:p>
            <a:r>
              <a:rPr sz="1700" b="1">
                <a:solidFill>
                  <a:srgbClr val="0E141B"/>
                </a:solidFill>
              </a:rPr>
              <a:t>2.  Scaling is fitted before cross-validation - not fold-safe.</a:t>
            </a:r>
          </a:p>
        </p:txBody>
      </p:sp>
      <p:sp>
        <p:nvSpPr>
          <p:cNvPr id="8" name="TextBox 7"/>
          <p:cNvSpPr txBox="1"/>
          <p:nvPr/>
        </p:nvSpPr>
        <p:spPr>
          <a:xfrm>
            <a:off x="640080" y="3328416"/>
            <a:ext cx="10972800" cy="411480"/>
          </a:xfrm>
          <a:prstGeom prst="rect">
            <a:avLst/>
          </a:prstGeom>
          <a:noFill/>
        </p:spPr>
        <p:txBody>
          <a:bodyPr wrap="square">
            <a:spAutoFit/>
          </a:bodyPr>
          <a:lstStyle/>
          <a:p>
            <a:r>
              <a:rPr sz="1700" b="1">
                <a:solidFill>
                  <a:srgbClr val="0E141B"/>
                </a:solidFill>
              </a:rPr>
              <a:t>3.  The audit set informed two decisions - so we crown no winner.</a:t>
            </a:r>
          </a:p>
        </p:txBody>
      </p:sp>
      <p:sp>
        <p:nvSpPr>
          <p:cNvPr id="9" name="TextBox 8"/>
          <p:cNvSpPr txBox="1"/>
          <p:nvPr/>
        </p:nvSpPr>
        <p:spPr>
          <a:xfrm>
            <a:off x="640080" y="3767328"/>
            <a:ext cx="10972800" cy="411480"/>
          </a:xfrm>
          <a:prstGeom prst="rect">
            <a:avLst/>
          </a:prstGeom>
          <a:noFill/>
        </p:spPr>
        <p:txBody>
          <a:bodyPr wrap="square">
            <a:spAutoFit/>
          </a:bodyPr>
          <a:lstStyle/>
          <a:p>
            <a:r>
              <a:rPr sz="1700" b="1">
                <a:solidFill>
                  <a:srgbClr val="0E141B"/>
                </a:solidFill>
              </a:rPr>
              <a:t>4.  No independent verification yet - Gate S needs a second person.</a:t>
            </a:r>
          </a:p>
        </p:txBody>
      </p:sp>
      <p:sp>
        <p:nvSpPr>
          <p:cNvPr id="10" name="TextBox 9"/>
          <p:cNvSpPr txBox="1"/>
          <p:nvPr/>
        </p:nvSpPr>
        <p:spPr>
          <a:xfrm>
            <a:off x="640080" y="4206240"/>
            <a:ext cx="10972800" cy="411480"/>
          </a:xfrm>
          <a:prstGeom prst="rect">
            <a:avLst/>
          </a:prstGeom>
          <a:noFill/>
        </p:spPr>
        <p:txBody>
          <a:bodyPr wrap="square">
            <a:spAutoFit/>
          </a:bodyPr>
          <a:lstStyle/>
          <a:p>
            <a:r>
              <a:rPr sz="1700" b="1">
                <a:solidFill>
                  <a:srgbClr val="0E141B"/>
                </a:solidFill>
              </a:rPr>
              <a:t>5.  We appear to be near a label-noise ceiling.</a:t>
            </a:r>
          </a:p>
        </p:txBody>
      </p:sp>
      <p:sp>
        <p:nvSpPr>
          <p:cNvPr id="11" name="TextBox 10"/>
          <p:cNvSpPr txBox="1"/>
          <p:nvPr/>
        </p:nvSpPr>
        <p:spPr>
          <a:xfrm>
            <a:off x="640080" y="5084064"/>
            <a:ext cx="10972800" cy="411480"/>
          </a:xfrm>
          <a:prstGeom prst="rect">
            <a:avLst/>
          </a:prstGeom>
          <a:noFill/>
        </p:spPr>
        <p:txBody>
          <a:bodyPr wrap="square">
            <a:spAutoFit/>
          </a:bodyPr>
          <a:lstStyle/>
          <a:p>
            <a:r>
              <a:rPr sz="1700" b="0">
                <a:solidFill>
                  <a:srgbClr val="55606B"/>
                </a:solidFill>
              </a:rPr>
              <a:t>No claims of worldwide portability. No claims of calibrated confidence.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Conclusion</a:t>
            </a:r>
          </a:p>
        </p:txBody>
      </p:sp>
      <p:sp>
        <p:nvSpPr>
          <p:cNvPr id="3" name="TextBox 2"/>
          <p:cNvSpPr txBox="1"/>
          <p:nvPr/>
        </p:nvSpPr>
        <p:spPr>
          <a:xfrm>
            <a:off x="10149840" y="6309360"/>
            <a:ext cx="1645920" cy="365760"/>
          </a:xfrm>
          <a:prstGeom prst="rect">
            <a:avLst/>
          </a:prstGeom>
          <a:noFill/>
        </p:spPr>
        <p:txBody>
          <a:bodyPr wrap="square">
            <a:spAutoFit/>
          </a:bodyPr>
          <a:lstStyle/>
          <a:p>
            <a:pPr algn="r"/>
            <a:r>
              <a:rPr sz="1000">
                <a:solidFill>
                  <a:srgbClr val="55606B"/>
                </a:solidFill>
              </a:rPr>
              <a:t>M1</a:t>
            </a:r>
          </a:p>
        </p:txBody>
      </p:sp>
      <p:sp>
        <p:nvSpPr>
          <p:cNvPr id="4" name="TextBox 3"/>
          <p:cNvSpPr txBox="1"/>
          <p:nvPr/>
        </p:nvSpPr>
        <p:spPr>
          <a:xfrm>
            <a:off x="640080" y="2286000"/>
            <a:ext cx="10972800" cy="411480"/>
          </a:xfrm>
          <a:prstGeom prst="rect">
            <a:avLst/>
          </a:prstGeom>
          <a:noFill/>
        </p:spPr>
        <p:txBody>
          <a:bodyPr wrap="square">
            <a:spAutoFit/>
          </a:bodyPr>
          <a:lstStyle/>
          <a:p>
            <a:r>
              <a:rPr sz="1700" b="1">
                <a:solidFill>
                  <a:srgbClr val="0E141B"/>
                </a:solidFill>
              </a:rPr>
              <a:t>The starter's transfer learning transferred nothing. We proved it.</a:t>
            </a:r>
          </a:p>
        </p:txBody>
      </p:sp>
      <p:sp>
        <p:nvSpPr>
          <p:cNvPr id="5" name="TextBox 4"/>
          <p:cNvSpPr txBox="1"/>
          <p:nvPr/>
        </p:nvSpPr>
        <p:spPr>
          <a:xfrm>
            <a:off x="640080" y="2944368"/>
            <a:ext cx="10972800" cy="411480"/>
          </a:xfrm>
          <a:prstGeom prst="rect">
            <a:avLst/>
          </a:prstGeom>
          <a:noFill/>
        </p:spPr>
        <p:txBody>
          <a:bodyPr wrap="square">
            <a:spAutoFit/>
          </a:bodyPr>
          <a:lstStyle/>
          <a:p>
            <a:r>
              <a:rPr sz="1700" b="1">
                <a:solidFill>
                  <a:srgbClr val="0E141B"/>
                </a:solidFill>
              </a:rPr>
              <a:t>We built one that does, and measured it against the right control.</a:t>
            </a:r>
          </a:p>
        </p:txBody>
      </p:sp>
      <p:sp>
        <p:nvSpPr>
          <p:cNvPr id="6" name="TextBox 5"/>
          <p:cNvSpPr txBox="1"/>
          <p:nvPr/>
        </p:nvSpPr>
        <p:spPr>
          <a:xfrm>
            <a:off x="640080" y="3602736"/>
            <a:ext cx="10972800" cy="411480"/>
          </a:xfrm>
          <a:prstGeom prst="rect">
            <a:avLst/>
          </a:prstGeom>
          <a:noFill/>
        </p:spPr>
        <p:txBody>
          <a:bodyPr wrap="square">
            <a:spAutoFit/>
          </a:bodyPr>
          <a:lstStyle/>
          <a:p>
            <a:r>
              <a:rPr sz="1700" b="1">
                <a:solidFill>
                  <a:srgbClr val="0E141B"/>
                </a:solidFill>
              </a:rPr>
              <a:t>The improvement is small. The method is sound. The failures are documented.</a:t>
            </a:r>
          </a:p>
        </p:txBody>
      </p:sp>
      <p:sp>
        <p:nvSpPr>
          <p:cNvPr id="7" name="TextBox 6"/>
          <p:cNvSpPr txBox="1"/>
          <p:nvPr/>
        </p:nvSpPr>
        <p:spPr>
          <a:xfrm>
            <a:off x="822960" y="4572000"/>
            <a:ext cx="10515600" cy="1097280"/>
          </a:xfrm>
          <a:prstGeom prst="rect">
            <a:avLst/>
          </a:prstGeom>
          <a:noFill/>
        </p:spPr>
        <p:txBody>
          <a:bodyPr wrap="square">
            <a:spAutoFit/>
          </a:bodyPr>
          <a:lstStyle/>
          <a:p>
            <a:r>
              <a:rPr sz="2600" b="1">
                <a:solidFill>
                  <a:srgbClr val="2A78D6"/>
                </a:solidFill>
              </a:rPr>
              <a:t>A number without a mechanism is not a finding.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Backup - reproducibility</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Everything is re-runnable</a:t>
            </a:r>
          </a:p>
        </p:txBody>
      </p:sp>
      <p:sp>
        <p:nvSpPr>
          <p:cNvPr id="4" name="TextBox 3"/>
          <p:cNvSpPr txBox="1"/>
          <p:nvPr/>
        </p:nvSpPr>
        <p:spPr>
          <a:xfrm>
            <a:off x="640080" y="2011680"/>
            <a:ext cx="10972800" cy="411480"/>
          </a:xfrm>
          <a:prstGeom prst="rect">
            <a:avLst/>
          </a:prstGeom>
          <a:noFill/>
        </p:spPr>
        <p:txBody>
          <a:bodyPr wrap="square">
            <a:spAutoFit/>
          </a:bodyPr>
          <a:lstStyle/>
          <a:p>
            <a:r>
              <a:rPr sz="1700" b="0">
                <a:solidFill>
                  <a:srgbClr val="55606B"/>
                </a:solidFill>
              </a:rPr>
              <a:t>requirements.txt pins the exact stack that produced every number.</a:t>
            </a:r>
          </a:p>
        </p:txBody>
      </p:sp>
      <p:sp>
        <p:nvSpPr>
          <p:cNvPr id="5" name="TextBox 4"/>
          <p:cNvSpPr txBox="1"/>
          <p:nvPr/>
        </p:nvSpPr>
        <p:spPr>
          <a:xfrm>
            <a:off x="640080" y="2468880"/>
            <a:ext cx="10972800" cy="411480"/>
          </a:xfrm>
          <a:prstGeom prst="rect">
            <a:avLst/>
          </a:prstGeom>
          <a:noFill/>
        </p:spPr>
        <p:txBody>
          <a:bodyPr wrap="square">
            <a:spAutoFit/>
          </a:bodyPr>
          <a:lstStyle/>
          <a:p>
            <a:r>
              <a:rPr sz="1700" b="0">
                <a:solidFill>
                  <a:srgbClr val="55606B"/>
                </a:solidFill>
              </a:rPr>
              <a:t>Raw data SHA256 recorded. Feature cache SHA256 f6f588c4...5f33.</a:t>
            </a:r>
          </a:p>
        </p:txBody>
      </p:sp>
      <p:sp>
        <p:nvSpPr>
          <p:cNvPr id="6" name="TextBox 5"/>
          <p:cNvSpPr txBox="1"/>
          <p:nvPr/>
        </p:nvSpPr>
        <p:spPr>
          <a:xfrm>
            <a:off x="640080" y="2926080"/>
            <a:ext cx="10972800" cy="411480"/>
          </a:xfrm>
          <a:prstGeom prst="rect">
            <a:avLst/>
          </a:prstGeom>
          <a:noFill/>
        </p:spPr>
        <p:txBody>
          <a:bodyPr wrap="square">
            <a:spAutoFit/>
          </a:bodyPr>
          <a:lstStyle/>
          <a:p>
            <a:r>
              <a:rPr sz="1700" b="0">
                <a:solidFill>
                  <a:srgbClr val="55606B"/>
                </a:solidFill>
              </a:rPr>
              <a:t>Episode support indices stored, not regenerated from a seed.</a:t>
            </a:r>
          </a:p>
        </p:txBody>
      </p:sp>
      <p:sp>
        <p:nvSpPr>
          <p:cNvPr id="7" name="TextBox 6"/>
          <p:cNvSpPr txBox="1"/>
          <p:nvPr/>
        </p:nvSpPr>
        <p:spPr>
          <a:xfrm>
            <a:off x="640080" y="3383280"/>
            <a:ext cx="10972800" cy="411480"/>
          </a:xfrm>
          <a:prstGeom prst="rect">
            <a:avLst/>
          </a:prstGeom>
          <a:noFill/>
        </p:spPr>
        <p:txBody>
          <a:bodyPr wrap="square">
            <a:spAutoFit/>
          </a:bodyPr>
          <a:lstStyle/>
          <a:p>
            <a:r>
              <a:rPr sz="1700" b="0">
                <a:solidFill>
                  <a:srgbClr val="55606B"/>
                </a:solidFill>
              </a:rPr>
              <a:t>Stage 1 artifact is 3 KB. Reload test passes 17/17 in a clean session.</a:t>
            </a:r>
          </a:p>
        </p:txBody>
      </p:sp>
      <p:sp>
        <p:nvSpPr>
          <p:cNvPr id="8" name="TextBox 7"/>
          <p:cNvSpPr txBox="1"/>
          <p:nvPr/>
        </p:nvSpPr>
        <p:spPr>
          <a:xfrm>
            <a:off x="640080" y="3840480"/>
            <a:ext cx="10972800" cy="411480"/>
          </a:xfrm>
          <a:prstGeom prst="rect">
            <a:avLst/>
          </a:prstGeom>
          <a:noFill/>
        </p:spPr>
        <p:txBody>
          <a:bodyPr wrap="square">
            <a:spAutoFit/>
          </a:bodyPr>
          <a:lstStyle/>
          <a:p>
            <a:r>
              <a:rPr sz="1700" b="0">
                <a:solidFill>
                  <a:srgbClr val="55606B"/>
                </a:solidFill>
              </a:rPr>
              <a:t>Seeds fixed throughout: RF 42, CV 42, sampler 42.</a:t>
            </a:r>
          </a:p>
        </p:txBody>
      </p:sp>
      <p:sp>
        <p:nvSpPr>
          <p:cNvPr id="9" name="TextBox 8"/>
          <p:cNvSpPr txBox="1"/>
          <p:nvPr/>
        </p:nvSpPr>
        <p:spPr>
          <a:xfrm>
            <a:off x="640080" y="4297680"/>
            <a:ext cx="10972800" cy="411480"/>
          </a:xfrm>
          <a:prstGeom prst="rect">
            <a:avLst/>
          </a:prstGeom>
          <a:noFill/>
        </p:spPr>
        <p:txBody>
          <a:bodyPr wrap="square">
            <a:spAutoFit/>
          </a:bodyPr>
          <a:lstStyle/>
          <a:p>
            <a:r>
              <a:rPr sz="1700" b="0">
                <a:solidFill>
                  <a:srgbClr val="55606B"/>
                </a:solidFill>
              </a:rPr>
              <a:t>Ten commits, tagged day1-candidate-v1.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Backup - why our numbers differ from the organiser's</a:t>
            </a:r>
          </a:p>
        </p:txBody>
      </p:sp>
      <p:sp>
        <p:nvSpPr>
          <p:cNvPr id="3" name="TextBox 2"/>
          <p:cNvSpPr txBox="1"/>
          <p:nvPr/>
        </p:nvSpPr>
        <p:spPr>
          <a:xfrm>
            <a:off x="640080" y="2011680"/>
            <a:ext cx="10972800" cy="411480"/>
          </a:xfrm>
          <a:prstGeom prst="rect">
            <a:avLst/>
          </a:prstGeom>
          <a:noFill/>
        </p:spPr>
        <p:txBody>
          <a:bodyPr wrap="square">
            <a:spAutoFit/>
          </a:bodyPr>
          <a:lstStyle/>
          <a:p>
            <a:r>
              <a:rPr sz="1700" b="1">
                <a:solidFill>
                  <a:srgbClr val="0E141B"/>
                </a:solidFill>
              </a:rPr>
              <a:t>All six prototype budgets match them to 4 decimal places.</a:t>
            </a:r>
          </a:p>
        </p:txBody>
      </p:sp>
      <p:sp>
        <p:nvSpPr>
          <p:cNvPr id="4" name="TextBox 3"/>
          <p:cNvSpPr txBox="1"/>
          <p:nvPr/>
        </p:nvSpPr>
        <p:spPr>
          <a:xfrm>
            <a:off x="640080" y="2468880"/>
            <a:ext cx="10972800" cy="411480"/>
          </a:xfrm>
          <a:prstGeom prst="rect">
            <a:avLst/>
          </a:prstGeom>
          <a:noFill/>
        </p:spPr>
        <p:txBody>
          <a:bodyPr wrap="square">
            <a:spAutoFit/>
          </a:bodyPr>
          <a:lstStyle/>
          <a:p>
            <a:r>
              <a:rPr sz="1700" b="1">
                <a:solidFill>
                  <a:srgbClr val="0E141B"/>
                </a:solidFill>
              </a:rPr>
              <a:t>Both Random-Forest results differ: +0.0102 and +0.1006.</a:t>
            </a:r>
          </a:p>
        </p:txBody>
      </p:sp>
      <p:sp>
        <p:nvSpPr>
          <p:cNvPr id="5" name="TextBox 4"/>
          <p:cNvSpPr txBox="1"/>
          <p:nvPr/>
        </p:nvSpPr>
        <p:spPr>
          <a:xfrm>
            <a:off x="640080" y="2926080"/>
            <a:ext cx="10972800" cy="411480"/>
          </a:xfrm>
          <a:prstGeom prst="rect">
            <a:avLst/>
          </a:prstGeom>
          <a:noFill/>
        </p:spPr>
        <p:txBody>
          <a:bodyPr wrap="square">
            <a:spAutoFit/>
          </a:bodyPr>
          <a:lstStyle/>
          <a:p>
            <a:r>
              <a:rPr sz="1700" b="0">
                <a:solidFill>
                  <a:srgbClr val="55606B"/>
                </a:solidFill>
              </a:rPr>
              <a:t>The prototype path never uses the forest, which isolates the cause to scikit-learn.</a:t>
            </a:r>
          </a:p>
        </p:txBody>
      </p:sp>
      <p:sp>
        <p:nvSpPr>
          <p:cNvPr id="6" name="TextBox 5"/>
          <p:cNvSpPr txBox="1"/>
          <p:nvPr/>
        </p:nvSpPr>
        <p:spPr>
          <a:xfrm>
            <a:off x="640080" y="3383280"/>
            <a:ext cx="10972800" cy="411480"/>
          </a:xfrm>
          <a:prstGeom prst="rect">
            <a:avLst/>
          </a:prstGeom>
          <a:noFill/>
        </p:spPr>
        <p:txBody>
          <a:bodyPr wrap="square">
            <a:spAutoFit/>
          </a:bodyPr>
          <a:lstStyle/>
          <a:p>
            <a:r>
              <a:rPr sz="1700" b="0">
                <a:solidFill>
                  <a:srgbClr val="55606B"/>
                </a:solidFill>
              </a:rPr>
              <a:t>Determinism verified: 0 of 25,992 predictions differ across two refits.</a:t>
            </a:r>
          </a:p>
        </p:txBody>
      </p:sp>
      <p:sp>
        <p:nvSpPr>
          <p:cNvPr id="7" name="TextBox 6"/>
          <p:cNvSpPr txBox="1"/>
          <p:nvPr/>
        </p:nvSpPr>
        <p:spPr>
          <a:xfrm>
            <a:off x="640080" y="3840480"/>
            <a:ext cx="10972800" cy="411480"/>
          </a:xfrm>
          <a:prstGeom prst="rect">
            <a:avLst/>
          </a:prstGeom>
          <a:noFill/>
        </p:spPr>
        <p:txBody>
          <a:bodyPr wrap="square">
            <a:spAutoFit/>
          </a:bodyPr>
          <a:lstStyle/>
          <a:p>
            <a:r>
              <a:rPr sz="1700" b="1">
                <a:solidFill>
                  <a:srgbClr val="0E141B"/>
                </a:solidFill>
              </a:rPr>
              <a:t>Still inferred, not measured - nobody installed the organiser's version to confirm.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914400"/>
          </a:xfrm>
          <a:prstGeom prst="rect">
            <a:avLst/>
          </a:prstGeom>
          <a:noFill/>
        </p:spPr>
        <p:txBody>
          <a:bodyPr wrap="square">
            <a:spAutoFit/>
          </a:bodyPr>
          <a:lstStyle/>
          <a:p>
            <a:r>
              <a:rPr sz="3200" b="1">
                <a:solidFill>
                  <a:srgbClr val="0E141B"/>
                </a:solidFill>
              </a:rPr>
              <a:t>Backup - the episode protocol</a:t>
            </a:r>
          </a:p>
        </p:txBody>
      </p:sp>
      <p:sp>
        <p:nvSpPr>
          <p:cNvPr id="3" name="TextBox 2"/>
          <p:cNvSpPr txBox="1"/>
          <p:nvPr/>
        </p:nvSpPr>
        <p:spPr>
          <a:xfrm>
            <a:off x="548640" y="1234440"/>
            <a:ext cx="11064240" cy="457200"/>
          </a:xfrm>
          <a:prstGeom prst="rect">
            <a:avLst/>
          </a:prstGeom>
          <a:noFill/>
        </p:spPr>
        <p:txBody>
          <a:bodyPr wrap="square">
            <a:spAutoFit/>
          </a:bodyPr>
          <a:lstStyle/>
          <a:p>
            <a:r>
              <a:rPr sz="1500">
                <a:solidFill>
                  <a:srgbClr val="55606B"/>
                </a:solidFill>
              </a:rPr>
              <a:t>How support and query are kept honest</a:t>
            </a:r>
          </a:p>
        </p:txBody>
      </p:sp>
      <p:sp>
        <p:nvSpPr>
          <p:cNvPr id="4" name="TextBox 3"/>
          <p:cNvSpPr txBox="1"/>
          <p:nvPr/>
        </p:nvSpPr>
        <p:spPr>
          <a:xfrm>
            <a:off x="640080" y="2011680"/>
            <a:ext cx="10972800" cy="411480"/>
          </a:xfrm>
          <a:prstGeom prst="rect">
            <a:avLst/>
          </a:prstGeom>
          <a:noFill/>
        </p:spPr>
        <p:txBody>
          <a:bodyPr wrap="square">
            <a:spAutoFit/>
          </a:bodyPr>
          <a:lstStyle/>
          <a:p>
            <a:r>
              <a:rPr sz="1700" b="0">
                <a:solidFill>
                  <a:srgbClr val="55606B"/>
                </a:solidFill>
              </a:rPr>
              <a:t>One permutation per class per trial. Each budget reads a prefix of it.</a:t>
            </a:r>
          </a:p>
        </p:txBody>
      </p:sp>
      <p:sp>
        <p:nvSpPr>
          <p:cNvPr id="5" name="TextBox 4"/>
          <p:cNvSpPr txBox="1"/>
          <p:nvPr/>
        </p:nvSpPr>
        <p:spPr>
          <a:xfrm>
            <a:off x="640080" y="2441448"/>
            <a:ext cx="10972800" cy="411480"/>
          </a:xfrm>
          <a:prstGeom prst="rect">
            <a:avLst/>
          </a:prstGeom>
          <a:noFill/>
        </p:spPr>
        <p:txBody>
          <a:bodyPr wrap="square">
            <a:spAutoFit/>
          </a:bodyPr>
          <a:lstStyle/>
          <a:p>
            <a:r>
              <a:rPr sz="1700" b="1">
                <a:solidFill>
                  <a:srgbClr val="0E141B"/>
                </a:solidFill>
              </a:rPr>
              <a:t>That makes budgets nested: support(5) is a subset of support(25), and so on.</a:t>
            </a:r>
          </a:p>
        </p:txBody>
      </p:sp>
      <p:sp>
        <p:nvSpPr>
          <p:cNvPr id="6" name="TextBox 5"/>
          <p:cNvSpPr txBox="1"/>
          <p:nvPr/>
        </p:nvSpPr>
        <p:spPr>
          <a:xfrm>
            <a:off x="640080" y="2871216"/>
            <a:ext cx="10972800" cy="411480"/>
          </a:xfrm>
          <a:prstGeom prst="rect">
            <a:avLst/>
          </a:prstGeom>
          <a:noFill/>
        </p:spPr>
        <p:txBody>
          <a:bodyPr wrap="square">
            <a:spAutoFit/>
          </a:bodyPr>
          <a:lstStyle/>
          <a:p>
            <a:r>
              <a:rPr sz="1700" b="0">
                <a:solidFill>
                  <a:srgbClr val="55606B"/>
                </a:solidFill>
              </a:rPr>
              <a:t>Support and query are disjoint and verified disjoint in code, every episode.</a:t>
            </a:r>
          </a:p>
        </p:txBody>
      </p:sp>
      <p:sp>
        <p:nvSpPr>
          <p:cNvPr id="7" name="TextBox 6"/>
          <p:cNvSpPr txBox="1"/>
          <p:nvPr/>
        </p:nvSpPr>
        <p:spPr>
          <a:xfrm>
            <a:off x="640080" y="3300984"/>
            <a:ext cx="10972800" cy="411480"/>
          </a:xfrm>
          <a:prstGeom prst="rect">
            <a:avLst/>
          </a:prstGeom>
          <a:noFill/>
        </p:spPr>
        <p:txBody>
          <a:bodyPr wrap="square">
            <a:spAutoFit/>
          </a:bodyPr>
          <a:lstStyle/>
          <a:p>
            <a:r>
              <a:rPr sz="1700" b="0">
                <a:solidFill>
                  <a:srgbClr val="55606B"/>
                </a:solidFill>
              </a:rPr>
              <a:t>Query labels are used for scoring only - never for fitting or selection.</a:t>
            </a:r>
          </a:p>
        </p:txBody>
      </p:sp>
      <p:sp>
        <p:nvSpPr>
          <p:cNvPr id="8" name="TextBox 7"/>
          <p:cNvSpPr txBox="1"/>
          <p:nvPr/>
        </p:nvSpPr>
        <p:spPr>
          <a:xfrm>
            <a:off x="640080" y="3730752"/>
            <a:ext cx="10972800" cy="411480"/>
          </a:xfrm>
          <a:prstGeom prst="rect">
            <a:avLst/>
          </a:prstGeom>
          <a:noFill/>
        </p:spPr>
        <p:txBody>
          <a:bodyPr wrap="square">
            <a:spAutoFit/>
          </a:bodyPr>
          <a:lstStyle/>
          <a:p>
            <a:r>
              <a:rPr sz="1700" b="0">
                <a:solidFill>
                  <a:srgbClr val="55606B"/>
                </a:solidFill>
              </a:rPr>
              <a:t>At 25 shots: 100 support pixels, 25,892 query pixels.</a:t>
            </a:r>
          </a:p>
        </p:txBody>
      </p:sp>
      <p:sp>
        <p:nvSpPr>
          <p:cNvPr id="9" name="TextBox 8"/>
          <p:cNvSpPr txBox="1"/>
          <p:nvPr/>
        </p:nvSpPr>
        <p:spPr>
          <a:xfrm>
            <a:off x="640080" y="4160520"/>
            <a:ext cx="10972800" cy="411480"/>
          </a:xfrm>
          <a:prstGeom prst="rect">
            <a:avLst/>
          </a:prstGeom>
          <a:noFill/>
        </p:spPr>
        <p:txBody>
          <a:bodyPr wrap="square">
            <a:spAutoFit/>
          </a:bodyPr>
          <a:lstStyle/>
          <a:p>
            <a:r>
              <a:rPr sz="1700" b="1">
                <a:solidFill>
                  <a:srgbClr val="0E141B"/>
                </a:solidFill>
              </a:rPr>
              <a:t>The query set shrinks unevenly as the budget grows - Class 4 loses 7% of its</a:t>
            </a:r>
          </a:p>
        </p:txBody>
      </p:sp>
      <p:sp>
        <p:nvSpPr>
          <p:cNvPr id="10" name="TextBox 9"/>
          <p:cNvSpPr txBox="1"/>
          <p:nvPr/>
        </p:nvSpPr>
        <p:spPr>
          <a:xfrm>
            <a:off x="640080" y="4590288"/>
            <a:ext cx="10972800" cy="411480"/>
          </a:xfrm>
          <a:prstGeom prst="rect">
            <a:avLst/>
          </a:prstGeom>
          <a:noFill/>
        </p:spPr>
        <p:txBody>
          <a:bodyPr wrap="square">
            <a:spAutoFit/>
          </a:bodyPr>
          <a:lstStyle/>
          <a:p>
            <a:r>
              <a:rPr sz="1700" b="1">
                <a:solidFill>
                  <a:srgbClr val="0E141B"/>
                </a:solidFill>
              </a:rPr>
              <a:t>pixels at 200 shots versus Class 2's 2.3%. A stated limitation.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
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1. First-slide abstract, under 150 words. Introduce the problem and the exact scope, not just the score.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1. Age supports retrofit and energy planning. Explain mixed-pixel labels and different oldest-era boundaries.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1 → Speaker 2. The 25-shot result is important to the rubric. Macro-F1 gives each class equal weight.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2. Historical learning pipeline, not executed during release. Two source RFs produce the cached prior. Only support labels fit the target RF.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2. Explain rationale without presenting entangled ablations as additive causal effects. No novelty claim for RF itself.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3. Explain every budget and population SD. These are 200 paired episodes per budget on one fixed city. ASTRA, EXP-F and EXP-010 are historical comparison methods.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3. At 200/class, compare Coordinate-RF with ASTRA on matched episodes. Do not infer independent-city significance from the paired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3 → Speaker 4. Lower spatial means are material negative evidence. Different query geography prevents equating spatial and random-pixel scores.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4. Hash checks are safe; --verify is not just a checksum command and fits support RFs. Explain the pool-bound artifact and distinguish static checks from runtime reproduction.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4. Close with exact score and scope. Future work is proposed, not performed. All four speakers should rehearse handoffs. Take questions on source transfer, the 25-shot regime, extra supervision and spatial limitations.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008E78"/>
                </a:solidFill>
                <a:latin typeface="Arial"/>
              </a:defRPr>
            </a:pPr>
            <a:r>
              <a:t>STATSGEEKS · COORDINATE-RF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064240" cy="8686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3200" b="1">
                <a:solidFill>
                  <a:srgbClr val="142B40"/>
                </a:solidFill>
                <a:latin typeface="Arial"/>
              </a:defRPr>
            </a:pPr>
            <a:r>
              <a:t>Building-age transfer with scarce labels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10607040" cy="2377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26478"/>
                </a:solidFill>
                <a:latin typeface="Arial"/>
              </a:defRPr>
            </a:pPr>
            <a:r>
              <a:t>Frozen evidence: FINAL_SUBMISSION/results_summary/learning_curve.csv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19088"/>
            <a:ext cx="731520" cy="2377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26478"/>
                </a:solidFill>
                <a:latin typeface="Arial"/>
              </a:defRPr>
            </a:pPr>
            <a:r>
              <a:t>01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64008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3500" b="1">
                <a:solidFill>
                  <a:srgbClr val="008E78"/>
                </a:solidFill>
                <a:latin typeface="Arial"/>
              </a:defRPr>
            </a:pPr>
            <a:r>
              <a:t>Madrid → Amsterdam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51760"/>
            <a:ext cx="7360920" cy="33375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142B40"/>
                </a:solidFill>
                <a:latin typeface="Arial"/>
              </a:defRPr>
            </a:pPr>
            <a:r>
              <a:t>We classify four building-construction eras from 30 m Landsat pixels. Coordinate-RF combines a Madrid-learned prior with a target-support random forest, whitened spectral features and spatial context. On the frozen Amsterdam random-pixel protocol it reaches 0.749299 macro-F1 at 200 labels per class. The method uses the full unlabelled target pool and an additional development label bank; spatial extrapolation remains a limitation.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21040" y="1920240"/>
            <a:ext cx="3200400" cy="3200400"/>
          </a:xfrm>
          <a:prstGeom prst="roundRect">
            <a:avLst/>
          </a:prstGeom>
          <a:solidFill>
            <a:srgbClr val="EF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22208" y="2121408"/>
            <a:ext cx="2798064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2500" b="1">
                <a:solidFill>
                  <a:srgbClr val="008E78"/>
                </a:solidFill>
                <a:latin typeface="Arial"/>
              </a:defRPr>
            </a:pPr>
            <a:r>
              <a:t>0.749299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22208" y="2834640"/>
            <a:ext cx="2798064" cy="21945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142B40"/>
                </a:solidFill>
                <a:latin typeface="Arial"/>
              </a:defRPr>
            </a:pPr>
            <a:r>
              <a:t>Locked macro-F1</a:t>
            </a:r>
          </a:p>
          <a:p>
            <a:pPr>
              <a:spcAft>
                <a:spcPts val="1000"/>
              </a:spcAft>
              <a:defRPr sz="2100" b="0">
                <a:solidFill>
                  <a:srgbClr val="142B40"/>
                </a:solidFill>
                <a:latin typeface="Arial"/>
              </a:defRPr>
            </a:pPr>
            <a:r>
              <a:t>200 labels/class</a:t>
            </a:r>
          </a:p>
          <a:p>
            <a:pPr>
              <a:spcAft>
                <a:spcPts val="1000"/>
              </a:spcAft>
              <a:defRPr sz="2100" b="0">
                <a:solidFill>
                  <a:srgbClr val="142B40"/>
                </a:solidFill>
                <a:latin typeface="Arial"/>
              </a:defRPr>
            </a:pPr>
            <a:r>
              <a:t>200 paired episodes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008E78"/>
                </a:solidFill>
                <a:latin typeface="Arial"/>
              </a:defRPr>
            </a:pPr>
            <a:r>
              <a:t>01 · PROBLEM &amp;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064240" cy="8686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3200" b="1">
                <a:solidFill>
                  <a:srgbClr val="142B40"/>
                </a:solidFill>
                <a:latin typeface="Arial"/>
              </a:defRPr>
            </a:pPr>
            <a:r>
              <a:t>A useful urban signal, with imperfect labels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10607040" cy="2377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26478"/>
                </a:solidFill>
                <a:latin typeface="Arial"/>
              </a:defRPr>
            </a:pPr>
            <a:r>
              <a:t>Data: organizer notebooks; docs/MASTER_PLAN.md dataset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19088"/>
            <a:ext cx="731520" cy="2377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26478"/>
                </a:solidFill>
                <a:latin typeface="Arial"/>
              </a:defRPr>
            </a:pPr>
            <a:r>
              <a:t>02 /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3474720" cy="3200400"/>
          </a:xfrm>
          <a:prstGeom prst="roundRect">
            <a:avLst/>
          </a:prstGeom>
          <a:solidFill>
            <a:srgbClr val="EF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029968"/>
            <a:ext cx="3072384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2500" b="1">
                <a:solidFill>
                  <a:srgbClr val="008E78"/>
                </a:solidFill>
                <a:latin typeface="Arial"/>
              </a:defRPr>
            </a:pPr>
            <a:r>
              <a:t>Why age?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743200"/>
            <a:ext cx="3072384" cy="21945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142B40"/>
                </a:solidFill>
                <a:latin typeface="Arial"/>
              </a:defRPr>
            </a:pPr>
            <a:r>
              <a:t>Retrofit planning</a:t>
            </a:r>
          </a:p>
          <a:p>
            <a:pPr>
              <a:spcAft>
                <a:spcPts val="1000"/>
              </a:spcAft>
              <a:defRPr sz="2100" b="0">
                <a:solidFill>
                  <a:srgbClr val="142B40"/>
                </a:solidFill>
                <a:latin typeface="Arial"/>
              </a:defRPr>
            </a:pPr>
            <a:r>
              <a:t>Energy-policy evidence</a:t>
            </a:r>
          </a:p>
          <a:p>
            <a:pPr>
              <a:spcAft>
                <a:spcPts val="1000"/>
              </a:spcAft>
              <a:defRPr sz="2100" b="0">
                <a:solidFill>
                  <a:srgbClr val="142B40"/>
                </a:solidFill>
                <a:latin typeface="Arial"/>
              </a:defRPr>
            </a:pPr>
            <a:r>
              <a:t>Incomplete records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1688" y="1828800"/>
            <a:ext cx="3474720" cy="3200400"/>
          </a:xfrm>
          <a:prstGeom prst="roundRect">
            <a:avLst/>
          </a:prstGeom>
          <a:solidFill>
            <a:srgbClr val="EF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62855" y="2029968"/>
            <a:ext cx="3072384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2500" b="1">
                <a:solidFill>
                  <a:srgbClr val="008E78"/>
                </a:solidFill>
                <a:latin typeface="Arial"/>
              </a:defRPr>
            </a:pPr>
            <a:r>
              <a:t>What data?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62855" y="2743200"/>
            <a:ext cx="3072384" cy="21945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142B40"/>
                </a:solidFill>
                <a:latin typeface="Arial"/>
              </a:defRPr>
            </a:pPr>
            <a:r>
              <a:t>Six spectral bands</a:t>
            </a:r>
          </a:p>
          <a:p>
            <a:pPr>
              <a:spcAft>
                <a:spcPts val="1000"/>
              </a:spcAft>
              <a:defRPr sz="2100" b="0">
                <a:solidFill>
                  <a:srgbClr val="142B40"/>
                </a:solidFill>
                <a:latin typeface="Arial"/>
              </a:defRPr>
            </a:pPr>
            <a:r>
              <a:t>1984–2025 imagery</a:t>
            </a:r>
          </a:p>
          <a:p>
            <a:pPr>
              <a:spcAft>
                <a:spcPts val="1000"/>
              </a:spcAft>
              <a:defRPr sz="2100" b="0">
                <a:solidFill>
                  <a:srgbClr val="142B40"/>
                </a:solidFill>
                <a:latin typeface="Arial"/>
              </a:defRPr>
            </a:pPr>
            <a:r>
              <a:t>30 m mixed pixels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83296" y="1828800"/>
            <a:ext cx="3474720" cy="3200400"/>
          </a:xfrm>
          <a:prstGeom prst="roundRect">
            <a:avLst/>
          </a:prstGeom>
          <a:solidFill>
            <a:srgbClr val="EF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84464" y="2029968"/>
            <a:ext cx="3072384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2500" b="1">
                <a:solidFill>
                  <a:srgbClr val="008E78"/>
                </a:solidFill>
                <a:latin typeface="Arial"/>
              </a:defRPr>
            </a:pPr>
            <a:r>
              <a:t>What task?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84464" y="2743200"/>
            <a:ext cx="3072384" cy="21945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142B40"/>
                </a:solidFill>
                <a:latin typeface="Arial"/>
              </a:defRPr>
            </a:pPr>
            <a:r>
              <a:t>Four construction eras</a:t>
            </a:r>
          </a:p>
          <a:p>
            <a:pPr>
              <a:spcAft>
                <a:spcPts val="1000"/>
              </a:spcAft>
              <a:defRPr sz="2100" b="0">
                <a:solidFill>
                  <a:srgbClr val="142B40"/>
                </a:solidFill>
                <a:latin typeface="Arial"/>
              </a:defRPr>
            </a:pPr>
            <a:r>
              <a:t>Madrid source city</a:t>
            </a:r>
          </a:p>
          <a:p>
            <a:pPr>
              <a:spcAft>
                <a:spcPts val="1000"/>
              </a:spcAft>
              <a:defRPr sz="2100" b="0">
                <a:solidFill>
                  <a:srgbClr val="142B40"/>
                </a:solidFill>
                <a:latin typeface="Arial"/>
              </a:defRPr>
            </a:pPr>
            <a:r>
              <a:t>Amsterdam target city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486400"/>
            <a:ext cx="1088136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526478"/>
                </a:solidFill>
                <a:latin typeface="Arial"/>
              </a:defRPr>
            </a:pPr>
            <a:r>
              <a:t>76,263 source pixels  ·  25,992 target pixels  ·  60 spectral features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008E78"/>
                </a:solidFill>
                <a:latin typeface="Arial"/>
              </a:defRPr>
            </a:pPr>
            <a:r>
              <a:t>02 · CHALLENGE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064240" cy="8686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3200" b="1">
                <a:solidFill>
                  <a:srgbClr val="142B40"/>
                </a:solidFill>
                <a:latin typeface="Arial"/>
              </a:defRPr>
            </a:pPr>
            <a:r>
              <a:t>Transfer must work when labels are scarce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10607040" cy="2377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26478"/>
                </a:solidFill>
                <a:latin typeface="Arial"/>
              </a:defRPr>
            </a:pPr>
            <a:r>
              <a:t>Protocol: candidate/reports/METHODS.md; locked learning-curve CSV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19088"/>
            <a:ext cx="731520" cy="2377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26478"/>
                </a:solidFill>
                <a:latin typeface="Arial"/>
              </a:defRPr>
            </a:pPr>
            <a:r>
              <a:t>03 /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5303520" cy="2286000"/>
          </a:xfrm>
          <a:prstGeom prst="roundRect">
            <a:avLst/>
          </a:prstGeom>
          <a:solidFill>
            <a:srgbClr val="EF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029968"/>
            <a:ext cx="4901183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2500" b="1">
                <a:solidFill>
                  <a:srgbClr val="008E78"/>
                </a:solidFill>
                <a:latin typeface="Arial"/>
              </a:defRPr>
            </a:pPr>
            <a:r>
              <a:t>Cross-city shift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743200"/>
            <a:ext cx="4901183" cy="12801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142B40"/>
                </a:solidFill>
                <a:latin typeface="Arial"/>
              </a:defRPr>
            </a:pPr>
            <a:r>
              <a:t>Spectral and spatial patterns differ.</a:t>
            </a:r>
          </a:p>
          <a:p>
            <a:pPr>
              <a:spcAft>
                <a:spcPts val="1000"/>
              </a:spcAft>
              <a:defRPr sz="2100" b="0">
                <a:solidFill>
                  <a:srgbClr val="142B40"/>
                </a:solidFill>
                <a:latin typeface="Arial"/>
              </a:defRPr>
            </a:pPr>
            <a:r>
              <a:t>Source knowledge needs adaptation.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828800"/>
            <a:ext cx="5303520" cy="2286000"/>
          </a:xfrm>
          <a:prstGeom prst="roundRect">
            <a:avLst/>
          </a:prstGeom>
          <a:solidFill>
            <a:srgbClr val="EF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2029968"/>
            <a:ext cx="4901183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2500" b="1">
                <a:solidFill>
                  <a:srgbClr val="008E78"/>
                </a:solidFill>
                <a:latin typeface="Arial"/>
              </a:defRPr>
            </a:pPr>
            <a:r>
              <a:t>Few-label adaptation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743200"/>
            <a:ext cx="4901183" cy="12801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142B40"/>
                </a:solidFill>
                <a:latin typeface="Arial"/>
              </a:defRPr>
            </a:pPr>
            <a:r>
              <a:t>5 / 25 / 50 / 100 / 200 labels per class.</a:t>
            </a:r>
          </a:p>
          <a:p>
            <a:pPr>
              <a:spcAft>
                <a:spcPts val="1000"/>
              </a:spcAft>
              <a:defRPr sz="2100" b="0">
                <a:solidFill>
                  <a:srgbClr val="142B40"/>
                </a:solidFill>
                <a:latin typeface="Arial"/>
              </a:defRPr>
            </a:pPr>
            <a:r>
              <a:t>Only designated support labels fit the local RF.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617720"/>
            <a:ext cx="1060704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2800" b="1">
                <a:solidFill>
                  <a:srgbClr val="008E78"/>
                </a:solidFill>
                <a:latin typeface="Arial"/>
              </a:defRPr>
            </a:pPr>
            <a:r>
              <a:t>25 labels/class = 100 target support labels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486400"/>
            <a:ext cx="10607040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526478"/>
                </a:solidFill>
                <a:latin typeface="Arial"/>
              </a:defRPr>
            </a:pPr>
            <a:r>
              <a:t>The additional 800-label development bank is separate research supervision.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008E78"/>
                </a:solidFill>
                <a:latin typeface="Arial"/>
              </a:defRPr>
            </a:pPr>
            <a:r>
              <a:t>03 ·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064240" cy="8686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3200" b="1">
                <a:solidFill>
                  <a:srgbClr val="142B40"/>
                </a:solidFill>
                <a:latin typeface="Arial"/>
              </a:defRPr>
            </a:pPr>
            <a:r>
              <a:t>One source prior, one local adaptation branch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10607040" cy="2377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26478"/>
                </a:solidFill>
                <a:latin typeface="Arial"/>
              </a:defRPr>
            </a:pPr>
            <a:r>
              <a:t>Method: candidate/reports/METHODS.md; frozen model configuration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19088"/>
            <a:ext cx="731520" cy="2377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26478"/>
                </a:solidFill>
                <a:latin typeface="Arial"/>
              </a:defRPr>
            </a:pPr>
            <a:r>
              <a:t>04 /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5257800" cy="2468880"/>
          </a:xfrm>
          <a:prstGeom prst="roundRect">
            <a:avLst/>
          </a:prstGeom>
          <a:solidFill>
            <a:srgbClr val="EF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984248"/>
            <a:ext cx="4855464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2500" b="1">
                <a:solidFill>
                  <a:srgbClr val="008E78"/>
                </a:solidFill>
                <a:latin typeface="Arial"/>
              </a:defRPr>
            </a:pPr>
            <a:r>
              <a:t>Madrid source branch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697480"/>
            <a:ext cx="4855464" cy="1463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142B40"/>
                </a:solidFill>
                <a:latin typeface="Arial"/>
              </a:defRPr>
            </a:pPr>
            <a:r>
              <a:t>Contextual spectral features</a:t>
            </a:r>
          </a:p>
          <a:p>
            <a:pPr>
              <a:spcAft>
                <a:spcPts val="1000"/>
              </a:spcAft>
              <a:defRPr sz="2100" b="0">
                <a:solidFill>
                  <a:srgbClr val="142B40"/>
                </a:solidFill>
                <a:latin typeface="Arial"/>
              </a:defRPr>
            </a:pPr>
            <a:r>
              <a:t>Covariance alignment + refinement</a:t>
            </a:r>
          </a:p>
          <a:p>
            <a:pPr>
              <a:spcAft>
                <a:spcPts val="1000"/>
              </a:spcAft>
              <a:defRPr sz="2100" b="0">
                <a:solidFill>
                  <a:srgbClr val="142B40"/>
                </a:solidFill>
                <a:latin typeface="Arial"/>
              </a:defRPr>
            </a:pPr>
            <a:r>
              <a:t>Frozen source probability prior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783080"/>
            <a:ext cx="5257800" cy="2468880"/>
          </a:xfrm>
          <a:prstGeom prst="roundRect">
            <a:avLst/>
          </a:prstGeom>
          <a:solidFill>
            <a:srgbClr val="EF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64807" y="1984248"/>
            <a:ext cx="4855464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2500" b="1">
                <a:solidFill>
                  <a:srgbClr val="008E78"/>
                </a:solidFill>
                <a:latin typeface="Arial"/>
              </a:defRPr>
            </a:pPr>
            <a:r>
              <a:t>Amsterdam local branch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64807" y="2697480"/>
            <a:ext cx="4855464" cy="1463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142B40"/>
                </a:solidFill>
                <a:latin typeface="Arial"/>
              </a:defRPr>
            </a:pPr>
            <a:r>
              <a:t>Full-pool adaptive whitening</a:t>
            </a:r>
          </a:p>
          <a:p>
            <a:pPr>
              <a:spcAft>
                <a:spcPts val="1000"/>
              </a:spcAft>
              <a:defRPr sz="2100" b="0">
                <a:solidFill>
                  <a:srgbClr val="142B40"/>
                </a:solidFill>
                <a:latin typeface="Arial"/>
              </a:defRPr>
            </a:pPr>
            <a:r>
              <a:t>Two standardized coordinates</a:t>
            </a:r>
          </a:p>
          <a:p>
            <a:pPr>
              <a:spcAft>
                <a:spcPts val="1000"/>
              </a:spcAft>
              <a:defRPr sz="2100" b="0">
                <a:solidFill>
                  <a:srgbClr val="142B40"/>
                </a:solidFill>
                <a:latin typeface="Arial"/>
              </a:defRPr>
            </a:pPr>
            <a:r>
              <a:t>Support-only 200-tree RF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4325112"/>
            <a:ext cx="91440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3000" b="1">
                <a:solidFill>
                  <a:srgbClr val="008E78"/>
                </a:solidFill>
                <a:latin typeface="Arial"/>
              </a:defRPr>
            </a:pPr>
            <a:r>
              <a:t>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4325112"/>
            <a:ext cx="91440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3000" b="1">
                <a:solidFill>
                  <a:srgbClr val="008E78"/>
                </a:solidFill>
                <a:latin typeface="Arial"/>
              </a:defRPr>
            </a:pPr>
            <a:r>
              <a:t>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554480" y="4937760"/>
            <a:ext cx="9098280" cy="822960"/>
          </a:xfrm>
          <a:prstGeom prst="roundRect">
            <a:avLst/>
          </a:prstGeom>
          <a:solidFill>
            <a:srgbClr val="14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783080" y="5102352"/>
            <a:ext cx="868680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2300" b="1">
                <a:solidFill>
                  <a:srgbClr val="FFFFFF"/>
                </a:solidFill>
                <a:latin typeface="Arial"/>
              </a:defRPr>
            </a:pPr>
            <a:r>
              <a:t>Blend probabilities  →  nine-neighbour smoothing  →  classes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008E78"/>
                </a:solidFill>
                <a:latin typeface="Arial"/>
              </a:defRPr>
            </a:pPr>
            <a:r>
              <a:t>04 · DESIGN RATIONALE &amp; CREATIVITY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064240" cy="8686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3200" b="1">
                <a:solidFill>
                  <a:srgbClr val="142B40"/>
                </a:solidFill>
                <a:latin typeface="Arial"/>
              </a:defRPr>
            </a:pPr>
            <a:r>
              <a:t>The contribution is the combination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10607040" cy="2377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26478"/>
                </a:solidFill>
                <a:latin typeface="Arial"/>
              </a:defRPr>
            </a:pPr>
            <a:r>
              <a:t>Mechanism evidence: candidate/reports/RESULTS.md and METHODS.md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19088"/>
            <a:ext cx="731520" cy="2377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26478"/>
                </a:solidFill>
                <a:latin typeface="Arial"/>
              </a:defRPr>
            </a:pPr>
            <a:r>
              <a:t>05 /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3474720" cy="3154680"/>
          </a:xfrm>
          <a:prstGeom prst="roundRect">
            <a:avLst/>
          </a:prstGeom>
          <a:solidFill>
            <a:srgbClr val="EF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029968"/>
            <a:ext cx="3072384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2500" b="1">
                <a:solidFill>
                  <a:srgbClr val="008E78"/>
                </a:solidFill>
                <a:latin typeface="Arial"/>
              </a:defRPr>
            </a:pPr>
            <a:r>
              <a:t>Source reuse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743200"/>
            <a:ext cx="3072384" cy="21488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142B40"/>
                </a:solidFill>
                <a:latin typeface="Arial"/>
              </a:defRPr>
            </a:pPr>
            <a:r>
              <a:t>Source probability weight:</a:t>
            </a:r>
          </a:p>
          <a:p>
            <a:pPr>
              <a:spcAft>
                <a:spcPts val="1000"/>
              </a:spcAft>
              <a:defRPr sz="2100" b="0">
                <a:solidFill>
                  <a:srgbClr val="142B40"/>
                </a:solidFill>
                <a:latin typeface="Arial"/>
              </a:defRPr>
            </a:pPr>
            <a:r>
              <a:t>20 / (20 + 4b)</a:t>
            </a:r>
          </a:p>
          <a:p>
            <a:pPr>
              <a:spcAft>
                <a:spcPts val="1000"/>
              </a:spcAft>
              <a:defRPr sz="2100" b="0">
                <a:solidFill>
                  <a:srgbClr val="142B40"/>
                </a:solidFill>
                <a:latin typeface="Arial"/>
              </a:defRPr>
            </a:pPr>
            <a:r>
              <a:t>Less weight as support grows.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1688" y="1828800"/>
            <a:ext cx="3474720" cy="3154680"/>
          </a:xfrm>
          <a:prstGeom prst="roundRect">
            <a:avLst/>
          </a:prstGeom>
          <a:solidFill>
            <a:srgbClr val="EF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62855" y="2029968"/>
            <a:ext cx="3072384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2500" b="1">
                <a:solidFill>
                  <a:srgbClr val="008E78"/>
                </a:solidFill>
                <a:latin typeface="Arial"/>
              </a:defRPr>
            </a:pPr>
            <a:r>
              <a:t>Local geometry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62855" y="2743200"/>
            <a:ext cx="3072384" cy="21488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142B40"/>
                </a:solidFill>
                <a:latin typeface="Arial"/>
              </a:defRPr>
            </a:pPr>
            <a:r>
              <a:t>Adaptive whitening</a:t>
            </a:r>
          </a:p>
          <a:p>
            <a:pPr>
              <a:spcAft>
                <a:spcPts val="1000"/>
              </a:spcAft>
              <a:defRPr sz="2100" b="0">
                <a:solidFill>
                  <a:srgbClr val="142B40"/>
                </a:solidFill>
                <a:latin typeface="Arial"/>
              </a:defRPr>
            </a:pPr>
            <a:r>
              <a:t>Spectral + coordinate inputs</a:t>
            </a:r>
          </a:p>
          <a:p>
            <a:pPr>
              <a:spcAft>
                <a:spcPts val="1000"/>
              </a:spcAft>
              <a:defRPr sz="2100" b="0">
                <a:solidFill>
                  <a:srgbClr val="142B40"/>
                </a:solidFill>
                <a:latin typeface="Arial"/>
              </a:defRPr>
            </a:pPr>
            <a:r>
              <a:t>Balanced random forest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83296" y="1828800"/>
            <a:ext cx="3474720" cy="3154680"/>
          </a:xfrm>
          <a:prstGeom prst="roundRect">
            <a:avLst/>
          </a:prstGeom>
          <a:solidFill>
            <a:srgbClr val="EF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84464" y="2029968"/>
            <a:ext cx="3072384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2500" b="1">
                <a:solidFill>
                  <a:srgbClr val="008E78"/>
                </a:solidFill>
                <a:latin typeface="Arial"/>
              </a:defRPr>
            </a:pPr>
            <a:r>
              <a:t>Spatial context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84464" y="2743200"/>
            <a:ext cx="3072384" cy="21488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142B40"/>
                </a:solidFill>
                <a:latin typeface="Arial"/>
              </a:defRPr>
            </a:pPr>
            <a:r>
              <a:t>Label-free smoothing</a:t>
            </a:r>
          </a:p>
          <a:p>
            <a:pPr>
              <a:spcAft>
                <a:spcPts val="1000"/>
              </a:spcAft>
              <a:defRPr sz="2100" b="0">
                <a:solidFill>
                  <a:srgbClr val="142B40"/>
                </a:solidFill>
                <a:latin typeface="Arial"/>
              </a:defRPr>
            </a:pPr>
            <a:r>
              <a:t>Nine spatial neighbours</a:t>
            </a:r>
          </a:p>
          <a:p>
            <a:pPr>
              <a:spcAft>
                <a:spcPts val="1000"/>
              </a:spcAft>
              <a:defRPr sz="2100" b="0">
                <a:solidFill>
                  <a:srgbClr val="142B40"/>
                </a:solidFill>
                <a:latin typeface="Arial"/>
              </a:defRPr>
            </a:pPr>
            <a:r>
              <a:t>Full-pool access required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486400"/>
            <a:ext cx="10881360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526478"/>
                </a:solidFill>
                <a:latin typeface="Arial"/>
              </a:defRPr>
            </a:pPr>
            <a:r>
              <a:t>b = labels/class. Components interact; ablation bars are not additive causal effects.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008E78"/>
                </a:solidFill>
                <a:latin typeface="Arial"/>
              </a:defRPr>
            </a:pPr>
            <a:r>
              <a:t>05 · LOCKED LEARNING CURVE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064240" cy="8686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3200" b="1">
                <a:solidFill>
                  <a:srgbClr val="142B40"/>
                </a:solidFill>
                <a:latin typeface="Arial"/>
              </a:defRPr>
            </a:pPr>
            <a:r>
              <a:t>Performance improves as target support grows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10607040" cy="2377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26478"/>
                </a:solidFill>
                <a:latin typeface="Arial"/>
              </a:defRPr>
            </a:pPr>
            <a:r>
              <a:t>Source: FINAL_SUBMISSION/results_summary/learning_curve.csv · no new predictions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19088"/>
            <a:ext cx="731520" cy="2377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26478"/>
                </a:solidFill>
                <a:latin typeface="Arial"/>
              </a:defRPr>
            </a:pPr>
            <a:r>
              <a:t>06 / 10</a:t>
            </a:r>
          </a:p>
        </p:txBody>
      </p:sp>
      <p:pic>
        <p:nvPicPr>
          <p:cNvPr id="7" name="Picture 6" descr="judge_learning_cur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761172"/>
            <a:ext cx="8366760" cy="406717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189720" y="1920240"/>
            <a:ext cx="237744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526478"/>
                </a:solidFill>
                <a:latin typeface="Arial"/>
              </a:defRPr>
            </a:pPr>
            <a:r>
              <a:t>25 / class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89720" y="2468880"/>
            <a:ext cx="237744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3100" b="1">
                <a:solidFill>
                  <a:srgbClr val="008E78"/>
                </a:solidFill>
                <a:latin typeface="Arial"/>
              </a:defRPr>
            </a:pPr>
            <a:r>
              <a:t>0.687664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89720" y="3520440"/>
            <a:ext cx="237744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526478"/>
                </a:solidFill>
                <a:latin typeface="Arial"/>
              </a:defRPr>
            </a:pPr>
            <a:r>
              <a:t>200 / class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89720" y="4069080"/>
            <a:ext cx="237744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3100" b="1">
                <a:solidFill>
                  <a:srgbClr val="008E78"/>
                </a:solidFill>
                <a:latin typeface="Arial"/>
              </a:defRPr>
            </a:pPr>
            <a:r>
              <a:t>0.749299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989320"/>
            <a:ext cx="106070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526478"/>
                </a:solidFill>
                <a:latin typeface="Arial"/>
              </a:defRPr>
            </a:pPr>
            <a:r>
              <a:t>SD is episode spread, not a confidence interval.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008E78"/>
                </a:solidFill>
                <a:latin typeface="Arial"/>
              </a:defRPr>
            </a:pPr>
            <a:r>
              <a:t>06 · RESULT INTERPRETATION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064240" cy="8686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3200" b="1">
                <a:solidFill>
                  <a:srgbClr val="142B40"/>
                </a:solidFill>
                <a:latin typeface="Arial"/>
              </a:defRPr>
            </a:pPr>
            <a:r>
              <a:t>A strong fixed-city result—not universal superiority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10607040" cy="2377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26478"/>
                </a:solidFill>
                <a:latin typeface="Arial"/>
              </a:defRPr>
            </a:pPr>
            <a:r>
              <a:t>Paired evidence: candidate/reports/RESULTS.md and STATISTICAL_ANALYSIS.md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19088"/>
            <a:ext cx="731520" cy="2377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26478"/>
                </a:solidFill>
                <a:latin typeface="Arial"/>
              </a:defRPr>
            </a:pPr>
            <a:r>
              <a:t>07 /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5303520" cy="2880360"/>
          </a:xfrm>
          <a:prstGeom prst="roundRect">
            <a:avLst/>
          </a:prstGeom>
          <a:solidFill>
            <a:srgbClr val="EF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029968"/>
            <a:ext cx="4901183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2500" b="1">
                <a:solidFill>
                  <a:srgbClr val="008E78"/>
                </a:solidFill>
                <a:latin typeface="Arial"/>
              </a:defRPr>
            </a:pPr>
            <a:r>
              <a:t>200 labels/class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743200"/>
            <a:ext cx="4901183" cy="187451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142B40"/>
                </a:solidFill>
                <a:latin typeface="Arial"/>
              </a:defRPr>
            </a:pPr>
            <a:r>
              <a:t>Coordinate-RF: 0.749299 ± 0.005716</a:t>
            </a:r>
          </a:p>
          <a:p>
            <a:pPr>
              <a:spcAft>
                <a:spcPts val="1000"/>
              </a:spcAft>
              <a:defRPr sz="2100" b="0">
                <a:solidFill>
                  <a:srgbClr val="142B40"/>
                </a:solidFill>
                <a:latin typeface="Arial"/>
              </a:defRPr>
            </a:pPr>
            <a:r>
              <a:t>Matched ASTRA: 0.733037</a:t>
            </a:r>
          </a:p>
          <a:p>
            <a:pPr>
              <a:spcAft>
                <a:spcPts val="1000"/>
              </a:spcAft>
              <a:defRPr sz="2100" b="0">
                <a:solidFill>
                  <a:srgbClr val="142B40"/>
                </a:solidFill>
                <a:latin typeface="Arial"/>
              </a:defRPr>
            </a:pPr>
            <a:r>
              <a:t>Mean gain: +0.016262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828800"/>
            <a:ext cx="5303520" cy="2880360"/>
          </a:xfrm>
          <a:prstGeom prst="roundRect">
            <a:avLst/>
          </a:prstGeom>
          <a:solidFill>
            <a:srgbClr val="EF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2029968"/>
            <a:ext cx="4901183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2500" b="1">
                <a:solidFill>
                  <a:srgbClr val="008E78"/>
                </a:solidFill>
                <a:latin typeface="Arial"/>
              </a:defRPr>
            </a:pPr>
            <a:r>
              <a:t>What the evidence says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743200"/>
            <a:ext cx="4901183" cy="187451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142B40"/>
                </a:solidFill>
                <a:latin typeface="Arial"/>
              </a:defRPr>
            </a:pPr>
            <a:r>
              <a:t>200/200 paired wins at 200/class</a:t>
            </a:r>
          </a:p>
          <a:p>
            <a:pPr>
              <a:spcAft>
                <a:spcPts val="1000"/>
              </a:spcAft>
              <a:defRPr sz="2100" b="0">
                <a:solidFill>
                  <a:srgbClr val="142B40"/>
                </a:solidFill>
                <a:latin typeface="Arial"/>
              </a:defRPr>
            </a:pPr>
            <a:r>
              <a:t>Five-shot superiority is inconclusive</a:t>
            </a:r>
          </a:p>
          <a:p>
            <a:pPr>
              <a:spcAft>
                <a:spcPts val="1000"/>
              </a:spcAft>
              <a:defRPr sz="2100" b="0">
                <a:solidFill>
                  <a:srgbClr val="142B40"/>
                </a:solidFill>
                <a:latin typeface="Arial"/>
              </a:defRPr>
            </a:pPr>
            <a:r>
              <a:t>One shared target-city population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303520"/>
            <a:ext cx="10698480" cy="7772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526478"/>
                </a:solidFill>
                <a:latin typeface="Arial"/>
              </a:defRPr>
            </a:pPr>
            <a:r>
              <a:t>The 800-label development bank and current support are excluded from final queries.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008E78"/>
                </a:solidFill>
                <a:latin typeface="Arial"/>
              </a:defRPr>
            </a:pPr>
            <a:r>
              <a:t>07 · ANALYSIS &amp;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064240" cy="8686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3200" b="1">
                <a:solidFill>
                  <a:srgbClr val="142B40"/>
                </a:solidFill>
                <a:latin typeface="Arial"/>
              </a:defRPr>
            </a:pPr>
            <a:r>
              <a:t>Spatial extrapolation reveals the trade-off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10607040" cy="2377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26478"/>
                </a:solidFill>
                <a:latin typeface="Arial"/>
              </a:defRPr>
            </a:pPr>
            <a:r>
              <a:t>Frozen spatial evidence: candidate/reports/SPATIAL_ANALYSIS.md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19088"/>
            <a:ext cx="731520" cy="2377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26478"/>
                </a:solidFill>
                <a:latin typeface="Arial"/>
              </a:defRPr>
            </a:pPr>
            <a:r>
              <a:t>08 /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5303520" cy="2423160"/>
          </a:xfrm>
          <a:prstGeom prst="roundRect">
            <a:avLst/>
          </a:prstGeom>
          <a:solidFill>
            <a:srgbClr val="EF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029968"/>
            <a:ext cx="4901183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2500" b="1">
                <a:solidFill>
                  <a:srgbClr val="008E78"/>
                </a:solidFill>
                <a:latin typeface="Arial"/>
              </a:defRPr>
            </a:pPr>
            <a:r>
              <a:t>Four-direction mean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743200"/>
            <a:ext cx="4901183" cy="141731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142B40"/>
                </a:solidFill>
                <a:latin typeface="Arial"/>
              </a:defRPr>
            </a:pPr>
            <a:r>
              <a:t>Coordinate-RF: 0.694216</a:t>
            </a:r>
          </a:p>
          <a:p>
            <a:pPr>
              <a:spcAft>
                <a:spcPts val="1000"/>
              </a:spcAft>
              <a:defRPr sz="2100" b="0">
                <a:solidFill>
                  <a:srgbClr val="142B40"/>
                </a:solidFill>
                <a:latin typeface="Arial"/>
              </a:defRPr>
            </a:pPr>
            <a:r>
              <a:t>Matched ASTRA: 0.696672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828800"/>
            <a:ext cx="5303520" cy="2423160"/>
          </a:xfrm>
          <a:prstGeom prst="roundRect">
            <a:avLst/>
          </a:prstGeom>
          <a:solidFill>
            <a:srgbClr val="EF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2029968"/>
            <a:ext cx="4901183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2500" b="1">
                <a:solidFill>
                  <a:srgbClr val="008E78"/>
                </a:solidFill>
                <a:latin typeface="Arial"/>
              </a:defRPr>
            </a:pPr>
            <a:r>
              <a:t>Worst-direction mean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743200"/>
            <a:ext cx="4901183" cy="141731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142B40"/>
                </a:solidFill>
                <a:latin typeface="Arial"/>
              </a:defRPr>
            </a:pPr>
            <a:r>
              <a:t>Coordinate-RF: 0.644816</a:t>
            </a:r>
          </a:p>
          <a:p>
            <a:pPr>
              <a:spcAft>
                <a:spcPts val="1000"/>
              </a:spcAft>
              <a:defRPr sz="2100" b="0">
                <a:solidFill>
                  <a:srgbClr val="142B40"/>
                </a:solidFill>
                <a:latin typeface="Arial"/>
              </a:defRPr>
            </a:pPr>
            <a:r>
              <a:t>Matched ASTRA: 0.658183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800600"/>
            <a:ext cx="10607040" cy="10058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2800" b="1">
                <a:solidFill>
                  <a:srgbClr val="AE5B17"/>
                </a:solidFill>
                <a:latin typeface="Arial"/>
              </a:defRPr>
            </a:pPr>
            <a:r>
              <a:t>Coordinates help within this pool; they do not establish transfer to new geography.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008E78"/>
                </a:solidFill>
                <a:latin typeface="Arial"/>
              </a:defRPr>
            </a:pPr>
            <a:r>
              <a:t>08 · ENGINEERING &amp; INTEGRITY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064240" cy="8686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3200" b="1">
                <a:solidFill>
                  <a:srgbClr val="142B40"/>
                </a:solidFill>
                <a:latin typeface="Arial"/>
              </a:defRPr>
            </a:pPr>
            <a:r>
              <a:t>Frozen evidence, explicit reproducibility boundaries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10607040" cy="2377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26478"/>
                </a:solidFill>
                <a:latin typeface="Arial"/>
              </a:defRPr>
            </a:pPr>
            <a:r>
              <a:t>Verification: scripts/validate_release.py; FINAL_SUBMISSION/manifest.json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19088"/>
            <a:ext cx="731520" cy="2377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26478"/>
                </a:solidFill>
                <a:latin typeface="Arial"/>
              </a:defRPr>
            </a:pPr>
            <a:r>
              <a:t>09 /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5303520" cy="3063240"/>
          </a:xfrm>
          <a:prstGeom prst="roundRect">
            <a:avLst/>
          </a:prstGeom>
          <a:solidFill>
            <a:srgbClr val="EF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029968"/>
            <a:ext cx="4901183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2500" b="1">
                <a:solidFill>
                  <a:srgbClr val="008E78"/>
                </a:solidFill>
                <a:latin typeface="Arial"/>
              </a:defRPr>
            </a:pPr>
            <a:r>
              <a:t>What is preserved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743200"/>
            <a:ext cx="4901183" cy="2057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142B40"/>
                </a:solidFill>
                <a:latin typeface="Arial"/>
              </a:defRPr>
            </a:pPr>
            <a:r>
              <a:t>Model + configuration + ordered inputs</a:t>
            </a:r>
          </a:p>
          <a:p>
            <a:pPr>
              <a:spcAft>
                <a:spcPts val="1000"/>
              </a:spcAft>
              <a:defRPr sz="2100" b="0">
                <a:solidFill>
                  <a:srgbClr val="142B40"/>
                </a:solidFill>
                <a:latin typeface="Arial"/>
              </a:defRPr>
            </a:pPr>
            <a:r>
              <a:t>Notebook outputs + result tables</a:t>
            </a:r>
          </a:p>
          <a:p>
            <a:pPr>
              <a:spcAft>
                <a:spcPts val="1000"/>
              </a:spcAft>
              <a:defRPr sz="2100" b="0">
                <a:solidFill>
                  <a:srgbClr val="142B40"/>
                </a:solidFill>
                <a:latin typeface="Arial"/>
              </a:defRPr>
            </a:pPr>
            <a:r>
              <a:t>Manifest and SHA-256 checksums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828800"/>
            <a:ext cx="5303520" cy="3063240"/>
          </a:xfrm>
          <a:prstGeom prst="roundRect">
            <a:avLst/>
          </a:prstGeom>
          <a:solidFill>
            <a:srgbClr val="EF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2029968"/>
            <a:ext cx="4901183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2500" b="1">
                <a:solidFill>
                  <a:srgbClr val="008E78"/>
                </a:solidFill>
                <a:latin typeface="Arial"/>
              </a:defRPr>
            </a:pPr>
            <a:r>
              <a:t>What is not claimed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743200"/>
            <a:ext cx="4901183" cy="2057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142B40"/>
                </a:solidFill>
                <a:latin typeface="Arial"/>
              </a:defRPr>
            </a:pPr>
            <a:r>
              <a:t>Fresh training or runtime replay here</a:t>
            </a:r>
          </a:p>
          <a:p>
            <a:pPr>
              <a:spcAft>
                <a:spcPts val="1000"/>
              </a:spcAft>
              <a:defRPr sz="2100" b="0">
                <a:solidFill>
                  <a:srgbClr val="142B40"/>
                </a:solidFill>
                <a:latin typeface="Arial"/>
              </a:defRPr>
            </a:pPr>
            <a:r>
              <a:t>A self-contained raw-data rebuild</a:t>
            </a:r>
          </a:p>
          <a:p>
            <a:pPr>
              <a:spcAft>
                <a:spcPts val="1000"/>
              </a:spcAft>
              <a:defRPr sz="2100" b="0">
                <a:solidFill>
                  <a:srgbClr val="142B40"/>
                </a:solidFill>
                <a:latin typeface="Arial"/>
              </a:defRPr>
            </a:pPr>
            <a:r>
              <a:t>Organizer-held-out validation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394960"/>
            <a:ext cx="10607040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2400" b="1">
                <a:solidFill>
                  <a:srgbClr val="008E78"/>
                </a:solidFill>
                <a:latin typeface="Arial"/>
              </a:defRPr>
            </a:pPr>
            <a:r>
              <a:t>Safe audit: python -B scripts/validate_release.py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008E78"/>
                </a:solidFill>
                <a:latin typeface="Arial"/>
              </a:defRPr>
            </a:pPr>
            <a:r>
              <a:t>09 · CONCLUSION &amp; 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064240" cy="8686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3200" b="1">
                <a:solidFill>
                  <a:srgbClr val="142B40"/>
                </a:solidFill>
                <a:latin typeface="Arial"/>
              </a:defRPr>
            </a:pPr>
            <a:r>
              <a:t>A clear result—and a clear next 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10607040" cy="2377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26478"/>
                </a:solidFill>
                <a:latin typeface="Arial"/>
              </a:defRPr>
            </a:pPr>
            <a:r>
              <a:t>Start here: docs/judge/START_HERE.md · results remain locked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19088"/>
            <a:ext cx="731520" cy="2377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26478"/>
                </a:solidFill>
                <a:latin typeface="Arial"/>
              </a:defRPr>
            </a:pPr>
            <a:r>
              <a:t>10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28800"/>
            <a:ext cx="10835640" cy="7772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3800" b="1">
                <a:solidFill>
                  <a:srgbClr val="008E78"/>
                </a:solidFill>
                <a:latin typeface="Arial"/>
              </a:defRPr>
            </a:pPr>
            <a:r>
              <a:t>Coordinate-RF · macro-F1 0.749299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743200"/>
            <a:ext cx="10698480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2500" b="0">
                <a:solidFill>
                  <a:srgbClr val="142B40"/>
                </a:solidFill>
                <a:latin typeface="Arial"/>
              </a:defRPr>
            </a:pPr>
            <a:r>
              <a:t>200 labels/class · fixed-city random-pixel evaluation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657600"/>
            <a:ext cx="5303520" cy="2148840"/>
          </a:xfrm>
          <a:prstGeom prst="roundRect">
            <a:avLst/>
          </a:prstGeom>
          <a:solidFill>
            <a:srgbClr val="EF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3858768"/>
            <a:ext cx="4901183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2500" b="1">
                <a:solidFill>
                  <a:srgbClr val="008E78"/>
                </a:solidFill>
                <a:latin typeface="Arial"/>
              </a:defRPr>
            </a:pPr>
            <a:r>
              <a:t>Before competition upload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4572000"/>
            <a:ext cx="4901183" cy="11430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142B40"/>
                </a:solidFill>
                <a:latin typeface="Arial"/>
              </a:defRPr>
            </a:pPr>
            <a:r>
              <a:t>Confirm full-pool, coordinate and</a:t>
            </a:r>
          </a:p>
          <a:p>
            <a:pPr>
              <a:spcAft>
                <a:spcPts val="1000"/>
              </a:spcAft>
              <a:defRPr sz="2100" b="0">
                <a:solidFill>
                  <a:srgbClr val="142B40"/>
                </a:solidFill>
                <a:latin typeface="Arial"/>
              </a:defRPr>
            </a:pPr>
            <a:r>
              <a:t>additional-supervision eligibility.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657600"/>
            <a:ext cx="5303520" cy="2148840"/>
          </a:xfrm>
          <a:prstGeom prst="roundRect">
            <a:avLst/>
          </a:prstGeom>
          <a:solidFill>
            <a:srgbClr val="EF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9088" y="3858768"/>
            <a:ext cx="4901183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2500" b="1">
                <a:solidFill>
                  <a:srgbClr val="008E78"/>
                </a:solidFill>
                <a:latin typeface="Arial"/>
              </a:defRPr>
            </a:pPr>
            <a:r>
              <a:t>Next research—not run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088" y="4572000"/>
            <a:ext cx="4901183" cy="11430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142B40"/>
                </a:solidFill>
                <a:latin typeface="Arial"/>
              </a:defRPr>
            </a:pPr>
            <a:r>
              <a:t>Independent-city / spatial validation</a:t>
            </a:r>
          </a:p>
          <a:p>
            <a:pPr>
              <a:spcAft>
                <a:spcPts val="1000"/>
              </a:spcAft>
              <a:defRPr sz="2100" b="0">
                <a:solidFill>
                  <a:srgbClr val="142B40"/>
                </a:solidFill>
                <a:latin typeface="Arial"/>
              </a:defRPr>
            </a:pPr>
            <a:r>
              <a:t>Portable inference for new target pools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
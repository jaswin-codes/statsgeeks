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E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8FB8E8"/>
                </a:solidFill>
                <a:latin typeface="Consolas"/>
              </a:rPr>
              <a:t>STATSGEEKS  ·  BUILDING-AGE TRANSFER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Transfer that actually transfers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36E7A"/>
                </a:solidFill>
              </a:rPr>
              <a:t>Building age drives urban retrofit and energy policy, but records are incomplete. We classify the construction era of buildings within 30-metre Landsat pixels into four classes, training on Madrid and adapting to Amsterdam with as few as five labelled examples per class.
The organiser baseline showed substantial source-target mismatch, motivating a representation-based transfer strategy. Madrid learns feature ranking and class geometry; Amsterdam support labels estimate target prototypes. At five shots we shrink noisy prototypes toward re-centred Madrid geometry. At larger budgets shrinkage switches off while dimensionality reduction remains useful. In frozen EXP-010 audit episodes, tuned macro F1 improves over the matched full-feature, target-only control at every budget, with 45 of 50 paired wins. The largest mean gain occurs at five shots per class—only 20 labelled Amsterdam samples total—where prototype estimation is hardest.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63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36E7A"/>
                </a:solidFill>
              </a:rPr>
              <a:t>Abstract · ≤150 words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A78D6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141C24"/>
                </a:solidFill>
              </a:rPr>
              <a:t>How old are these buildings?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856231"/>
            <a:ext cx="100584" cy="100584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373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41C24"/>
                </a:solidFill>
              </a:rPr>
              <a:t>Four construction eras, per 30 m Landsat pixel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86584"/>
            <a:ext cx="100584" cy="100584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26771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41C24"/>
                </a:solidFill>
              </a:rPr>
              <a:t>Train on Madrid  →  adapt to Amsterdam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916935"/>
            <a:ext cx="100584" cy="100584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798063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41C24"/>
                </a:solidFill>
              </a:rPr>
              <a:t>As few as five labelled examples per class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447287"/>
            <a:ext cx="100584" cy="100584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328415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41C24"/>
                </a:solidFill>
              </a:rPr>
              <a:t>Metric: four-class macro F1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2651760" cy="150876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261104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A78D6"/>
                </a:solidFill>
              </a:rPr>
              <a:t>76k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08406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636E7A"/>
                </a:solidFill>
              </a:rPr>
              <a:t>Madrid pixels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4114800"/>
            <a:ext cx="2651760" cy="150876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79" y="4261104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A78D6"/>
                </a:solidFill>
              </a:rPr>
              <a:t>26k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79" y="508406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636E7A"/>
                </a:solidFill>
              </a:rPr>
              <a:t>Amsterdam pixels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114800"/>
            <a:ext cx="2651760" cy="1508760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261104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19D8F"/>
                </a:solidFill>
              </a:rPr>
              <a:t>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08406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636E7A"/>
                </a:solidFill>
              </a:rPr>
              <a:t>years of imagery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4114800"/>
            <a:ext cx="2651760" cy="1508760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4261104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B6834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508406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636E7A"/>
                </a:solidFill>
              </a:rPr>
              <a:t>labels, worst case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A78D6"/>
                </a:solidFill>
                <a:latin typeface="Consolas"/>
              </a:rPr>
              <a:t>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141C24"/>
                </a:solidFill>
              </a:rPr>
              <a:t>Construction leaves a spectral fingerprint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901952"/>
            <a:ext cx="100584" cy="100584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41C24"/>
                </a:solidFill>
              </a:rPr>
              <a:t>Six spectral bands · once a year · 1984–2025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404872"/>
            <a:ext cx="100584" cy="100584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2860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41C24"/>
                </a:solidFill>
              </a:rPr>
              <a:t>A field becomes a roof.  Concrete weathers.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907791"/>
            <a:ext cx="100584" cy="100584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78892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41C24"/>
                </a:solidFill>
              </a:rPr>
              <a:t>42-year trajectory  →  60 summary features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410712"/>
            <a:ext cx="100584" cy="100584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2918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41C24"/>
                </a:solidFill>
              </a:rPr>
              <a:t>Labels are area-weighted averages — noisy by construction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6052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15968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41C24"/>
                </a:solidFill>
              </a:rPr>
              <a:t>One pixel can hold a 1950s block and a 2010s block — and gets a label describing neither.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6460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B6834"/>
                </a:solidFill>
              </a:rPr>
              <a:t>There is a ceiling below 1.0. Nobody knows where it 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B6834"/>
                </a:solidFill>
                <a:latin typeface="Consolas"/>
              </a:rPr>
              <a:t>BASELINE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141C24"/>
                </a:solidFill>
              </a:rPr>
              <a:t>Source-target mismatch motivates transfer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212080" cy="2377440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41C24"/>
                </a:solidFill>
              </a:rPr>
              <a:t>Organiser reference path</a:t>
            </a:r>
          </a:p>
          <a:p>
            <a:r>
              <a:rPr sz="1800" b="0">
                <a:solidFill>
                  <a:srgbClr val="141C24"/>
                </a:solidFill>
              </a:rPr>
              <a:t>Madrid-fitted scaling</a:t>
            </a:r>
          </a:p>
          <a:p>
            <a:r>
              <a:rPr sz="1800" b="0">
                <a:solidFill>
                  <a:srgbClr val="141C24"/>
                </a:solidFill>
              </a:rPr>
              <a:t>Amsterdam-only prototypes</a:t>
            </a:r>
          </a:p>
        </p:txBody>
      </p:sp>
      <p:sp>
        <p:nvSpPr>
          <p:cNvPr id="7" name="Oval 6"/>
          <p:cNvSpPr/>
          <p:nvPr/>
        </p:nvSpPr>
        <p:spPr>
          <a:xfrm>
            <a:off x="6309360" y="1947672"/>
            <a:ext cx="100584" cy="100584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18288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C24"/>
                </a:solidFill>
              </a:rPr>
              <a:t>The reference path establishes a matched target-only control</a:t>
            </a:r>
          </a:p>
        </p:txBody>
      </p:sp>
      <p:sp>
        <p:nvSpPr>
          <p:cNvPr id="9" name="Oval 8"/>
          <p:cNvSpPr/>
          <p:nvPr/>
        </p:nvSpPr>
        <p:spPr>
          <a:xfrm>
            <a:off x="6309360" y="2606039"/>
            <a:ext cx="100584" cy="100584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1968" y="248716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C24"/>
                </a:solidFill>
              </a:rPr>
              <a:t>It motivated reuse of supervised Madrid state</a:t>
            </a:r>
          </a:p>
        </p:txBody>
      </p:sp>
      <p:sp>
        <p:nvSpPr>
          <p:cNvPr id="11" name="Oval 10"/>
          <p:cNvSpPr/>
          <p:nvPr/>
        </p:nvSpPr>
        <p:spPr>
          <a:xfrm>
            <a:off x="6309360" y="3264408"/>
            <a:ext cx="100584" cy="100584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314553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C24"/>
                </a:solidFill>
              </a:rPr>
              <a:t>Our comparison holds episodes and classifier form fixed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80560"/>
            <a:ext cx="10881360" cy="132588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A78D6"/>
                </a:solidFill>
              </a:rPr>
              <a:t>Provenance limitation: local RF outputs differ from organiser-saved outputs. Incomplete package/input provenance means the cause remains unidentified.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A78D6"/>
                </a:solidFill>
                <a:latin typeface="Consolas"/>
              </a:rPr>
              <a:t>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141C24"/>
                </a:solidFill>
              </a:rPr>
              <a:t>Freeze Madrid knowledge; adapt prototypes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627632" cy="1417320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93392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A78D6"/>
                </a:solidFill>
              </a:rPr>
              <a:t>Madrid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87168"/>
            <a:ext cx="1444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636E7A"/>
                </a:solidFill>
              </a:rPr>
              <a:t>labelled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2860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B6834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41448" y="1828800"/>
            <a:ext cx="1627632" cy="1417320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32888" y="1993392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A78D6"/>
                </a:solidFill>
              </a:rPr>
              <a:t>Frozen RF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8" y="2487168"/>
            <a:ext cx="1444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636E7A"/>
                </a:solidFill>
              </a:rPr>
              <a:t>ranking + geometry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7368" y="22860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B6834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828800"/>
            <a:ext cx="1627632" cy="141732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6" y="1993392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A78D6"/>
                </a:solidFill>
              </a:rPr>
              <a:t>Top-k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2487168"/>
            <a:ext cx="1444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636E7A"/>
                </a:solidFill>
              </a:rPr>
              <a:t>feature selection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25896" y="22860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B6834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18504" y="1828800"/>
            <a:ext cx="1627632" cy="141732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1993392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A78D6"/>
                </a:solidFill>
              </a:rPr>
              <a:t>Amsterdam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487168"/>
            <a:ext cx="1444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636E7A"/>
                </a:solidFill>
              </a:rPr>
              <a:t>support 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64424" y="22860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B6834"/>
                </a:solidFill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57032" y="1828800"/>
            <a:ext cx="1627632" cy="1417320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2" y="1993392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A78D6"/>
                </a:solidFill>
              </a:rPr>
              <a:t>Adapt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2487168"/>
            <a:ext cx="1444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636E7A"/>
                </a:solidFill>
              </a:rPr>
              <a:t>prototypes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2952" y="22860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B6834"/>
                </a:solidFill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95560" y="1828800"/>
            <a:ext cx="1627632" cy="141732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1993392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A78D6"/>
                </a:solidFill>
              </a:rPr>
              <a:t>Predict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2487168"/>
            <a:ext cx="1444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636E7A"/>
                </a:solidFill>
              </a:rPr>
              <a:t>query labels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794760"/>
            <a:ext cx="5257800" cy="1325880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905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005072"/>
            <a:ext cx="4709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B6834"/>
                </a:solidFill>
              </a:rPr>
              <a:t>5 shots/class  →  k=30, λ=0.6
Shrink toward Madrid geometry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794760"/>
            <a:ext cx="5257800" cy="132588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005072"/>
            <a:ext cx="4709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A78D6"/>
                </a:solidFill>
              </a:rPr>
              <a:t>25–200 shots/class  →  k=45, λ=0.0
Shrinkage switches off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532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636E7A"/>
                </a:solidFill>
              </a:rPr>
              <a:t>Query labels are evaluation-only.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9D8F"/>
                </a:solidFill>
                <a:latin typeface="Consolas"/>
              </a:rPr>
              <a:t>FROZEN EXP-010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141C24"/>
                </a:solidFill>
              </a:rPr>
              <a:t>Five shots is the practical anchor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645920"/>
            <a:ext cx="7443216" cy="438912"/>
          </a:xfrm>
          <a:prstGeom prst="roundRect">
            <a:avLst>
              <a:gd name="adj" fmla="val 6000"/>
            </a:avLst>
          </a:prstGeom>
          <a:solidFill>
            <a:srgbClr val="0E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55064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shots/class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5506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EXP-010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65506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655064"/>
            <a:ext cx="1051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gain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655064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wins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93976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C24"/>
                </a:solidFill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093976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A78D6"/>
                </a:solidFill>
              </a:rPr>
              <a:t>0.552 ± 0.060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093976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41C24"/>
                </a:solidFill>
              </a:rPr>
              <a:t>0.515 ± 0.070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093976"/>
            <a:ext cx="1051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41C24"/>
                </a:solidFill>
              </a:rPr>
              <a:t>+0.037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41C24"/>
                </a:solidFill>
              </a:rPr>
              <a:t>7/10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32888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C24"/>
                </a:solidFill>
              </a:rPr>
              <a:t>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53288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A78D6"/>
                </a:solidFill>
              </a:rPr>
              <a:t>0.612 ± 0.013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53288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41C24"/>
                </a:solidFill>
              </a:rPr>
              <a:t>0.609 ± 0.015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532888"/>
            <a:ext cx="1051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41C24"/>
                </a:solidFill>
              </a:rPr>
              <a:t>+0.003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532888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41C24"/>
                </a:solidFill>
              </a:rPr>
              <a:t>8/10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971800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C24"/>
                </a:solidFill>
              </a:rPr>
              <a:t>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297180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A78D6"/>
                </a:solidFill>
              </a:rPr>
              <a:t>0.617 ± 0.008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97180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41C24"/>
                </a:solidFill>
              </a:rPr>
              <a:t>0.614 ± 0.008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2971800"/>
            <a:ext cx="1051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41C24"/>
                </a:solidFill>
              </a:rPr>
              <a:t>+0.004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971800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41C24"/>
                </a:solidFill>
              </a:rPr>
              <a:t>10/10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410712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C24"/>
                </a:solidFill>
              </a:rPr>
              <a:t>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341071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A78D6"/>
                </a:solidFill>
              </a:rPr>
              <a:t>0.620 ± 0.005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341071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41C24"/>
                </a:solidFill>
              </a:rPr>
              <a:t>0.615 ± 0.005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3410712"/>
            <a:ext cx="1051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41C24"/>
                </a:solidFill>
              </a:rPr>
              <a:t>+0.005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3410712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41C24"/>
                </a:solidFill>
              </a:rPr>
              <a:t>10/10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849624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C24"/>
                </a:solidFill>
              </a:rPr>
              <a:t>200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384962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A78D6"/>
                </a:solidFill>
              </a:rPr>
              <a:t>0.624 ± 0.004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384962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41C24"/>
                </a:solidFill>
              </a:rPr>
              <a:t>0.619 ± 0.004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3849624"/>
            <a:ext cx="1051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41C24"/>
                </a:solidFill>
              </a:rPr>
              <a:t>+0.005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3849624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41C24"/>
                </a:solidFill>
              </a:rPr>
              <a:t>10/10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75320" y="1691640"/>
            <a:ext cx="3246120" cy="1508760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1837944"/>
            <a:ext cx="2971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19D8F"/>
                </a:solidFill>
              </a:rPr>
              <a:t>+0.0372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2660904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636E7A"/>
                </a:solidFill>
              </a:rPr>
              <a:t>5-shot macro F1 gain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75320" y="3337560"/>
            <a:ext cx="3246120" cy="150876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3483864"/>
            <a:ext cx="2971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2A78D6"/>
                </a:solidFill>
              </a:rPr>
              <a:t>45 / 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306824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636E7A"/>
                </a:solidFill>
              </a:rPr>
              <a:t>paired audit wins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443484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636E7A"/>
                </a:solidFill>
              </a:rPr>
              <a:t>± population SD across 10 audit episodes — not confidence intervals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4892040"/>
            <a:ext cx="5257800" cy="1005840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905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5074920"/>
            <a:ext cx="4800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B6834"/>
                </a:solidFill>
              </a:rPr>
              <a:t>SCIENTIFIC HEADLINE  ·  5/class = 20 labels total
0.552 ± 0.060 vs 0.515 ± 0.070 · 7/10 wins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4892040"/>
            <a:ext cx="5257800" cy="100584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5074920"/>
            <a:ext cx="4800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A78D6"/>
                </a:solidFill>
              </a:rPr>
              <a:t>OFFICIAL 25-SHOT RESULT
+0.0033 macro F1 · 8/10 paired wins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1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9D8F"/>
                </a:solidFill>
                <a:latin typeface="Consolas"/>
              </a:rPr>
              <a:t>REQUIRED LEARNING 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141C24"/>
                </a:solidFill>
              </a:rPr>
              <a:t>Transfer helps most in the lowest-data regime</a:t>
            </a:r>
          </a:p>
        </p:txBody>
      </p:sp>
      <p:pic>
        <p:nvPicPr>
          <p:cNvPr id="5" name="Picture 4" descr="exp010_f1_lo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7909560" cy="460414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49640" y="1600200"/>
            <a:ext cx="3154680" cy="1234440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905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1810512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B6834"/>
                </a:solidFill>
              </a:rPr>
              <a:t>5 shots/class
High episode spread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3017520"/>
            <a:ext cx="3154680" cy="123444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3227832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A78D6"/>
                </a:solidFill>
              </a:rPr>
              <a:t>25+ shots/class
Prototypes stabilise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4617720"/>
            <a:ext cx="2971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41C24"/>
                </a:solidFill>
              </a:rPr>
              <a:t>Empirical takeaway:
Transfer helps most when target prototypes are hardest to estimate.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3648" y="5779008"/>
            <a:ext cx="2971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36E7A"/>
                </a:solidFill>
              </a:rPr>
              <a:t>Source-domain CV (documented local protocol):
Madrid 0.6281 ± 0.0043 macro F1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B6834"/>
                </a:solidFill>
                <a:latin typeface="Consolas"/>
              </a:rPr>
              <a:t>EMPIRICAL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141C24"/>
                </a:solidFill>
              </a:rPr>
              <a:t>More labels reduce prototype estimation error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1874520"/>
            <a:ext cx="5020056" cy="566928"/>
          </a:xfrm>
          <a:prstGeom prst="roundRect">
            <a:avLst>
              <a:gd name="adj" fmla="val 6000"/>
            </a:avLst>
          </a:prstGeom>
          <a:solidFill>
            <a:srgbClr val="0E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83664"/>
            <a:ext cx="1234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shots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883664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features (k)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883664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shrinkage (λ)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50592"/>
            <a:ext cx="1234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C24"/>
                </a:solidFill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450592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41C24"/>
                </a:solidFill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450592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41C24"/>
                </a:solidFill>
              </a:rPr>
              <a:t>0.6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1234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C24"/>
                </a:solidFill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017520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41C24"/>
                </a:solidFill>
              </a:rPr>
              <a:t>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01752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41C24"/>
                </a:solidFill>
              </a:rPr>
              <a:t>0.0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84448"/>
            <a:ext cx="1234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C24"/>
                </a:solidFill>
              </a:rPr>
              <a:t>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584448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41C24"/>
                </a:solidFill>
              </a:rPr>
              <a:t>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58444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41C24"/>
                </a:solidFill>
              </a:rPr>
              <a:t>0.0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151376"/>
            <a:ext cx="1234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C24"/>
                </a:solidFill>
              </a:rPr>
              <a:t>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151376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41C24"/>
                </a:solidFill>
              </a:rPr>
              <a:t>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4151376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41C24"/>
                </a:solidFill>
              </a:rPr>
              <a:t>0.0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18304"/>
            <a:ext cx="1234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C24"/>
                </a:solidFill>
              </a:rPr>
              <a:t>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718304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41C24"/>
                </a:solidFill>
              </a:rPr>
              <a:t>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4718304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41C24"/>
                </a:solidFill>
              </a:rPr>
              <a:t>0.0</a:t>
            </a:r>
          </a:p>
        </p:txBody>
      </p:sp>
      <p:sp>
        <p:nvSpPr>
          <p:cNvPr id="24" name="Oval 23"/>
          <p:cNvSpPr/>
          <p:nvPr/>
        </p:nvSpPr>
        <p:spPr>
          <a:xfrm>
            <a:off x="5943600" y="1947672"/>
            <a:ext cx="100584" cy="100584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8" y="1828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C24"/>
                </a:solidFill>
              </a:rPr>
              <a:t>λ — how much we trust Madrid over Amsterdam</a:t>
            </a:r>
          </a:p>
        </p:txBody>
      </p:sp>
      <p:sp>
        <p:nvSpPr>
          <p:cNvPr id="26" name="Oval 25"/>
          <p:cNvSpPr/>
          <p:nvPr/>
        </p:nvSpPr>
        <p:spPr>
          <a:xfrm>
            <a:off x="5943600" y="2404872"/>
            <a:ext cx="100584" cy="100584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36208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C24"/>
                </a:solidFill>
              </a:rPr>
              <a:t>k — how many features we keep</a:t>
            </a:r>
          </a:p>
        </p:txBody>
      </p:sp>
      <p:sp>
        <p:nvSpPr>
          <p:cNvPr id="28" name="Oval 27"/>
          <p:cNvSpPr/>
          <p:nvPr/>
        </p:nvSpPr>
        <p:spPr>
          <a:xfrm>
            <a:off x="5943600" y="3319272"/>
            <a:ext cx="100584" cy="100584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6208" y="3200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C24"/>
                </a:solidFill>
              </a:rPr>
              <a:t>Less data → lean on Madrid, use fewer features</a:t>
            </a:r>
          </a:p>
        </p:txBody>
      </p:sp>
      <p:sp>
        <p:nvSpPr>
          <p:cNvPr id="30" name="Oval 29"/>
          <p:cNvSpPr/>
          <p:nvPr/>
        </p:nvSpPr>
        <p:spPr>
          <a:xfrm>
            <a:off x="5943600" y="3776472"/>
            <a:ext cx="100584" cy="100584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6208" y="3657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C24"/>
                </a:solidFill>
              </a:rPr>
              <a:t>More data → trust Amsterdam, afford more features</a:t>
            </a:r>
          </a:p>
        </p:txBody>
      </p:sp>
      <p:sp>
        <p:nvSpPr>
          <p:cNvPr id="32" name="Oval 31"/>
          <p:cNvSpPr/>
          <p:nvPr/>
        </p:nvSpPr>
        <p:spPr>
          <a:xfrm>
            <a:off x="5943600" y="4690872"/>
            <a:ext cx="100584" cy="100584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4572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C24"/>
                </a:solidFill>
              </a:rPr>
              <a:t>In these experiments, the selected schedule</a:t>
            </a:r>
          </a:p>
        </p:txBody>
      </p:sp>
      <p:sp>
        <p:nvSpPr>
          <p:cNvPr id="34" name="Oval 33"/>
          <p:cNvSpPr/>
          <p:nvPr/>
        </p:nvSpPr>
        <p:spPr>
          <a:xfrm>
            <a:off x="5943600" y="5148072"/>
            <a:ext cx="100584" cy="100584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36208" y="5029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C24"/>
                </a:solidFill>
              </a:rPr>
              <a:t>switches shrinkage off once labels increase.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A78D6"/>
                </a:solidFill>
                <a:latin typeface="Consolas"/>
              </a:rPr>
              <a:t>WHAT WE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141C24"/>
                </a:solidFill>
              </a:rPr>
              <a:t>Negative results clarify the mechanism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349240" cy="3063240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905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B6834"/>
                </a:solidFill>
              </a:rPr>
              <a:t>EXP-004 · WHITENING REVERSAL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4800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41C24"/>
                </a:solidFill>
              </a:rPr>
              <a:t>Within-class whitening changed from harmful at low shot count to beneficial at high shot count. The same transform gave opposite outcomes as support grew.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91640"/>
            <a:ext cx="5349240" cy="306324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65960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A78D6"/>
                </a:solidFill>
              </a:rPr>
              <a:t>EXP-007 · MORE FEATURES DID NOT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606040"/>
            <a:ext cx="4800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41C24"/>
                </a:solidFill>
              </a:rPr>
              <a:t>The expanded 94-feature seasonal/coverage representation did not outperform the original 60 features. Extra dimensions can dilute few-shot prototype estimates.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074920"/>
            <a:ext cx="10835640" cy="82296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239512"/>
            <a:ext cx="10287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1C24"/>
                </a:solidFill>
              </a:rPr>
              <a:t>Together, these outcomes support—without proving—the prototype estimation-error interpretation.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E1C2B"/>
                </a:solidFill>
                <a:latin typeface="Consolas"/>
              </a:rPr>
              <a:t>HONESTY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141C24"/>
                </a:solidFill>
              </a:rPr>
              <a:t>What we are not claiming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901952"/>
            <a:ext cx="100584" cy="100584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41C24"/>
                </a:solidFill>
              </a:rPr>
              <a:t>Gains beyond five shots are small in absolute macro F1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414015"/>
            <a:ext cx="100584" cy="100584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295144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41C24"/>
                </a:solidFill>
              </a:rPr>
              <a:t>Error bars are spreads, not confidence intervals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926080"/>
            <a:ext cx="100584" cy="100584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80720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41C24"/>
                </a:solidFill>
              </a:rPr>
              <a:t>Confusion diagonals are recall, not F1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438144"/>
            <a:ext cx="100584" cy="100584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31927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41C24"/>
                </a:solidFill>
              </a:rPr>
              <a:t>Accuracy would have flattered us — we report macro F1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950208"/>
            <a:ext cx="100584" cy="100584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831336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41C24"/>
                </a:solidFill>
              </a:rPr>
              <a:t>We do not claim exact reproduction of organiser RF outputs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434840"/>
            <a:ext cx="10881360" cy="1737360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B6834"/>
                </a:solidFill>
              </a:rPr>
              <a:t>Why not?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636E7A"/>
                </a:solidFill>
              </a:rPr>
              <a:t>Source-domain Madrid CV is 0.6281 ± 0.0043 under the documented local protocol; local zero-shot is 0.4433, versus organiser-saved 0.6179 and 0.3427. Package/input provenance is incomplete, so the cause remains unidentified and exact reproduction is not claimed.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A78D6"/>
                </a:solidFill>
                <a:latin typeface="Consolas"/>
              </a:rPr>
              <a:t>STATED, NOT HIDDEN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141C24"/>
                </a:solidFill>
              </a:rPr>
              <a:t>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881360" cy="621792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8366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C24"/>
                </a:solidFill>
              </a:rPr>
              <a:t>1.   Features still built label-dependently — no hidden-test path yet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32888"/>
            <a:ext cx="10881360" cy="621792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33472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C24"/>
                </a:solidFill>
              </a:rPr>
              <a:t>2.   Scaling fitted before cross-validation — not fold-safe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82696"/>
            <a:ext cx="10881360" cy="621792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8327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C24"/>
                </a:solidFill>
              </a:rPr>
              <a:t>3.   λ schedule: five values from five selection trials — overfit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32504"/>
            <a:ext cx="10881360" cy="621792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C24"/>
                </a:solidFill>
              </a:rPr>
              <a:t>4.   Optimal k moves once (30→45) — weak evidence for a trend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782312"/>
            <a:ext cx="10881360" cy="621792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82896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C24"/>
                </a:solidFill>
              </a:rPr>
              <a:t>5.   EXP-010 has not been independently replicated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36E7A"/>
                </a:solidFill>
              </a:rPr>
              <a:t>No claims of worldwide portability. No claims of calibrated confidence.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A78D6"/>
                </a:solidFill>
                <a:latin typeface="Consolas"/>
              </a:rPr>
              <a:t>CONTROLS AND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141C24"/>
                </a:solidFill>
              </a:rPr>
              <a:t>Reproducible by design, limited by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03520" cy="429768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A78D6"/>
                </a:solidFill>
              </a:rPr>
              <a:t>EVALUATION CONTROLS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633472"/>
            <a:ext cx="100584" cy="100584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2514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41C24"/>
                </a:solidFill>
              </a:rPr>
              <a:t>Exact episode manifests + RNG binding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36391"/>
            <a:ext cx="100584" cy="100584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30175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41C24"/>
                </a:solidFill>
              </a:rPr>
              <a:t>Support/query isolation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639312"/>
            <a:ext cx="100584" cy="100584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3520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41C24"/>
                </a:solidFill>
              </a:rPr>
              <a:t>Frozen EXP-010 state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142232"/>
            <a:ext cx="100584" cy="100584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4023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41C24"/>
                </a:solidFill>
              </a:rPr>
              <a:t>Matched episodes for tuned and control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645152"/>
            <a:ext cx="100584" cy="100584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45262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41C24"/>
                </a:solidFill>
              </a:rPr>
              <a:t>Population SD over 10 audit episodes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737360"/>
            <a:ext cx="5303520" cy="4297680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EB6834"/>
                </a:solidFill>
              </a:rPr>
              <a:t>EVIDENCE BOUNDARY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33472"/>
            <a:ext cx="100584" cy="100584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251460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41C24"/>
                </a:solidFill>
              </a:rPr>
              <a:t>Madrid → Amsterdam only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3136391"/>
            <a:ext cx="100584" cy="100584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84848" y="30175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41C24"/>
                </a:solidFill>
              </a:rPr>
              <a:t>No hidden-test claim</a:t>
            </a:r>
          </a:p>
        </p:txBody>
      </p:sp>
      <p:sp>
        <p:nvSpPr>
          <p:cNvPr id="23" name="Oval 22"/>
          <p:cNvSpPr/>
          <p:nvPr/>
        </p:nvSpPr>
        <p:spPr>
          <a:xfrm>
            <a:off x="6492240" y="3639312"/>
            <a:ext cx="100584" cy="100584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84848" y="352044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41C24"/>
                </a:solidFill>
              </a:rPr>
              <a:t>No independent EXP-010 replication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4142232"/>
            <a:ext cx="100584" cy="100584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402336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41C24"/>
                </a:solidFill>
              </a:rPr>
              <a:t>Local baseline provenance is incomplete</a:t>
            </a:r>
          </a:p>
        </p:txBody>
      </p:sp>
      <p:sp>
        <p:nvSpPr>
          <p:cNvPr id="27" name="Oval 26"/>
          <p:cNvSpPr/>
          <p:nvPr/>
        </p:nvSpPr>
        <p:spPr>
          <a:xfrm>
            <a:off x="6492240" y="4645152"/>
            <a:ext cx="100584" cy="100584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84848" y="45262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41C24"/>
                </a:solidFill>
              </a:rPr>
              <a:t>Controls support validity, not superiority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8FB8E8"/>
                </a:solidFill>
                <a:latin typeface="Consola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Madrid learns feature ranking and class geometry.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Amsterdam support labels estimate target prototypes.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EXP-010: positive mean gains, 45/50 paired wins.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FA8E8"/>
                </a:solidFill>
              </a:rPr>
              <a:t>A number without a mechanism is not a finding.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36E7A"/>
                </a:solidFill>
                <a:latin typeface="Consolas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141C24"/>
                </a:solidFill>
              </a:rPr>
              <a:t>Reproducibility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901952"/>
            <a:ext cx="100584" cy="100584"/>
          </a:xfrm>
          <a:prstGeom prst="ellipse">
            <a:avLst/>
          </a:prstGeom>
          <a:solidFill>
            <a:srgbClr val="63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C24"/>
                </a:solidFill>
              </a:rPr>
              <a:t>requirements.txt pins the exact stack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77439"/>
            <a:ext cx="100584" cy="100584"/>
          </a:xfrm>
          <a:prstGeom prst="ellipse">
            <a:avLst/>
          </a:prstGeom>
          <a:solidFill>
            <a:srgbClr val="63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25856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C24"/>
                </a:solidFill>
              </a:rPr>
              <a:t>Raw data + feature cache SHA256 recorded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852928"/>
            <a:ext cx="100584" cy="100584"/>
          </a:xfrm>
          <a:prstGeom prst="ellipse">
            <a:avLst/>
          </a:prstGeom>
          <a:solidFill>
            <a:srgbClr val="63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734056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C24"/>
                </a:solidFill>
              </a:rPr>
              <a:t>Episode indices stored, not regenerated from a seed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328415"/>
            <a:ext cx="100584" cy="100584"/>
          </a:xfrm>
          <a:prstGeom prst="ellipse">
            <a:avLst/>
          </a:prstGeom>
          <a:solidFill>
            <a:srgbClr val="63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209544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C24"/>
                </a:solidFill>
              </a:rPr>
              <a:t>EXP-010 package stores weights, k=30/45 offsets and schedule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803904"/>
            <a:ext cx="100584" cy="100584"/>
          </a:xfrm>
          <a:prstGeom prst="ellipse">
            <a:avLst/>
          </a:prstGeom>
          <a:solidFill>
            <a:srgbClr val="63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68503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C24"/>
                </a:solidFill>
              </a:rPr>
              <a:t>Frozen artifacts include recorded SHA256 checksums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279392"/>
            <a:ext cx="100584" cy="100584"/>
          </a:xfrm>
          <a:prstGeom prst="ellipse">
            <a:avLst/>
          </a:prstGeom>
          <a:solidFill>
            <a:srgbClr val="63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16052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C24"/>
                </a:solidFill>
              </a:rPr>
              <a:t>Cold-start reproduction: ~35 minutes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36E7A"/>
                </a:solidFill>
                <a:latin typeface="Consolas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141C24"/>
                </a:solidFill>
              </a:rPr>
              <a:t>Why our baseline differs from the organiser's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901952"/>
            <a:ext cx="100584" cy="100584"/>
          </a:xfrm>
          <a:prstGeom prst="ellipse">
            <a:avLst/>
          </a:prstGeom>
          <a:solidFill>
            <a:srgbClr val="63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C24"/>
                </a:solidFill>
              </a:rPr>
              <a:t>All six prototype budgets match them to 4 decimal places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77439"/>
            <a:ext cx="100584" cy="100584"/>
          </a:xfrm>
          <a:prstGeom prst="ellipse">
            <a:avLst/>
          </a:prstGeom>
          <a:solidFill>
            <a:srgbClr val="63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25856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C24"/>
                </a:solidFill>
              </a:rPr>
              <a:t>Both Random-Forest results differ: +0.0102 and +0.1006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852928"/>
            <a:ext cx="100584" cy="100584"/>
          </a:xfrm>
          <a:prstGeom prst="ellipse">
            <a:avLst/>
          </a:prstGeom>
          <a:solidFill>
            <a:srgbClr val="63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734056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C24"/>
                </a:solidFill>
              </a:rPr>
              <a:t>The prototype path does not consume fitted forest predictions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328415"/>
            <a:ext cx="100584" cy="100584"/>
          </a:xfrm>
          <a:prstGeom prst="ellipse">
            <a:avLst/>
          </a:prstGeom>
          <a:solidFill>
            <a:srgbClr val="63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209544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C24"/>
                </a:solidFill>
              </a:rPr>
              <a:t>Determinism check: 0 of 25,992 predictions differed across two refits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803904"/>
            <a:ext cx="100584" cy="100584"/>
          </a:xfrm>
          <a:prstGeom prst="ellipse">
            <a:avLst/>
          </a:prstGeom>
          <a:solidFill>
            <a:srgbClr val="63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68503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C24"/>
                </a:solidFill>
              </a:rPr>
              <a:t>Exact cause remains unidentified; no causal explanation is claimed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36E7A"/>
                </a:solidFill>
                <a:latin typeface="Consolas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141C24"/>
                </a:solidFill>
              </a:rPr>
              <a:t>A 70-day seasonal offset between the cities</a:t>
            </a:r>
          </a:p>
        </p:txBody>
      </p:sp>
      <p:pic>
        <p:nvPicPr>
          <p:cNvPr id="5" name="Picture 4" descr="fig7_season_off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6405100" cy="402336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852160" y="1993391"/>
            <a:ext cx="100584" cy="100584"/>
          </a:xfrm>
          <a:prstGeom prst="ellipse">
            <a:avLst/>
          </a:prstGeom>
          <a:solidFill>
            <a:srgbClr val="63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44768" y="18745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41C24"/>
                </a:solidFill>
              </a:rPr>
              <a:t>Madrid median day 175 · Amsterdam day 105</a:t>
            </a:r>
          </a:p>
        </p:txBody>
      </p:sp>
      <p:sp>
        <p:nvSpPr>
          <p:cNvPr id="8" name="Oval 7"/>
          <p:cNvSpPr/>
          <p:nvPr/>
        </p:nvSpPr>
        <p:spPr>
          <a:xfrm>
            <a:off x="5852160" y="2414015"/>
            <a:ext cx="100584" cy="100584"/>
          </a:xfrm>
          <a:prstGeom prst="ellipse">
            <a:avLst/>
          </a:prstGeom>
          <a:solidFill>
            <a:srgbClr val="63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44768" y="229514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41C24"/>
                </a:solidFill>
              </a:rPr>
              <a:t>June–August: 48.3% vs 20.5%</a:t>
            </a:r>
          </a:p>
        </p:txBody>
      </p:sp>
      <p:sp>
        <p:nvSpPr>
          <p:cNvPr id="10" name="Oval 9"/>
          <p:cNvSpPr/>
          <p:nvPr/>
        </p:nvSpPr>
        <p:spPr>
          <a:xfrm>
            <a:off x="5852160" y="2834639"/>
            <a:ext cx="100584" cy="100584"/>
          </a:xfrm>
          <a:prstGeom prst="ellipse">
            <a:avLst/>
          </a:prstGeom>
          <a:solidFill>
            <a:srgbClr val="63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27157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41C24"/>
                </a:solidFill>
              </a:rPr>
              <a:t>Part of the domain shift is phenology, not architecture</a:t>
            </a:r>
          </a:p>
        </p:txBody>
      </p:sp>
      <p:sp>
        <p:nvSpPr>
          <p:cNvPr id="12" name="Oval 11"/>
          <p:cNvSpPr/>
          <p:nvPr/>
        </p:nvSpPr>
        <p:spPr>
          <a:xfrm>
            <a:off x="5852160" y="3255263"/>
            <a:ext cx="100584" cy="100584"/>
          </a:xfrm>
          <a:prstGeom prst="ellipse">
            <a:avLst/>
          </a:prstGeom>
          <a:solidFill>
            <a:srgbClr val="63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4768" y="3136391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41C24"/>
                </a:solidFill>
              </a:rPr>
              <a:t>We rebuilt features to control for it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0" y="3675887"/>
            <a:ext cx="100584" cy="100584"/>
          </a:xfrm>
          <a:prstGeom prst="ellipse">
            <a:avLst/>
          </a:prstGeom>
          <a:solidFill>
            <a:srgbClr val="63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3557015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41C24"/>
                </a:solidFill>
              </a:rPr>
              <a:t>It did not help — dilution outweighed the correction</a:t>
            </a:r>
          </a:p>
        </p:txBody>
      </p:sp>
      <p:sp>
        <p:nvSpPr>
          <p:cNvPr id="16" name="Oval 15"/>
          <p:cNvSpPr/>
          <p:nvPr/>
        </p:nvSpPr>
        <p:spPr>
          <a:xfrm>
            <a:off x="5852160" y="4096511"/>
            <a:ext cx="100584" cy="100584"/>
          </a:xfrm>
          <a:prstGeom prst="ellipse">
            <a:avLst/>
          </a:prstGeom>
          <a:solidFill>
            <a:srgbClr val="63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397763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41C24"/>
                </a:solidFill>
              </a:rPr>
              <a:t>Reported as a measured finding with a negative test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36E7A"/>
                </a:solidFill>
                <a:latin typeface="Consolas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141C24"/>
                </a:solidFill>
              </a:rPr>
              <a:t>The episode protocol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901952"/>
            <a:ext cx="100584" cy="100584"/>
          </a:xfrm>
          <a:prstGeom prst="ellipse">
            <a:avLst/>
          </a:prstGeom>
          <a:solidFill>
            <a:srgbClr val="63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C24"/>
                </a:solidFill>
              </a:rPr>
              <a:t>One permutation per class per trial; budgets read prefixes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77439"/>
            <a:ext cx="100584" cy="100584"/>
          </a:xfrm>
          <a:prstGeom prst="ellipse">
            <a:avLst/>
          </a:prstGeom>
          <a:solidFill>
            <a:srgbClr val="63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25856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C24"/>
                </a:solidFill>
              </a:rPr>
              <a:t>So budgets are nested: support(5) ⊂ support(25) ⊂ …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852928"/>
            <a:ext cx="100584" cy="100584"/>
          </a:xfrm>
          <a:prstGeom prst="ellipse">
            <a:avLst/>
          </a:prstGeom>
          <a:solidFill>
            <a:srgbClr val="63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734056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C24"/>
                </a:solidFill>
              </a:rPr>
              <a:t>Support and query disjoint, verified in code every episode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328415"/>
            <a:ext cx="100584" cy="100584"/>
          </a:xfrm>
          <a:prstGeom prst="ellipse">
            <a:avLst/>
          </a:prstGeom>
          <a:solidFill>
            <a:srgbClr val="63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209544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C24"/>
                </a:solidFill>
              </a:rPr>
              <a:t>Selection and audit sets never overlap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803904"/>
            <a:ext cx="100584" cy="100584"/>
          </a:xfrm>
          <a:prstGeom prst="ellipse">
            <a:avLst/>
          </a:prstGeom>
          <a:solidFill>
            <a:srgbClr val="63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68503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C24"/>
                </a:solidFill>
              </a:rPr>
              <a:t>Four independent seeds used across the project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279392"/>
            <a:ext cx="100584" cy="100584"/>
          </a:xfrm>
          <a:prstGeom prst="ellipse">
            <a:avLst/>
          </a:prstGeom>
          <a:solidFill>
            <a:srgbClr val="63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16052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C24"/>
                </a:solidFill>
              </a:rPr>
              <a:t>Query set shrinks unevenly as budget grows — a stated limitation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